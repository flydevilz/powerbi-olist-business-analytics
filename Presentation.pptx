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webextensions/webextension1.xml" ContentType="application/vnd.ms-office.webextension+xml"/>
  <Override PartName="/ppt/notesSlides/notesSlide5.xml" ContentType="application/vnd.openxmlformats-officedocument.presentationml.notesSlide+xml"/>
  <Override PartName="/ppt/webextensions/webextension2.xml" ContentType="application/vnd.ms-office.webextension+xml"/>
  <Override PartName="/ppt/notesSlides/notesSlide6.xml" ContentType="application/vnd.openxmlformats-officedocument.presentationml.notesSlide+xml"/>
  <Override PartName="/ppt/webextensions/webextension3.xml" ContentType="application/vnd.ms-office.webextension+xml"/>
  <Override PartName="/ppt/notesSlides/notesSlide7.xml" ContentType="application/vnd.openxmlformats-officedocument.presentationml.notesSlide+xml"/>
  <Override PartName="/ppt/webextensions/webextension4.xml" ContentType="application/vnd.ms-office.webextension+xml"/>
  <Override PartName="/ppt/notesSlides/notesSlide8.xml" ContentType="application/vnd.openxmlformats-officedocument.presentationml.notesSlide+xml"/>
  <Override PartName="/ppt/webextensions/webextension5.xml" ContentType="application/vnd.ms-office.webextension+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4" r:id="rId2"/>
    <p:sldId id="276" r:id="rId3"/>
    <p:sldId id="266" r:id="rId4"/>
    <p:sldId id="268" r:id="rId5"/>
    <p:sldId id="280" r:id="rId6"/>
    <p:sldId id="281" r:id="rId7"/>
    <p:sldId id="282" r:id="rId8"/>
    <p:sldId id="283" r:id="rId9"/>
    <p:sldId id="284" r:id="rId10"/>
    <p:sldId id="262" r:id="rId11"/>
    <p:sldId id="274" r:id="rId12"/>
    <p:sldId id="27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FFC107"/>
    <a:srgbClr val="9C27B0"/>
    <a:srgbClr val="FF6B35"/>
    <a:srgbClr val="00BDD4"/>
    <a:srgbClr val="4CAF50"/>
    <a:srgbClr val="0B1929"/>
    <a:srgbClr val="0B4EE3"/>
    <a:srgbClr val="00C4B4"/>
    <a:srgbClr val="00C8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p:scale>
          <a:sx n="150" d="100"/>
          <a:sy n="150" d="100"/>
        </p:scale>
        <p:origin x="108" y="270"/>
      </p:cViewPr>
      <p:guideLst/>
    </p:cSldViewPr>
  </p:slideViewPr>
  <p:notesTextViewPr>
    <p:cViewPr>
      <p:scale>
        <a:sx n="1" d="1"/>
        <a:sy n="1" d="1"/>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361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0A4EB-D360-56F2-6718-E19017150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505B5-5FB1-DA34-49B4-230D726F1EA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D5F25D2-A9EC-AEE8-5021-F2D25DA5D9F0}"/>
              </a:ext>
            </a:extLst>
          </p:cNvPr>
          <p:cNvSpPr>
            <a:spLocks noGrp="1"/>
          </p:cNvSpPr>
          <p:nvPr>
            <p:ph type="body" idx="1"/>
          </p:nvPr>
        </p:nvSpPr>
        <p:spPr/>
        <p:txBody>
          <a:bodyPr/>
          <a:lstStyle/>
          <a:p>
            <a:r>
              <a:rPr lang="en-US" dirty="0"/>
              <a:t>SLIDE 2 — THE PROBLEM (0:00–1:30) · C1 · 4 marks
Speaker: Member A
Open with the hook line (read it from the blue quote card).
Name all 5 gaps explicitly — the rubric checks for problem explanation.
"Without a unified platform, finance couldn't see logistics, logistics couldn't see seller health, and retention had no churn signal."
End by reading the orange closing line: 'So we built one.' — then move immediately to slide 3.
AVOID: spending more than 90 seconds here. It's setup, not analysis.</a:t>
            </a:r>
          </a:p>
        </p:txBody>
      </p:sp>
      <p:sp>
        <p:nvSpPr>
          <p:cNvPr id="4" name="Slide Number Placeholder 3">
            <a:extLst>
              <a:ext uri="{FF2B5EF4-FFF2-40B4-BE49-F238E27FC236}">
                <a16:creationId xmlns:a16="http://schemas.microsoft.com/office/drawing/2014/main" id="{81B727EB-223C-7822-6191-9C294B92D0E2}"/>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315925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BC2E1-FB4D-0268-4F8C-B6572E7A7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8ACBE6-D971-340B-6AD8-7E51918FD22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027511F-8120-4674-7570-80B8F1D8E6B9}"/>
              </a:ext>
            </a:extLst>
          </p:cNvPr>
          <p:cNvSpPr>
            <a:spLocks noGrp="1"/>
          </p:cNvSpPr>
          <p:nvPr>
            <p:ph type="body" idx="1"/>
          </p:nvPr>
        </p:nvSpPr>
        <p:spPr/>
        <p:txBody>
          <a:bodyPr/>
          <a:lstStyle/>
          <a:p>
            <a:r>
              <a:rPr lang="en-US" dirty="0"/>
              <a:t>SLIDE 3 — OUR APPROACH (1:30–3:30) · C2 · 4 marks
Speaker: Member B
For datasets: name the source, the unique identifier, and one sentence on reliability.
KEY LINE (plugs report gap): 'Python handled pre-load quality control — that's ETL. DAX measures transform data inside the model — that's ELT. We chose hybrid because at this scale we needed both quality assurance and in-model flexibility.'
For model: 'Our 3-fact-table structure approximates a galaxy schema. Relationships are one-to-many with single-direction cross-filtering to prevent filter context ambiguity.' — these schema concepts are absent from the written report, saying them here recovers marks.
Note DS3 caveat: AI-generated — churn scores are segmentation signals, not validated predictions.</a:t>
            </a:r>
          </a:p>
        </p:txBody>
      </p:sp>
      <p:sp>
        <p:nvSpPr>
          <p:cNvPr id="4" name="Slide Number Placeholder 3">
            <a:extLst>
              <a:ext uri="{FF2B5EF4-FFF2-40B4-BE49-F238E27FC236}">
                <a16:creationId xmlns:a16="http://schemas.microsoft.com/office/drawing/2014/main" id="{17B15732-05D8-1A80-644C-8C330A8CAF5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27648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510C6-8859-CCB1-81F6-C8C1A6F6EE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5E871-083E-6F37-0723-DFF662830CC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9B14F2E-4592-EAF6-3062-2FDC4FE22B6B}"/>
              </a:ext>
            </a:extLst>
          </p:cNvPr>
          <p:cNvSpPr>
            <a:spLocks noGrp="1"/>
          </p:cNvSpPr>
          <p:nvPr>
            <p:ph type="body" idx="1"/>
          </p:nvPr>
        </p:nvSpPr>
        <p:spPr/>
        <p:txBody>
          <a:bodyPr/>
          <a:lstStyle/>
          <a:p>
            <a:r>
              <a:rPr lang="en-US" dirty="0"/>
              <a:t>SLIDE 3 — OUR APPROACH (1:30–3:30) · C2 · 4 marks
Speaker: Member B
For datasets: name the source, the unique identifier, and one sentence on reliability.
KEY LINE (plugs report gap): 'Python handled pre-load quality control — that's ETL. DAX measures transform data inside the model — that's ELT. We chose hybrid because at this scale we needed both quality assurance and in-model flexibility.'
For model: 'Our 3-fact-table structure approximates a galaxy schema. Relationships are one-to-many with single-direction cross-filtering to prevent filter context ambiguity.' — these schema concepts are absent from the written report, saying them here recovers marks.
Note DS3 caveat: AI-generated — churn scores are segmentation signals, not validated predictions.</a:t>
            </a:r>
          </a:p>
        </p:txBody>
      </p:sp>
      <p:sp>
        <p:nvSpPr>
          <p:cNvPr id="4" name="Slide Number Placeholder 3">
            <a:extLst>
              <a:ext uri="{FF2B5EF4-FFF2-40B4-BE49-F238E27FC236}">
                <a16:creationId xmlns:a16="http://schemas.microsoft.com/office/drawing/2014/main" id="{56D436EC-F8AB-9652-A03C-245D72E2D05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30912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FF772-98F0-54C8-B378-9A8B168E3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A5BAE-A336-52BA-4384-C94CD83E50B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5B54C54-0F81-EDBC-AC5E-6A086C309388}"/>
              </a:ext>
            </a:extLst>
          </p:cNvPr>
          <p:cNvSpPr>
            <a:spLocks noGrp="1"/>
          </p:cNvSpPr>
          <p:nvPr>
            <p:ph type="body" idx="1"/>
          </p:nvPr>
        </p:nvSpPr>
        <p:spPr/>
        <p:txBody>
          <a:bodyPr/>
          <a:lstStyle/>
          <a:p>
            <a:r>
              <a:rPr lang="en-US" dirty="0"/>
              <a:t>SLIDE 2 — THE PROBLEM (0:00–1:30) · C1 · 4 marks
Speaker: Member A
Open with the hook line (read it from the blue quote card).
Name all 5 gaps explicitly — the rubric checks for problem explanation.
"Without a unified platform, finance couldn't see logistics, logistics couldn't see seller health, and retention had no churn signal."
End by reading the orange closing line: 'So we built one.' — then move immediately to slide 3.
AVOID: spending more than 90 seconds here. It's setup, not analysis.</a:t>
            </a:r>
          </a:p>
        </p:txBody>
      </p:sp>
      <p:sp>
        <p:nvSpPr>
          <p:cNvPr id="4" name="Slide Number Placeholder 3">
            <a:extLst>
              <a:ext uri="{FF2B5EF4-FFF2-40B4-BE49-F238E27FC236}">
                <a16:creationId xmlns:a16="http://schemas.microsoft.com/office/drawing/2014/main" id="{8D0F8FB7-9DD9-2EE6-F992-80344B0F1CB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12204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ECD33-4464-8BB3-CA03-9AB163F1A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4FEB0C-B52B-EADD-9599-3280F3D93F6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731F398-8D8A-973C-D92D-96DDE796BA1D}"/>
              </a:ext>
            </a:extLst>
          </p:cNvPr>
          <p:cNvSpPr>
            <a:spLocks noGrp="1"/>
          </p:cNvSpPr>
          <p:nvPr>
            <p:ph type="body" idx="1"/>
          </p:nvPr>
        </p:nvSpPr>
        <p:spPr/>
        <p:txBody>
          <a:bodyPr/>
          <a:lstStyle/>
          <a:p>
            <a:r>
              <a:rPr lang="en-US" dirty="0"/>
              <a:t>SLIDE 2 — THE PROBLEM (0:00–1:30) · C1 · 4 marks
Speaker: Member A
Open with the hook line (read it from the blue quote card).
Name all 5 gaps explicitly — the rubric checks for problem explanation.
"Without a unified platform, finance couldn't see logistics, logistics couldn't see seller health, and retention had no churn signal."
End by reading the orange closing line: 'So we built one.' — then move immediately to slide 3.
AVOID: spending more than 90 seconds here. It's setup, not analysis.</a:t>
            </a:r>
          </a:p>
        </p:txBody>
      </p:sp>
      <p:sp>
        <p:nvSpPr>
          <p:cNvPr id="4" name="Slide Number Placeholder 3">
            <a:extLst>
              <a:ext uri="{FF2B5EF4-FFF2-40B4-BE49-F238E27FC236}">
                <a16:creationId xmlns:a16="http://schemas.microsoft.com/office/drawing/2014/main" id="{F26B70AC-7BC1-A45B-E755-18C63F52359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39871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7ACAD-CC82-FB87-03C1-10D857F35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84C68-8F87-0B75-1FFB-B3CE31780DD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560E6A3-2E42-2D88-AD11-416D4369CB63}"/>
              </a:ext>
            </a:extLst>
          </p:cNvPr>
          <p:cNvSpPr>
            <a:spLocks noGrp="1"/>
          </p:cNvSpPr>
          <p:nvPr>
            <p:ph type="body" idx="1"/>
          </p:nvPr>
        </p:nvSpPr>
        <p:spPr/>
        <p:txBody>
          <a:bodyPr/>
          <a:lstStyle/>
          <a:p>
            <a:r>
              <a:rPr lang="en-US" dirty="0"/>
              <a:t>SLIDE 2 — THE PROBLEM (0:00–1:30) · C1 · 4 marks
Speaker: Member A
Open with the hook line (read it from the blue quote card).
Name all 5 gaps explicitly — the rubric checks for problem explanation.
"Without a unified platform, finance couldn't see logistics, logistics couldn't see seller health, and retention had no churn signal."
End by reading the orange closing line: 'So we built one.' — then move immediately to slide 3.
AVOID: spending more than 90 seconds here. It's setup, not analysis.</a:t>
            </a:r>
          </a:p>
        </p:txBody>
      </p:sp>
      <p:sp>
        <p:nvSpPr>
          <p:cNvPr id="4" name="Slide Number Placeholder 3">
            <a:extLst>
              <a:ext uri="{FF2B5EF4-FFF2-40B4-BE49-F238E27FC236}">
                <a16:creationId xmlns:a16="http://schemas.microsoft.com/office/drawing/2014/main" id="{C6520B44-5BE1-5572-B57C-5431B22A703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8576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CFDDD-9629-ADF7-236A-1D8E5E033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18720-C3F9-B13A-7717-BFF3FC2440C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7B8859B-59A1-A1E3-74B5-F9BCF7826DAA}"/>
              </a:ext>
            </a:extLst>
          </p:cNvPr>
          <p:cNvSpPr>
            <a:spLocks noGrp="1"/>
          </p:cNvSpPr>
          <p:nvPr>
            <p:ph type="body" idx="1"/>
          </p:nvPr>
        </p:nvSpPr>
        <p:spPr/>
        <p:txBody>
          <a:bodyPr/>
          <a:lstStyle/>
          <a:p>
            <a:r>
              <a:rPr lang="en-US" dirty="0"/>
              <a:t>SLIDE 2 — THE PROBLEM (0:00–1:30) · C1 · 4 marks
Speaker: Member A
Open with the hook line (read it from the blue quote card).
Name all 5 gaps explicitly — the rubric checks for problem explanation.
"Without a unified platform, finance couldn't see logistics, logistics couldn't see seller health, and retention had no churn signal."
End by reading the orange closing line: 'So we built one.' — then move immediately to slide 3.
AVOID: spending more than 90 seconds here. It's setup, not analysis.</a:t>
            </a:r>
          </a:p>
        </p:txBody>
      </p:sp>
      <p:sp>
        <p:nvSpPr>
          <p:cNvPr id="4" name="Slide Number Placeholder 3">
            <a:extLst>
              <a:ext uri="{FF2B5EF4-FFF2-40B4-BE49-F238E27FC236}">
                <a16:creationId xmlns:a16="http://schemas.microsoft.com/office/drawing/2014/main" id="{D3C0AD2C-F420-537D-B92E-71041DB209F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96646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8052-D137-5964-8962-8EDDB4A3D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C56BA-DD61-A1A2-0E79-E1B143CD762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0BD2305-E8B2-1DBD-2021-76765A390340}"/>
              </a:ext>
            </a:extLst>
          </p:cNvPr>
          <p:cNvSpPr>
            <a:spLocks noGrp="1"/>
          </p:cNvSpPr>
          <p:nvPr>
            <p:ph type="body" idx="1"/>
          </p:nvPr>
        </p:nvSpPr>
        <p:spPr/>
        <p:txBody>
          <a:bodyPr/>
          <a:lstStyle/>
          <a:p>
            <a:r>
              <a:rPr lang="en-US" dirty="0"/>
              <a:t>SLIDE 2 — THE PROBLEM (0:00–1:30) · C1 · 4 marks
Speaker: Member A
Open with the hook line (read it from the blue quote card).
Name all 5 gaps explicitly — the rubric checks for problem explanation.
"Without a unified platform, finance couldn't see logistics, logistics couldn't see seller health, and retention had no churn signal."
End by reading the orange closing line: 'So we built one.' — then move immediately to slide 3.
AVOID: spending more than 90 seconds here. It's setup, not analysis.</a:t>
            </a:r>
          </a:p>
        </p:txBody>
      </p:sp>
      <p:sp>
        <p:nvSpPr>
          <p:cNvPr id="4" name="Slide Number Placeholder 3">
            <a:extLst>
              <a:ext uri="{FF2B5EF4-FFF2-40B4-BE49-F238E27FC236}">
                <a16:creationId xmlns:a16="http://schemas.microsoft.com/office/drawing/2014/main" id="{AD9D6193-E086-DB4D-B8EA-C1735C7207E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52544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lang="en-US" dirty="0"/>
              <a:t>SLIDE 7 — RECOMMENDATIONS (8:00–9:00) · C5 · 2 marks
Speaker: Members B + D
Open with: 'Each recommendation has a named owner and a measurable expected outcome — these are not observations, they are actions.'
Lead with row 1: 'This one costs nothing. Recalibrate the checkout estimate from 24 days to 15. Olist is already delivering in 12.5 days on average. The customer expectation just hasn't caught up.'
Row 6: 'The highest-return retention action: target the At Risk cluster with BRL 64,900 in recoverable LTV before disengagement — not after.'
Forward-looking: 'Replace CSV import with live DB connection and replace DS3 synthetic data with real behavioral logs — that is when this becomes a true predictive platform.'
KEEP TO 60 SECONDS. One speaker, confident delivery.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AE9E2-BD9F-A5F4-659A-56C1D52C8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880E3-B0BB-BE15-7F20-75E6E8E3129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5C248AB-8C7F-87AD-88D6-3CFF4495AFEA}"/>
              </a:ext>
            </a:extLst>
          </p:cNvPr>
          <p:cNvSpPr>
            <a:spLocks noGrp="1"/>
          </p:cNvSpPr>
          <p:nvPr>
            <p:ph type="body" idx="1"/>
          </p:nvPr>
        </p:nvSpPr>
        <p:spPr/>
        <p:txBody>
          <a:bodyPr/>
          <a:lstStyle/>
          <a:p>
            <a:r>
              <a:rPr lang="en-US" dirty="0"/>
              <a:t>SLIDE 8 — REFLECTION (9:00–10:00) · C6 · 1 mark
Speaker: whichever member has spoken least so far
The 3 challenges in the left column are ABSENT from the written report — saying them here closes that gap in front of the marker.
Key line: 'The hardest part wasn't building the dashboards — it was getting the data model right. The DS3 dataset had a foreign key mismatch that would have broken every CLV and churn analysis silently if we hadn't caught it during validation.'
Close with the italic quote — read it directly. It mirrors exact language from Section 4.5 of the report, tying the presentation back to the report coherently.
--- Q&amp;A PREP ---
Q: Why exponential smoothing not linear regression?
A: Power BI provides it natively. It weights recent observations more heavily — correct for a series with Black Friday seasonality. Linear regression needs external tooling and doesn't handle seasonality.
Q: How reliable is churn if DS3 is synthetic?
A: DS3 is a segmentation signal, not individual prediction. BRL 64,900 is a conservative scenario, not a forecast.
Q: Why star schema over snowflake?
A: Reduces join complexity, faster in Vertipaq engine. At 112K orders normalisation gains are negligible. Simplifies DAX authoring.
Q: How did you handle many-to-many relationships?
A: Primarily one-to-many through unique identifiers. mql_id join acts as a bridge — avoids direct many-to-many. Bidirectional filtering limited to specific relationships to prevent filter context ambiguity.</a:t>
            </a:r>
          </a:p>
        </p:txBody>
      </p:sp>
      <p:sp>
        <p:nvSpPr>
          <p:cNvPr id="4" name="Slide Number Placeholder 3">
            <a:extLst>
              <a:ext uri="{FF2B5EF4-FFF2-40B4-BE49-F238E27FC236}">
                <a16:creationId xmlns:a16="http://schemas.microsoft.com/office/drawing/2014/main" id="{B168AD43-FD5B-5D49-DEC7-A3B02078EE0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74250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11/relationships/webextension" Target="../webextensions/webextension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11/relationships/webextension" Target="../webextensions/webextension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11/relationships/webextension" Target="../webextensions/webextension3.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11/relationships/webextension" Target="../webextensions/webextension4.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11/relationships/webextension" Target="../webextensions/webextension5.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99431F91-C36F-74EB-F480-FDB15581AAC6}"/>
              </a:ext>
            </a:extLst>
          </p:cNvPr>
          <p:cNvSpPr/>
          <p:nvPr/>
        </p:nvSpPr>
        <p:spPr>
          <a:xfrm>
            <a:off x="6583680" y="-1371600"/>
            <a:ext cx="5029200" cy="5029200"/>
          </a:xfrm>
          <a:prstGeom prst="ellipse">
            <a:avLst/>
          </a:prstGeom>
          <a:solidFill>
            <a:srgbClr val="6EC6D0">
              <a:alpha val="18000"/>
            </a:srgbClr>
          </a:solidFill>
          <a:ln/>
        </p:spPr>
        <p:txBody>
          <a:bodyPr/>
          <a:lstStyle/>
          <a:p>
            <a:endParaRPr lang="en-MY"/>
          </a:p>
        </p:txBody>
      </p:sp>
      <p:sp>
        <p:nvSpPr>
          <p:cNvPr id="5" name="Shape 1">
            <a:extLst>
              <a:ext uri="{FF2B5EF4-FFF2-40B4-BE49-F238E27FC236}">
                <a16:creationId xmlns:a16="http://schemas.microsoft.com/office/drawing/2014/main" id="{EBF440F2-3661-E64E-D611-4334FE670C14}"/>
              </a:ext>
            </a:extLst>
          </p:cNvPr>
          <p:cNvSpPr/>
          <p:nvPr/>
        </p:nvSpPr>
        <p:spPr>
          <a:xfrm>
            <a:off x="7040880" y="-822960"/>
            <a:ext cx="4572000" cy="4572000"/>
          </a:xfrm>
          <a:prstGeom prst="ellipse">
            <a:avLst/>
          </a:prstGeom>
          <a:solidFill>
            <a:srgbClr val="E07052">
              <a:alpha val="18000"/>
            </a:srgbClr>
          </a:solidFill>
          <a:ln/>
        </p:spPr>
        <p:txBody>
          <a:bodyPr/>
          <a:lstStyle/>
          <a:p>
            <a:endParaRPr lang="en-MY"/>
          </a:p>
        </p:txBody>
      </p:sp>
      <p:sp>
        <p:nvSpPr>
          <p:cNvPr id="7" name="Shape 2">
            <a:extLst>
              <a:ext uri="{FF2B5EF4-FFF2-40B4-BE49-F238E27FC236}">
                <a16:creationId xmlns:a16="http://schemas.microsoft.com/office/drawing/2014/main" id="{A4BC09AD-5C74-4711-5960-9C309C9A639C}"/>
              </a:ext>
            </a:extLst>
          </p:cNvPr>
          <p:cNvSpPr/>
          <p:nvPr/>
        </p:nvSpPr>
        <p:spPr>
          <a:xfrm>
            <a:off x="7498080" y="-274320"/>
            <a:ext cx="4114800" cy="4114800"/>
          </a:xfrm>
          <a:prstGeom prst="ellipse">
            <a:avLst/>
          </a:prstGeom>
          <a:solidFill>
            <a:srgbClr val="1565C0">
              <a:alpha val="25000"/>
            </a:srgbClr>
          </a:solidFill>
          <a:ln/>
        </p:spPr>
        <p:txBody>
          <a:bodyPr/>
          <a:lstStyle/>
          <a:p>
            <a:endParaRPr lang="en-MY"/>
          </a:p>
        </p:txBody>
      </p:sp>
      <p:sp>
        <p:nvSpPr>
          <p:cNvPr id="9" name="Text 3">
            <a:extLst>
              <a:ext uri="{FF2B5EF4-FFF2-40B4-BE49-F238E27FC236}">
                <a16:creationId xmlns:a16="http://schemas.microsoft.com/office/drawing/2014/main" id="{8A3B7E9C-7BFF-5BFF-89FF-A89F8D832014}"/>
              </a:ext>
            </a:extLst>
          </p:cNvPr>
          <p:cNvSpPr/>
          <p:nvPr/>
        </p:nvSpPr>
        <p:spPr>
          <a:xfrm>
            <a:off x="457200" y="1645920"/>
            <a:ext cx="7498080" cy="685800"/>
          </a:xfrm>
          <a:prstGeom prst="rect">
            <a:avLst/>
          </a:prstGeom>
          <a:noFill/>
          <a:ln/>
        </p:spPr>
        <p:txBody>
          <a:bodyPr wrap="square" lIns="0" tIns="0" rIns="0" bIns="0" rtlCol="0" anchor="ctr"/>
          <a:lstStyle/>
          <a:p>
            <a:pPr marL="0" indent="0" algn="l">
              <a:buNone/>
            </a:pPr>
            <a:r>
              <a:rPr lang="en-US" sz="3600" b="1" dirty="0">
                <a:solidFill>
                  <a:srgbClr val="FFFFFF"/>
                </a:solidFill>
              </a:rPr>
              <a:t>Olist Business Intelligence Solution</a:t>
            </a:r>
            <a:endParaRPr lang="en-US" sz="3600" dirty="0"/>
          </a:p>
        </p:txBody>
      </p:sp>
      <p:sp>
        <p:nvSpPr>
          <p:cNvPr id="15" name="Shape 6">
            <a:extLst>
              <a:ext uri="{FF2B5EF4-FFF2-40B4-BE49-F238E27FC236}">
                <a16:creationId xmlns:a16="http://schemas.microsoft.com/office/drawing/2014/main" id="{95BB4233-5168-F650-6332-E7E8B7D3EE9E}"/>
              </a:ext>
            </a:extLst>
          </p:cNvPr>
          <p:cNvSpPr/>
          <p:nvPr/>
        </p:nvSpPr>
        <p:spPr>
          <a:xfrm>
            <a:off x="320040" y="4041648"/>
            <a:ext cx="1600200" cy="822960"/>
          </a:xfrm>
          <a:prstGeom prst="roundRect">
            <a:avLst>
              <a:gd name="adj" fmla="val 13333"/>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7" name="Shape 9">
            <a:extLst>
              <a:ext uri="{FF2B5EF4-FFF2-40B4-BE49-F238E27FC236}">
                <a16:creationId xmlns:a16="http://schemas.microsoft.com/office/drawing/2014/main" id="{E42D31F0-EC24-76D7-C53E-5D8C316504F3}"/>
              </a:ext>
            </a:extLst>
          </p:cNvPr>
          <p:cNvSpPr/>
          <p:nvPr/>
        </p:nvSpPr>
        <p:spPr>
          <a:xfrm>
            <a:off x="2029968" y="4041648"/>
            <a:ext cx="1600200" cy="822960"/>
          </a:xfrm>
          <a:prstGeom prst="roundRect">
            <a:avLst>
              <a:gd name="adj" fmla="val 13333"/>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9" name="Shape 12">
            <a:extLst>
              <a:ext uri="{FF2B5EF4-FFF2-40B4-BE49-F238E27FC236}">
                <a16:creationId xmlns:a16="http://schemas.microsoft.com/office/drawing/2014/main" id="{A606142E-7DBD-5F3C-4B32-E98963DB15DF}"/>
              </a:ext>
            </a:extLst>
          </p:cNvPr>
          <p:cNvSpPr/>
          <p:nvPr/>
        </p:nvSpPr>
        <p:spPr>
          <a:xfrm>
            <a:off x="3739896" y="4041648"/>
            <a:ext cx="1600200" cy="822960"/>
          </a:xfrm>
          <a:prstGeom prst="roundRect">
            <a:avLst>
              <a:gd name="adj" fmla="val 13333"/>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21" name="Shape 15">
            <a:extLst>
              <a:ext uri="{FF2B5EF4-FFF2-40B4-BE49-F238E27FC236}">
                <a16:creationId xmlns:a16="http://schemas.microsoft.com/office/drawing/2014/main" id="{1167D6CB-E9AB-8CD7-82E8-24E6420B7A9B}"/>
              </a:ext>
            </a:extLst>
          </p:cNvPr>
          <p:cNvSpPr/>
          <p:nvPr/>
        </p:nvSpPr>
        <p:spPr>
          <a:xfrm>
            <a:off x="5449824" y="4041648"/>
            <a:ext cx="1600200" cy="822960"/>
          </a:xfrm>
          <a:prstGeom prst="roundRect">
            <a:avLst>
              <a:gd name="adj" fmla="val 13333"/>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23" name="Shape 12">
            <a:extLst>
              <a:ext uri="{FF2B5EF4-FFF2-40B4-BE49-F238E27FC236}">
                <a16:creationId xmlns:a16="http://schemas.microsoft.com/office/drawing/2014/main" id="{3AD5DED4-02C0-41ED-7E23-9BF63D61AB4A}"/>
              </a:ext>
            </a:extLst>
          </p:cNvPr>
          <p:cNvSpPr/>
          <p:nvPr/>
        </p:nvSpPr>
        <p:spPr>
          <a:xfrm>
            <a:off x="2029968" y="4798119"/>
            <a:ext cx="1600200" cy="61032"/>
          </a:xfrm>
          <a:prstGeom prst="roundRect">
            <a:avLst>
              <a:gd name="adj" fmla="val 42857"/>
            </a:avLst>
          </a:prstGeom>
          <a:solidFill>
            <a:srgbClr val="00C853"/>
          </a:solidFill>
          <a:ln w="12700">
            <a:solidFill>
              <a:srgbClr val="00C853"/>
            </a:solidFill>
            <a:prstDash val="solid"/>
          </a:ln>
        </p:spPr>
        <p:txBody>
          <a:bodyPr/>
          <a:lstStyle/>
          <a:p>
            <a:endParaRPr lang="en-MY"/>
          </a:p>
        </p:txBody>
      </p:sp>
      <p:sp>
        <p:nvSpPr>
          <p:cNvPr id="25" name="Shape 16">
            <a:extLst>
              <a:ext uri="{FF2B5EF4-FFF2-40B4-BE49-F238E27FC236}">
                <a16:creationId xmlns:a16="http://schemas.microsoft.com/office/drawing/2014/main" id="{C987B614-045C-ADD4-DE7F-44280CEF90C1}"/>
              </a:ext>
            </a:extLst>
          </p:cNvPr>
          <p:cNvSpPr/>
          <p:nvPr/>
        </p:nvSpPr>
        <p:spPr>
          <a:xfrm>
            <a:off x="3739896" y="4790467"/>
            <a:ext cx="1600200" cy="74141"/>
          </a:xfrm>
          <a:prstGeom prst="roundRect">
            <a:avLst>
              <a:gd name="adj" fmla="val 42857"/>
            </a:avLst>
          </a:prstGeom>
          <a:solidFill>
            <a:srgbClr val="E64E36"/>
          </a:solidFill>
          <a:ln w="12700">
            <a:solidFill>
              <a:srgbClr val="E64E36"/>
            </a:solidFill>
            <a:prstDash val="solid"/>
          </a:ln>
        </p:spPr>
        <p:txBody>
          <a:bodyPr/>
          <a:lstStyle/>
          <a:p>
            <a:endParaRPr lang="en-MY"/>
          </a:p>
        </p:txBody>
      </p:sp>
      <p:sp>
        <p:nvSpPr>
          <p:cNvPr id="27" name="Shape 20">
            <a:extLst>
              <a:ext uri="{FF2B5EF4-FFF2-40B4-BE49-F238E27FC236}">
                <a16:creationId xmlns:a16="http://schemas.microsoft.com/office/drawing/2014/main" id="{15332909-C044-16FE-80FA-6CEA166A88A0}"/>
              </a:ext>
            </a:extLst>
          </p:cNvPr>
          <p:cNvSpPr/>
          <p:nvPr/>
        </p:nvSpPr>
        <p:spPr>
          <a:xfrm>
            <a:off x="5449824" y="4780968"/>
            <a:ext cx="1600200" cy="83640"/>
          </a:xfrm>
          <a:prstGeom prst="roundRect">
            <a:avLst>
              <a:gd name="adj" fmla="val 42857"/>
            </a:avLst>
          </a:prstGeom>
          <a:solidFill>
            <a:srgbClr val="E09FC7"/>
          </a:solidFill>
          <a:ln w="12700">
            <a:solidFill>
              <a:srgbClr val="E09FC7"/>
            </a:solidFill>
            <a:prstDash val="solid"/>
          </a:ln>
        </p:spPr>
        <p:txBody>
          <a:bodyPr/>
          <a:lstStyle/>
          <a:p>
            <a:endParaRPr lang="en-MY"/>
          </a:p>
        </p:txBody>
      </p:sp>
      <p:sp>
        <p:nvSpPr>
          <p:cNvPr id="29" name="Shape 20">
            <a:extLst>
              <a:ext uri="{FF2B5EF4-FFF2-40B4-BE49-F238E27FC236}">
                <a16:creationId xmlns:a16="http://schemas.microsoft.com/office/drawing/2014/main" id="{720367BD-E272-DAD0-6031-48299ADB746E}"/>
              </a:ext>
            </a:extLst>
          </p:cNvPr>
          <p:cNvSpPr/>
          <p:nvPr/>
        </p:nvSpPr>
        <p:spPr>
          <a:xfrm>
            <a:off x="320040" y="4790467"/>
            <a:ext cx="1600200" cy="66346"/>
          </a:xfrm>
          <a:prstGeom prst="roundRect">
            <a:avLst>
              <a:gd name="adj" fmla="val 42857"/>
            </a:avLst>
          </a:prstGeom>
          <a:solidFill>
            <a:srgbClr val="0B4EE3"/>
          </a:solidFill>
          <a:ln w="12700">
            <a:solidFill>
              <a:srgbClr val="0B4EE3"/>
            </a:solidFill>
            <a:prstDash val="solid"/>
          </a:ln>
        </p:spPr>
        <p:txBody>
          <a:bodyPr/>
          <a:lstStyle/>
          <a:p>
            <a:endParaRPr lang="en-MY"/>
          </a:p>
        </p:txBody>
      </p:sp>
      <p:sp>
        <p:nvSpPr>
          <p:cNvPr id="31" name="Text 21">
            <a:extLst>
              <a:ext uri="{FF2B5EF4-FFF2-40B4-BE49-F238E27FC236}">
                <a16:creationId xmlns:a16="http://schemas.microsoft.com/office/drawing/2014/main" id="{996BCD03-BF64-E581-6852-11DB5BDBA61B}"/>
              </a:ext>
            </a:extLst>
          </p:cNvPr>
          <p:cNvSpPr/>
          <p:nvPr/>
        </p:nvSpPr>
        <p:spPr>
          <a:xfrm>
            <a:off x="3739896" y="4157843"/>
            <a:ext cx="1572768" cy="438912"/>
          </a:xfrm>
          <a:prstGeom prst="rect">
            <a:avLst/>
          </a:prstGeom>
          <a:noFill/>
          <a:ln/>
        </p:spPr>
        <p:txBody>
          <a:bodyPr wrap="square" lIns="0" tIns="0" rIns="0" bIns="0" rtlCol="0" anchor="ctr"/>
          <a:lstStyle/>
          <a:p>
            <a:pPr algn="ctr"/>
            <a:r>
              <a:rPr lang="en-MY" sz="1400" b="1" dirty="0">
                <a:solidFill>
                  <a:schemeClr val="bg1"/>
                </a:solidFill>
                <a:effectLst>
                  <a:outerShdw blurRad="38100" dist="38100" dir="2700000" algn="tl">
                    <a:srgbClr val="000000">
                      <a:alpha val="43137"/>
                    </a:srgbClr>
                  </a:outerShdw>
                </a:effectLst>
              </a:rPr>
              <a:t>Angeline Lydia Kojansow</a:t>
            </a:r>
            <a:endParaRPr lang="en-US" sz="1400" dirty="0">
              <a:solidFill>
                <a:schemeClr val="bg1"/>
              </a:solidFill>
            </a:endParaRPr>
          </a:p>
        </p:txBody>
      </p:sp>
      <p:sp>
        <p:nvSpPr>
          <p:cNvPr id="33" name="Text 22">
            <a:extLst>
              <a:ext uri="{FF2B5EF4-FFF2-40B4-BE49-F238E27FC236}">
                <a16:creationId xmlns:a16="http://schemas.microsoft.com/office/drawing/2014/main" id="{BC9ED86D-309C-D093-D00C-780B618A3A0E}"/>
              </a:ext>
            </a:extLst>
          </p:cNvPr>
          <p:cNvSpPr/>
          <p:nvPr/>
        </p:nvSpPr>
        <p:spPr>
          <a:xfrm>
            <a:off x="3739896" y="4555099"/>
            <a:ext cx="1572768" cy="237744"/>
          </a:xfrm>
          <a:prstGeom prst="rect">
            <a:avLst/>
          </a:prstGeom>
          <a:noFill/>
          <a:ln/>
        </p:spPr>
        <p:txBody>
          <a:bodyPr wrap="square" lIns="0" tIns="0" rIns="0" bIns="0" rtlCol="0" anchor="ctr"/>
          <a:lstStyle/>
          <a:p>
            <a:pPr algn="ctr"/>
            <a:r>
              <a:rPr lang="en-MY" sz="900" dirty="0">
                <a:solidFill>
                  <a:srgbClr val="8BA5C0"/>
                </a:solidFill>
                <a:latin typeface="Calibri" pitchFamily="34" charset="0"/>
                <a:ea typeface="Calibri" pitchFamily="34" charset="-122"/>
                <a:cs typeface="Calibri" pitchFamily="34" charset="-120"/>
              </a:rPr>
              <a:t>25141730</a:t>
            </a:r>
            <a:endParaRPr lang="en-US" sz="900" dirty="0">
              <a:solidFill>
                <a:srgbClr val="8BA5C0"/>
              </a:solidFill>
              <a:latin typeface="Calibri" pitchFamily="34" charset="0"/>
              <a:ea typeface="Calibri" pitchFamily="34" charset="-122"/>
              <a:cs typeface="Calibri" pitchFamily="34" charset="-120"/>
            </a:endParaRPr>
          </a:p>
        </p:txBody>
      </p:sp>
      <p:sp>
        <p:nvSpPr>
          <p:cNvPr id="35" name="Text 21">
            <a:extLst>
              <a:ext uri="{FF2B5EF4-FFF2-40B4-BE49-F238E27FC236}">
                <a16:creationId xmlns:a16="http://schemas.microsoft.com/office/drawing/2014/main" id="{40831889-C79C-F030-0F09-AD067F195D9B}"/>
              </a:ext>
            </a:extLst>
          </p:cNvPr>
          <p:cNvSpPr/>
          <p:nvPr/>
        </p:nvSpPr>
        <p:spPr>
          <a:xfrm>
            <a:off x="2029968" y="4149018"/>
            <a:ext cx="1572768" cy="438912"/>
          </a:xfrm>
          <a:prstGeom prst="rect">
            <a:avLst/>
          </a:prstGeom>
          <a:noFill/>
          <a:ln/>
        </p:spPr>
        <p:txBody>
          <a:bodyPr wrap="square" lIns="0" tIns="0" rIns="0" bIns="0" rtlCol="0" anchor="ctr"/>
          <a:lstStyle/>
          <a:p>
            <a:pPr algn="ctr"/>
            <a:r>
              <a:rPr lang="en-MY" sz="1400" b="1" dirty="0">
                <a:solidFill>
                  <a:schemeClr val="bg1"/>
                </a:solidFill>
                <a:effectLst>
                  <a:outerShdw blurRad="38100" dist="38100" dir="2700000" algn="tl">
                    <a:srgbClr val="000000">
                      <a:alpha val="43137"/>
                    </a:srgbClr>
                  </a:outerShdw>
                </a:effectLst>
              </a:rPr>
              <a:t>Kathryn Ann V. Concepcion </a:t>
            </a:r>
            <a:endParaRPr lang="en-US" sz="1400" dirty="0">
              <a:solidFill>
                <a:schemeClr val="bg1"/>
              </a:solidFill>
            </a:endParaRPr>
          </a:p>
        </p:txBody>
      </p:sp>
      <p:sp>
        <p:nvSpPr>
          <p:cNvPr id="37" name="Text 22">
            <a:extLst>
              <a:ext uri="{FF2B5EF4-FFF2-40B4-BE49-F238E27FC236}">
                <a16:creationId xmlns:a16="http://schemas.microsoft.com/office/drawing/2014/main" id="{D2ECBB9C-D73D-0D40-61E8-6B9B0107D7C2}"/>
              </a:ext>
            </a:extLst>
          </p:cNvPr>
          <p:cNvSpPr/>
          <p:nvPr/>
        </p:nvSpPr>
        <p:spPr>
          <a:xfrm>
            <a:off x="2029968" y="4546274"/>
            <a:ext cx="1572768" cy="237744"/>
          </a:xfrm>
          <a:prstGeom prst="rect">
            <a:avLst/>
          </a:prstGeom>
          <a:noFill/>
          <a:ln/>
        </p:spPr>
        <p:txBody>
          <a:bodyPr wrap="square" lIns="0" tIns="0" rIns="0" bIns="0" rtlCol="0" anchor="ctr"/>
          <a:lstStyle/>
          <a:p>
            <a:pPr algn="ctr"/>
            <a:r>
              <a:rPr lang="en-MY" sz="900" dirty="0">
                <a:solidFill>
                  <a:srgbClr val="8BA5C0"/>
                </a:solidFill>
                <a:latin typeface="Calibri" pitchFamily="34" charset="0"/>
                <a:ea typeface="Calibri" pitchFamily="34" charset="-122"/>
                <a:cs typeface="Calibri" pitchFamily="34" charset="-120"/>
              </a:rPr>
              <a:t>17093683</a:t>
            </a:r>
            <a:endParaRPr lang="en-US" sz="900" dirty="0">
              <a:solidFill>
                <a:srgbClr val="8BA5C0"/>
              </a:solidFill>
              <a:latin typeface="Calibri" pitchFamily="34" charset="0"/>
              <a:ea typeface="Calibri" pitchFamily="34" charset="-122"/>
              <a:cs typeface="Calibri" pitchFamily="34" charset="-120"/>
            </a:endParaRPr>
          </a:p>
        </p:txBody>
      </p:sp>
      <p:sp>
        <p:nvSpPr>
          <p:cNvPr id="39" name="Text 21">
            <a:extLst>
              <a:ext uri="{FF2B5EF4-FFF2-40B4-BE49-F238E27FC236}">
                <a16:creationId xmlns:a16="http://schemas.microsoft.com/office/drawing/2014/main" id="{3884F6E0-26A7-C600-2323-821BC41DC419}"/>
              </a:ext>
            </a:extLst>
          </p:cNvPr>
          <p:cNvSpPr/>
          <p:nvPr/>
        </p:nvSpPr>
        <p:spPr>
          <a:xfrm>
            <a:off x="320040" y="4149018"/>
            <a:ext cx="1572768" cy="438912"/>
          </a:xfrm>
          <a:prstGeom prst="rect">
            <a:avLst/>
          </a:prstGeom>
          <a:noFill/>
          <a:ln/>
        </p:spPr>
        <p:txBody>
          <a:bodyPr wrap="square" lIns="0" tIns="0" rIns="0" bIns="0" rtlCol="0" anchor="ctr"/>
          <a:lstStyle/>
          <a:p>
            <a:pPr algn="ctr"/>
            <a:r>
              <a:rPr lang="en-MY" sz="1400" b="1" dirty="0">
                <a:solidFill>
                  <a:schemeClr val="bg1"/>
                </a:solidFill>
                <a:effectLst>
                  <a:outerShdw blurRad="38100" dist="38100" dir="2700000" algn="tl">
                    <a:srgbClr val="000000">
                      <a:alpha val="43137"/>
                    </a:srgbClr>
                  </a:outerShdw>
                </a:effectLst>
              </a:rPr>
              <a:t>Maryam Laisha Mumthaz </a:t>
            </a:r>
            <a:endParaRPr lang="en-US" sz="1400" dirty="0">
              <a:solidFill>
                <a:schemeClr val="bg1"/>
              </a:solidFill>
            </a:endParaRPr>
          </a:p>
        </p:txBody>
      </p:sp>
      <p:sp>
        <p:nvSpPr>
          <p:cNvPr id="41" name="Text 22">
            <a:extLst>
              <a:ext uri="{FF2B5EF4-FFF2-40B4-BE49-F238E27FC236}">
                <a16:creationId xmlns:a16="http://schemas.microsoft.com/office/drawing/2014/main" id="{7802B19E-E1FB-8ED8-2920-B4BCDE835D92}"/>
              </a:ext>
            </a:extLst>
          </p:cNvPr>
          <p:cNvSpPr/>
          <p:nvPr/>
        </p:nvSpPr>
        <p:spPr>
          <a:xfrm>
            <a:off x="329432" y="4543224"/>
            <a:ext cx="1572768" cy="237744"/>
          </a:xfrm>
          <a:prstGeom prst="rect">
            <a:avLst/>
          </a:prstGeom>
          <a:noFill/>
          <a:ln/>
        </p:spPr>
        <p:txBody>
          <a:bodyPr wrap="square" lIns="0" tIns="0" rIns="0" bIns="0" rtlCol="0" anchor="ctr"/>
          <a:lstStyle/>
          <a:p>
            <a:pPr algn="ctr"/>
            <a:r>
              <a:rPr lang="en-MY" sz="900" dirty="0">
                <a:solidFill>
                  <a:srgbClr val="8BA5C0"/>
                </a:solidFill>
                <a:latin typeface="Calibri" pitchFamily="34" charset="0"/>
                <a:ea typeface="Calibri" pitchFamily="34" charset="-122"/>
                <a:cs typeface="Calibri" pitchFamily="34" charset="-120"/>
              </a:rPr>
              <a:t>25132291</a:t>
            </a:r>
            <a:endParaRPr lang="en-US" sz="900" dirty="0">
              <a:solidFill>
                <a:srgbClr val="8BA5C0"/>
              </a:solidFill>
              <a:latin typeface="Calibri" pitchFamily="34" charset="0"/>
              <a:ea typeface="Calibri" pitchFamily="34" charset="-122"/>
              <a:cs typeface="Calibri" pitchFamily="34" charset="-120"/>
            </a:endParaRPr>
          </a:p>
        </p:txBody>
      </p:sp>
      <p:sp>
        <p:nvSpPr>
          <p:cNvPr id="43" name="Text 21">
            <a:extLst>
              <a:ext uri="{FF2B5EF4-FFF2-40B4-BE49-F238E27FC236}">
                <a16:creationId xmlns:a16="http://schemas.microsoft.com/office/drawing/2014/main" id="{1423C6ED-023F-AA38-84B1-098F2F72BFCA}"/>
              </a:ext>
            </a:extLst>
          </p:cNvPr>
          <p:cNvSpPr/>
          <p:nvPr/>
        </p:nvSpPr>
        <p:spPr>
          <a:xfrm>
            <a:off x="5461508" y="4153703"/>
            <a:ext cx="1572768" cy="438912"/>
          </a:xfrm>
          <a:prstGeom prst="rect">
            <a:avLst/>
          </a:prstGeom>
          <a:noFill/>
          <a:ln/>
        </p:spPr>
        <p:txBody>
          <a:bodyPr wrap="square" lIns="0" tIns="0" rIns="0" bIns="0" rtlCol="0" anchor="ctr"/>
          <a:lstStyle/>
          <a:p>
            <a:pPr algn="ctr"/>
            <a:r>
              <a:rPr lang="en-MY" sz="1400" b="1" dirty="0">
                <a:solidFill>
                  <a:schemeClr val="bg1"/>
                </a:solidFill>
                <a:effectLst>
                  <a:outerShdw blurRad="38100" dist="38100" dir="2700000" algn="tl">
                    <a:srgbClr val="000000">
                      <a:alpha val="43137"/>
                    </a:srgbClr>
                  </a:outerShdw>
                </a:effectLst>
              </a:rPr>
              <a:t>Thighan Dinesh Devagar</a:t>
            </a:r>
            <a:endParaRPr lang="en-US" sz="1400" dirty="0">
              <a:solidFill>
                <a:schemeClr val="bg1"/>
              </a:solidFill>
            </a:endParaRPr>
          </a:p>
        </p:txBody>
      </p:sp>
      <p:sp>
        <p:nvSpPr>
          <p:cNvPr id="45" name="Text 22">
            <a:extLst>
              <a:ext uri="{FF2B5EF4-FFF2-40B4-BE49-F238E27FC236}">
                <a16:creationId xmlns:a16="http://schemas.microsoft.com/office/drawing/2014/main" id="{BDC0F8AB-DE67-55A4-6500-607E1D06A899}"/>
              </a:ext>
            </a:extLst>
          </p:cNvPr>
          <p:cNvSpPr/>
          <p:nvPr/>
        </p:nvSpPr>
        <p:spPr>
          <a:xfrm>
            <a:off x="5477256" y="4534828"/>
            <a:ext cx="1572768" cy="237744"/>
          </a:xfrm>
          <a:prstGeom prst="rect">
            <a:avLst/>
          </a:prstGeom>
          <a:noFill/>
          <a:ln/>
        </p:spPr>
        <p:txBody>
          <a:bodyPr wrap="square" lIns="0" tIns="0" rIns="0" bIns="0" rtlCol="0" anchor="ctr"/>
          <a:lstStyle/>
          <a:p>
            <a:pPr algn="ctr"/>
            <a:r>
              <a:rPr lang="en-MY" sz="900" dirty="0">
                <a:solidFill>
                  <a:srgbClr val="8BA5C0"/>
                </a:solidFill>
                <a:latin typeface="Calibri" pitchFamily="34" charset="0"/>
                <a:ea typeface="Calibri" pitchFamily="34" charset="-122"/>
                <a:cs typeface="Calibri" pitchFamily="34" charset="-120"/>
              </a:rPr>
              <a:t>18042689</a:t>
            </a:r>
            <a:endParaRPr lang="en-US" sz="900" dirty="0">
              <a:solidFill>
                <a:srgbClr val="8BA5C0"/>
              </a:solidFill>
              <a:latin typeface="Calibri" pitchFamily="34" charset="0"/>
              <a:ea typeface="Calibri" pitchFamily="34" charset="-122"/>
              <a:cs typeface="Calibri" pitchFamily="34" charset="-120"/>
            </a:endParaRPr>
          </a:p>
        </p:txBody>
      </p:sp>
      <p:pic>
        <p:nvPicPr>
          <p:cNvPr id="47" name="Picture 46">
            <a:extLst>
              <a:ext uri="{FF2B5EF4-FFF2-40B4-BE49-F238E27FC236}">
                <a16:creationId xmlns:a16="http://schemas.microsoft.com/office/drawing/2014/main" id="{9A2CBC84-0249-6826-2077-D2C393D4AF0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sp>
        <p:nvSpPr>
          <p:cNvPr id="49" name="Text 7">
            <a:extLst>
              <a:ext uri="{FF2B5EF4-FFF2-40B4-BE49-F238E27FC236}">
                <a16:creationId xmlns:a16="http://schemas.microsoft.com/office/drawing/2014/main" id="{DA96B8F9-CA9F-F145-CBDC-EB1A89D62E37}"/>
              </a:ext>
            </a:extLst>
          </p:cNvPr>
          <p:cNvSpPr/>
          <p:nvPr/>
        </p:nvSpPr>
        <p:spPr>
          <a:xfrm>
            <a:off x="459886" y="2315628"/>
            <a:ext cx="5229714" cy="502920"/>
          </a:xfrm>
          <a:prstGeom prst="rect">
            <a:avLst/>
          </a:prstGeom>
          <a:noFill/>
          <a:ln/>
        </p:spPr>
        <p:txBody>
          <a:bodyPr wrap="square" lIns="0" tIns="0" rIns="0" bIns="0" rtlCol="0" anchor="ctr"/>
          <a:lstStyle/>
          <a:p>
            <a:pPr marL="0" indent="0">
              <a:buNone/>
            </a:pPr>
            <a:r>
              <a:rPr lang="en-US" sz="1700" b="1" dirty="0">
                <a:solidFill>
                  <a:srgbClr val="EF6820"/>
                </a:solidFill>
                <a:latin typeface="Calibri" pitchFamily="34" charset="0"/>
                <a:ea typeface="Calibri" pitchFamily="34" charset="-122"/>
                <a:cs typeface="Calibri" pitchFamily="34" charset="-120"/>
              </a:rPr>
              <a:t>Turning Fragmented E-Commerce Data into </a:t>
            </a:r>
          </a:p>
          <a:p>
            <a:pPr marL="0" indent="0">
              <a:buNone/>
            </a:pPr>
            <a:r>
              <a:rPr lang="en-US" sz="1700" b="1" dirty="0">
                <a:solidFill>
                  <a:srgbClr val="EF6820"/>
                </a:solidFill>
                <a:latin typeface="Calibri" pitchFamily="34" charset="0"/>
                <a:ea typeface="Calibri" pitchFamily="34" charset="-122"/>
                <a:cs typeface="Calibri" pitchFamily="34" charset="-120"/>
              </a:rPr>
              <a:t>Strategic Intelligence</a:t>
            </a:r>
            <a:endParaRPr lang="en-US" sz="1700" b="1" dirty="0"/>
          </a:p>
        </p:txBody>
      </p:sp>
      <p:sp>
        <p:nvSpPr>
          <p:cNvPr id="51" name="Text 9">
            <a:extLst>
              <a:ext uri="{FF2B5EF4-FFF2-40B4-BE49-F238E27FC236}">
                <a16:creationId xmlns:a16="http://schemas.microsoft.com/office/drawing/2014/main" id="{23EFE6F9-0282-1AB3-232D-D05EEE60B1FC}"/>
              </a:ext>
            </a:extLst>
          </p:cNvPr>
          <p:cNvSpPr/>
          <p:nvPr/>
        </p:nvSpPr>
        <p:spPr>
          <a:xfrm>
            <a:off x="459886" y="2852218"/>
            <a:ext cx="6400800" cy="274320"/>
          </a:xfrm>
          <a:prstGeom prst="rect">
            <a:avLst/>
          </a:prstGeom>
          <a:noFill/>
          <a:ln/>
        </p:spPr>
        <p:txBody>
          <a:bodyPr wrap="square" lIns="0" tIns="0" rIns="0" bIns="0" rtlCol="0" anchor="ctr"/>
          <a:lstStyle/>
          <a:p>
            <a:pPr marL="0" indent="0">
              <a:buNone/>
            </a:pPr>
            <a:r>
              <a:rPr lang="en-US" sz="1200" dirty="0">
                <a:solidFill>
                  <a:srgbClr val="E8EDF2"/>
                </a:solidFill>
                <a:latin typeface="Calibri" pitchFamily="34" charset="0"/>
                <a:ea typeface="Calibri" pitchFamily="34" charset="-122"/>
                <a:cs typeface="Calibri" pitchFamily="34" charset="-120"/>
              </a:rPr>
              <a:t>BAA5043 Business Intelligence  ·  Sunway Business School</a:t>
            </a:r>
            <a:endParaRPr lang="en-US" sz="1200" dirty="0"/>
          </a:p>
        </p:txBody>
      </p:sp>
    </p:spTree>
    <p:extLst>
      <p:ext uri="{BB962C8B-B14F-4D97-AF65-F5344CB8AC3E}">
        <p14:creationId xmlns:p14="http://schemas.microsoft.com/office/powerpoint/2010/main" val="2794000546"/>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a:extLst>
            <a:ext uri="{FF2B5EF4-FFF2-40B4-BE49-F238E27FC236}">
              <a16:creationId xmlns:a16="http://schemas.microsoft.com/office/drawing/2014/main" id="{E26E0A2D-240A-CA4A-B1A6-282FB9BAEDC9}"/>
            </a:ext>
          </a:extLst>
        </p:cNvPr>
        <p:cNvGrpSpPr/>
        <p:nvPr/>
      </p:nvGrpSpPr>
      <p:grpSpPr>
        <a:xfrm>
          <a:off x="0" y="0"/>
          <a:ext cx="0" cy="0"/>
          <a:chOff x="0" y="0"/>
          <a:chExt cx="0" cy="0"/>
        </a:xfrm>
      </p:grpSpPr>
      <p:sp>
        <p:nvSpPr>
          <p:cNvPr id="57" name="Shape 12">
            <a:extLst>
              <a:ext uri="{FF2B5EF4-FFF2-40B4-BE49-F238E27FC236}">
                <a16:creationId xmlns:a16="http://schemas.microsoft.com/office/drawing/2014/main" id="{2A373C04-2BE4-EB52-5E59-4A7D19FF35BF}"/>
              </a:ext>
            </a:extLst>
          </p:cNvPr>
          <p:cNvSpPr/>
          <p:nvPr/>
        </p:nvSpPr>
        <p:spPr>
          <a:xfrm>
            <a:off x="237744" y="1034415"/>
            <a:ext cx="4160520" cy="1828609"/>
          </a:xfrm>
          <a:prstGeom prst="roundRect">
            <a:avLst>
              <a:gd name="adj" fmla="val 3333"/>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2" name="Shape 0">
            <a:extLst>
              <a:ext uri="{FF2B5EF4-FFF2-40B4-BE49-F238E27FC236}">
                <a16:creationId xmlns:a16="http://schemas.microsoft.com/office/drawing/2014/main" id="{27297680-AF86-5473-62F9-BB9866F93B5C}"/>
              </a:ext>
            </a:extLst>
          </p:cNvPr>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a:extLst>
              <a:ext uri="{FF2B5EF4-FFF2-40B4-BE49-F238E27FC236}">
                <a16:creationId xmlns:a16="http://schemas.microsoft.com/office/drawing/2014/main" id="{92A7B369-8E8F-5270-3699-9CED32FF16B5}"/>
              </a:ext>
            </a:extLst>
          </p:cNvPr>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7" name="Text 5">
            <a:extLst>
              <a:ext uri="{FF2B5EF4-FFF2-40B4-BE49-F238E27FC236}">
                <a16:creationId xmlns:a16="http://schemas.microsoft.com/office/drawing/2014/main" id="{16CF72F6-9BA8-79E1-E36A-6E7EDA04A8C8}"/>
              </a:ext>
            </a:extLst>
          </p:cNvPr>
          <p:cNvSpPr/>
          <p:nvPr/>
        </p:nvSpPr>
        <p:spPr>
          <a:xfrm>
            <a:off x="1063767" y="219075"/>
            <a:ext cx="7360920" cy="438912"/>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Business Understanding &amp; Problem Statement</a:t>
            </a:r>
            <a:endParaRPr lang="en-US" sz="2800" dirty="0"/>
          </a:p>
        </p:txBody>
      </p:sp>
      <p:sp>
        <p:nvSpPr>
          <p:cNvPr id="14" name="Shape 12">
            <a:extLst>
              <a:ext uri="{FF2B5EF4-FFF2-40B4-BE49-F238E27FC236}">
                <a16:creationId xmlns:a16="http://schemas.microsoft.com/office/drawing/2014/main" id="{8FDBAA91-3DA6-A209-33F3-B698F17329D8}"/>
              </a:ext>
            </a:extLst>
          </p:cNvPr>
          <p:cNvSpPr/>
          <p:nvPr/>
        </p:nvSpPr>
        <p:spPr>
          <a:xfrm>
            <a:off x="228600" y="3223260"/>
            <a:ext cx="4160520" cy="1677923"/>
          </a:xfrm>
          <a:prstGeom prst="roundRect">
            <a:avLst>
              <a:gd name="adj" fmla="val 3333"/>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15" name="Shape 13">
            <a:extLst>
              <a:ext uri="{FF2B5EF4-FFF2-40B4-BE49-F238E27FC236}">
                <a16:creationId xmlns:a16="http://schemas.microsoft.com/office/drawing/2014/main" id="{91FD4548-0D57-CF40-FC45-FDC7565C7ECA}"/>
              </a:ext>
            </a:extLst>
          </p:cNvPr>
          <p:cNvSpPr/>
          <p:nvPr/>
        </p:nvSpPr>
        <p:spPr>
          <a:xfrm>
            <a:off x="228600" y="3009519"/>
            <a:ext cx="4169664" cy="310896"/>
          </a:xfrm>
          <a:prstGeom prst="roundRect">
            <a:avLst>
              <a:gd name="adj" fmla="val 35294"/>
            </a:avLst>
          </a:prstGeom>
          <a:solidFill>
            <a:srgbClr val="F44336"/>
          </a:solidFill>
          <a:ln w="12700">
            <a:solidFill>
              <a:srgbClr val="F44336"/>
            </a:solidFill>
            <a:prstDash val="solid"/>
          </a:ln>
        </p:spPr>
        <p:txBody>
          <a:bodyPr/>
          <a:lstStyle/>
          <a:p>
            <a:endParaRPr lang="en-MY"/>
          </a:p>
        </p:txBody>
      </p:sp>
      <p:sp>
        <p:nvSpPr>
          <p:cNvPr id="16" name="Shape 14">
            <a:extLst>
              <a:ext uri="{FF2B5EF4-FFF2-40B4-BE49-F238E27FC236}">
                <a16:creationId xmlns:a16="http://schemas.microsoft.com/office/drawing/2014/main" id="{DC3235F3-CDF6-1E26-29CA-2E559CF8FB4D}"/>
              </a:ext>
            </a:extLst>
          </p:cNvPr>
          <p:cNvSpPr/>
          <p:nvPr/>
        </p:nvSpPr>
        <p:spPr>
          <a:xfrm>
            <a:off x="228600" y="3192399"/>
            <a:ext cx="4169664" cy="128016"/>
          </a:xfrm>
          <a:prstGeom prst="rect">
            <a:avLst/>
          </a:prstGeom>
          <a:solidFill>
            <a:srgbClr val="F44336"/>
          </a:solidFill>
          <a:ln w="12700">
            <a:solidFill>
              <a:srgbClr val="F44336"/>
            </a:solidFill>
            <a:prstDash val="solid"/>
          </a:ln>
        </p:spPr>
        <p:txBody>
          <a:bodyPr/>
          <a:lstStyle/>
          <a:p>
            <a:endParaRPr lang="en-MY"/>
          </a:p>
        </p:txBody>
      </p:sp>
      <p:sp>
        <p:nvSpPr>
          <p:cNvPr id="17" name="Text 15">
            <a:extLst>
              <a:ext uri="{FF2B5EF4-FFF2-40B4-BE49-F238E27FC236}">
                <a16:creationId xmlns:a16="http://schemas.microsoft.com/office/drawing/2014/main" id="{DB577E35-1D82-2A23-01E6-AEDD6E1B4F80}"/>
              </a:ext>
            </a:extLst>
          </p:cNvPr>
          <p:cNvSpPr/>
          <p:nvPr/>
        </p:nvSpPr>
        <p:spPr>
          <a:xfrm>
            <a:off x="356616" y="3018663"/>
            <a:ext cx="3977640" cy="292608"/>
          </a:xfrm>
          <a:prstGeom prst="rect">
            <a:avLst/>
          </a:prstGeom>
          <a:noFill/>
          <a:ln/>
        </p:spPr>
        <p:txBody>
          <a:bodyPr wrap="square" lIns="0" tIns="0" rIns="0" bIns="0" rtlCol="0" anchor="ctr"/>
          <a:lstStyle/>
          <a:p>
            <a:pPr marL="0" indent="0">
              <a:buNone/>
            </a:pPr>
            <a:r>
              <a:rPr lang="en-US" sz="11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Business Information Gaps</a:t>
            </a:r>
            <a:endParaRPr lang="en-US" sz="1100" dirty="0">
              <a:effectLst>
                <a:outerShdw blurRad="50800" dist="38100" dir="2700000" algn="tl" rotWithShape="0">
                  <a:prstClr val="black">
                    <a:alpha val="40000"/>
                  </a:prstClr>
                </a:outerShdw>
              </a:effectLst>
            </a:endParaRPr>
          </a:p>
        </p:txBody>
      </p:sp>
      <p:sp>
        <p:nvSpPr>
          <p:cNvPr id="18" name="Shape 16">
            <a:extLst>
              <a:ext uri="{FF2B5EF4-FFF2-40B4-BE49-F238E27FC236}">
                <a16:creationId xmlns:a16="http://schemas.microsoft.com/office/drawing/2014/main" id="{13A6BBBA-47B2-BAD2-4DA2-1CC711E76FF8}"/>
              </a:ext>
            </a:extLst>
          </p:cNvPr>
          <p:cNvSpPr/>
          <p:nvPr/>
        </p:nvSpPr>
        <p:spPr>
          <a:xfrm>
            <a:off x="428625" y="3486150"/>
            <a:ext cx="82677" cy="91440"/>
          </a:xfrm>
          <a:prstGeom prst="ellipse">
            <a:avLst/>
          </a:prstGeom>
          <a:solidFill>
            <a:srgbClr val="EF6820"/>
          </a:solidFill>
          <a:ln w="12700">
            <a:solidFill>
              <a:srgbClr val="EF6820"/>
            </a:solidFill>
            <a:prstDash val="solid"/>
          </a:ln>
        </p:spPr>
        <p:txBody>
          <a:bodyPr/>
          <a:lstStyle/>
          <a:p>
            <a:endParaRPr lang="en-MY"/>
          </a:p>
        </p:txBody>
      </p:sp>
      <p:sp>
        <p:nvSpPr>
          <p:cNvPr id="19" name="Text 17">
            <a:extLst>
              <a:ext uri="{FF2B5EF4-FFF2-40B4-BE49-F238E27FC236}">
                <a16:creationId xmlns:a16="http://schemas.microsoft.com/office/drawing/2014/main" id="{53502CDA-13F1-C95D-119C-784806549B02}"/>
              </a:ext>
            </a:extLst>
          </p:cNvPr>
          <p:cNvSpPr/>
          <p:nvPr/>
        </p:nvSpPr>
        <p:spPr>
          <a:xfrm>
            <a:off x="593979" y="3315843"/>
            <a:ext cx="3749040" cy="41148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Disconnected datasets with no unified reporting view</a:t>
            </a:r>
            <a:endParaRPr lang="en-US" sz="950" dirty="0"/>
          </a:p>
        </p:txBody>
      </p:sp>
      <p:sp>
        <p:nvSpPr>
          <p:cNvPr id="20" name="Shape 18">
            <a:extLst>
              <a:ext uri="{FF2B5EF4-FFF2-40B4-BE49-F238E27FC236}">
                <a16:creationId xmlns:a16="http://schemas.microsoft.com/office/drawing/2014/main" id="{E89C5FB5-204C-BB9E-CB1B-3EDE8DA9002D}"/>
              </a:ext>
            </a:extLst>
          </p:cNvPr>
          <p:cNvSpPr/>
          <p:nvPr/>
        </p:nvSpPr>
        <p:spPr>
          <a:xfrm>
            <a:off x="428625" y="3780663"/>
            <a:ext cx="82677" cy="91440"/>
          </a:xfrm>
          <a:prstGeom prst="ellipse">
            <a:avLst/>
          </a:prstGeom>
          <a:solidFill>
            <a:srgbClr val="00C4B4"/>
          </a:solidFill>
          <a:ln w="12700">
            <a:solidFill>
              <a:srgbClr val="00C4B4"/>
            </a:solidFill>
            <a:prstDash val="solid"/>
          </a:ln>
        </p:spPr>
        <p:txBody>
          <a:bodyPr/>
          <a:lstStyle/>
          <a:p>
            <a:endParaRPr lang="en-MY"/>
          </a:p>
        </p:txBody>
      </p:sp>
      <p:sp>
        <p:nvSpPr>
          <p:cNvPr id="21" name="Text 19">
            <a:extLst>
              <a:ext uri="{FF2B5EF4-FFF2-40B4-BE49-F238E27FC236}">
                <a16:creationId xmlns:a16="http://schemas.microsoft.com/office/drawing/2014/main" id="{E82B9AC1-797E-D2A2-8EE0-0816B6FFE060}"/>
              </a:ext>
            </a:extLst>
          </p:cNvPr>
          <p:cNvSpPr/>
          <p:nvPr/>
        </p:nvSpPr>
        <p:spPr>
          <a:xfrm>
            <a:off x="593979" y="3610356"/>
            <a:ext cx="3749040" cy="41148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No consolidated delivery tracking KPIs</a:t>
            </a:r>
            <a:endParaRPr lang="en-US" sz="950" dirty="0"/>
          </a:p>
        </p:txBody>
      </p:sp>
      <p:sp>
        <p:nvSpPr>
          <p:cNvPr id="22" name="Shape 20">
            <a:extLst>
              <a:ext uri="{FF2B5EF4-FFF2-40B4-BE49-F238E27FC236}">
                <a16:creationId xmlns:a16="http://schemas.microsoft.com/office/drawing/2014/main" id="{53B4DBF5-8586-5573-A449-6031B20938B7}"/>
              </a:ext>
            </a:extLst>
          </p:cNvPr>
          <p:cNvSpPr/>
          <p:nvPr/>
        </p:nvSpPr>
        <p:spPr>
          <a:xfrm>
            <a:off x="428625" y="4084701"/>
            <a:ext cx="82677" cy="91440"/>
          </a:xfrm>
          <a:prstGeom prst="ellipse">
            <a:avLst/>
          </a:prstGeom>
          <a:solidFill>
            <a:srgbClr val="FFC107"/>
          </a:solidFill>
          <a:ln w="12700">
            <a:solidFill>
              <a:srgbClr val="FFC107"/>
            </a:solidFill>
            <a:prstDash val="solid"/>
          </a:ln>
        </p:spPr>
        <p:txBody>
          <a:bodyPr/>
          <a:lstStyle/>
          <a:p>
            <a:endParaRPr lang="en-MY"/>
          </a:p>
        </p:txBody>
      </p:sp>
      <p:sp>
        <p:nvSpPr>
          <p:cNvPr id="23" name="Text 21">
            <a:extLst>
              <a:ext uri="{FF2B5EF4-FFF2-40B4-BE49-F238E27FC236}">
                <a16:creationId xmlns:a16="http://schemas.microsoft.com/office/drawing/2014/main" id="{A90E1D79-057E-E819-0129-8B714BDEF2F1}"/>
              </a:ext>
            </a:extLst>
          </p:cNvPr>
          <p:cNvSpPr/>
          <p:nvPr/>
        </p:nvSpPr>
        <p:spPr>
          <a:xfrm>
            <a:off x="593979" y="3914394"/>
            <a:ext cx="3749040" cy="41148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No seller performance benchmarking system</a:t>
            </a:r>
            <a:endParaRPr lang="en-US" sz="950" dirty="0"/>
          </a:p>
        </p:txBody>
      </p:sp>
      <p:sp>
        <p:nvSpPr>
          <p:cNvPr id="24" name="Shape 22">
            <a:extLst>
              <a:ext uri="{FF2B5EF4-FFF2-40B4-BE49-F238E27FC236}">
                <a16:creationId xmlns:a16="http://schemas.microsoft.com/office/drawing/2014/main" id="{84DF2570-1984-5FF1-267E-0A890874A3EE}"/>
              </a:ext>
            </a:extLst>
          </p:cNvPr>
          <p:cNvSpPr/>
          <p:nvPr/>
        </p:nvSpPr>
        <p:spPr>
          <a:xfrm>
            <a:off x="428625" y="4379214"/>
            <a:ext cx="82677" cy="91440"/>
          </a:xfrm>
          <a:prstGeom prst="ellipse">
            <a:avLst/>
          </a:prstGeom>
          <a:solidFill>
            <a:srgbClr val="00C853"/>
          </a:solidFill>
          <a:ln w="12700">
            <a:solidFill>
              <a:srgbClr val="00C853"/>
            </a:solidFill>
            <a:prstDash val="solid"/>
          </a:ln>
        </p:spPr>
        <p:txBody>
          <a:bodyPr/>
          <a:lstStyle/>
          <a:p>
            <a:endParaRPr lang="en-MY"/>
          </a:p>
        </p:txBody>
      </p:sp>
      <p:sp>
        <p:nvSpPr>
          <p:cNvPr id="25" name="Text 23">
            <a:extLst>
              <a:ext uri="{FF2B5EF4-FFF2-40B4-BE49-F238E27FC236}">
                <a16:creationId xmlns:a16="http://schemas.microsoft.com/office/drawing/2014/main" id="{F3BF9B6A-9DE7-D9BB-3E8C-C0235E6A720E}"/>
              </a:ext>
            </a:extLst>
          </p:cNvPr>
          <p:cNvSpPr/>
          <p:nvPr/>
        </p:nvSpPr>
        <p:spPr>
          <a:xfrm>
            <a:off x="593979" y="4208907"/>
            <a:ext cx="3749040" cy="41148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No data-driven CLV or customer segmentation</a:t>
            </a:r>
            <a:endParaRPr lang="en-US" sz="950" dirty="0"/>
          </a:p>
        </p:txBody>
      </p:sp>
      <p:sp>
        <p:nvSpPr>
          <p:cNvPr id="26" name="Shape 24">
            <a:extLst>
              <a:ext uri="{FF2B5EF4-FFF2-40B4-BE49-F238E27FC236}">
                <a16:creationId xmlns:a16="http://schemas.microsoft.com/office/drawing/2014/main" id="{6706F5B3-6972-E0AE-E999-92A5AA600D05}"/>
              </a:ext>
            </a:extLst>
          </p:cNvPr>
          <p:cNvSpPr/>
          <p:nvPr/>
        </p:nvSpPr>
        <p:spPr>
          <a:xfrm>
            <a:off x="428625" y="4673727"/>
            <a:ext cx="82677" cy="91440"/>
          </a:xfrm>
          <a:prstGeom prst="ellipse">
            <a:avLst/>
          </a:prstGeom>
          <a:solidFill>
            <a:srgbClr val="E91E8C"/>
          </a:solidFill>
          <a:ln w="12700">
            <a:solidFill>
              <a:srgbClr val="E91E8C"/>
            </a:solidFill>
            <a:prstDash val="solid"/>
          </a:ln>
        </p:spPr>
        <p:txBody>
          <a:bodyPr/>
          <a:lstStyle/>
          <a:p>
            <a:endParaRPr lang="en-MY"/>
          </a:p>
        </p:txBody>
      </p:sp>
      <p:sp>
        <p:nvSpPr>
          <p:cNvPr id="27" name="Text 25">
            <a:extLst>
              <a:ext uri="{FF2B5EF4-FFF2-40B4-BE49-F238E27FC236}">
                <a16:creationId xmlns:a16="http://schemas.microsoft.com/office/drawing/2014/main" id="{7C7BDEDE-F6FC-AB13-D2DD-922C7C36E776}"/>
              </a:ext>
            </a:extLst>
          </p:cNvPr>
          <p:cNvSpPr/>
          <p:nvPr/>
        </p:nvSpPr>
        <p:spPr>
          <a:xfrm>
            <a:off x="593979" y="4503420"/>
            <a:ext cx="3749040" cy="41148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Reporting is retrospective with zero predictive capability</a:t>
            </a:r>
            <a:endParaRPr lang="en-US" sz="950" dirty="0"/>
          </a:p>
        </p:txBody>
      </p:sp>
      <p:sp>
        <p:nvSpPr>
          <p:cNvPr id="28" name="Shape 26">
            <a:extLst>
              <a:ext uri="{FF2B5EF4-FFF2-40B4-BE49-F238E27FC236}">
                <a16:creationId xmlns:a16="http://schemas.microsoft.com/office/drawing/2014/main" id="{0FF1EA06-28D9-8B36-43C2-1FFD07B75E2C}"/>
              </a:ext>
            </a:extLst>
          </p:cNvPr>
          <p:cNvSpPr/>
          <p:nvPr/>
        </p:nvSpPr>
        <p:spPr>
          <a:xfrm>
            <a:off x="4572000" y="1034415"/>
            <a:ext cx="4343400" cy="3890010"/>
          </a:xfrm>
          <a:prstGeom prst="roundRect">
            <a:avLst>
              <a:gd name="adj" fmla="val 3333"/>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29" name="Shape 27">
            <a:extLst>
              <a:ext uri="{FF2B5EF4-FFF2-40B4-BE49-F238E27FC236}">
                <a16:creationId xmlns:a16="http://schemas.microsoft.com/office/drawing/2014/main" id="{FFDE1C67-43E3-010A-68AD-3C9928EEE04B}"/>
              </a:ext>
            </a:extLst>
          </p:cNvPr>
          <p:cNvSpPr/>
          <p:nvPr/>
        </p:nvSpPr>
        <p:spPr>
          <a:xfrm>
            <a:off x="4572000" y="969264"/>
            <a:ext cx="4343400" cy="310896"/>
          </a:xfrm>
          <a:prstGeom prst="roundRect">
            <a:avLst>
              <a:gd name="adj" fmla="val 35294"/>
            </a:avLst>
          </a:prstGeom>
          <a:solidFill>
            <a:srgbClr val="4472C4"/>
          </a:solidFill>
          <a:ln w="12700">
            <a:solidFill>
              <a:srgbClr val="4472C4"/>
            </a:solidFill>
            <a:prstDash val="solid"/>
          </a:ln>
        </p:spPr>
        <p:txBody>
          <a:bodyPr/>
          <a:lstStyle/>
          <a:p>
            <a:endParaRPr lang="en-MY">
              <a:effectLst>
                <a:outerShdw blurRad="50800" dist="38100" dir="2700000" algn="tl" rotWithShape="0">
                  <a:prstClr val="black">
                    <a:alpha val="40000"/>
                  </a:prstClr>
                </a:outerShdw>
              </a:effectLst>
            </a:endParaRPr>
          </a:p>
        </p:txBody>
      </p:sp>
      <p:sp>
        <p:nvSpPr>
          <p:cNvPr id="30" name="Shape 28">
            <a:extLst>
              <a:ext uri="{FF2B5EF4-FFF2-40B4-BE49-F238E27FC236}">
                <a16:creationId xmlns:a16="http://schemas.microsoft.com/office/drawing/2014/main" id="{BC094CA7-3997-D8B5-7B3B-35C1549E1680}"/>
              </a:ext>
            </a:extLst>
          </p:cNvPr>
          <p:cNvSpPr/>
          <p:nvPr/>
        </p:nvSpPr>
        <p:spPr>
          <a:xfrm>
            <a:off x="4572000" y="1152144"/>
            <a:ext cx="4343400" cy="128016"/>
          </a:xfrm>
          <a:prstGeom prst="rect">
            <a:avLst/>
          </a:prstGeom>
          <a:solidFill>
            <a:srgbClr val="4472C4"/>
          </a:solidFill>
          <a:ln w="12700">
            <a:solidFill>
              <a:srgbClr val="4472C4"/>
            </a:solidFill>
            <a:prstDash val="solid"/>
          </a:ln>
        </p:spPr>
        <p:txBody>
          <a:bodyPr/>
          <a:lstStyle/>
          <a:p>
            <a:endParaRPr lang="en-MY"/>
          </a:p>
        </p:txBody>
      </p:sp>
      <p:sp>
        <p:nvSpPr>
          <p:cNvPr id="31" name="Text 29">
            <a:extLst>
              <a:ext uri="{FF2B5EF4-FFF2-40B4-BE49-F238E27FC236}">
                <a16:creationId xmlns:a16="http://schemas.microsoft.com/office/drawing/2014/main" id="{5E5B2C5E-F992-5126-D87C-1014656D099D}"/>
              </a:ext>
            </a:extLst>
          </p:cNvPr>
          <p:cNvSpPr/>
          <p:nvPr/>
        </p:nvSpPr>
        <p:spPr>
          <a:xfrm>
            <a:off x="4690872" y="978408"/>
            <a:ext cx="4160520" cy="292608"/>
          </a:xfrm>
          <a:prstGeom prst="rect">
            <a:avLst/>
          </a:prstGeom>
          <a:noFill/>
          <a:ln/>
        </p:spPr>
        <p:txBody>
          <a:bodyPr wrap="square" lIns="0" tIns="0" rIns="0" bIns="0" rtlCol="0" anchor="ctr"/>
          <a:lstStyle/>
          <a:p>
            <a:pPr marL="0" indent="0">
              <a:buNone/>
            </a:pPr>
            <a:r>
              <a:rPr lang="en-US" sz="11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Literature Review</a:t>
            </a:r>
            <a:endParaRPr lang="en-US" sz="1100" dirty="0">
              <a:effectLst>
                <a:outerShdw blurRad="50800" dist="38100" dir="2700000" algn="tl" rotWithShape="0">
                  <a:prstClr val="black">
                    <a:alpha val="40000"/>
                  </a:prstClr>
                </a:outerShdw>
              </a:effectLst>
            </a:endParaRPr>
          </a:p>
        </p:txBody>
      </p:sp>
      <p:pic>
        <p:nvPicPr>
          <p:cNvPr id="54" name="Picture 53">
            <a:extLst>
              <a:ext uri="{FF2B5EF4-FFF2-40B4-BE49-F238E27FC236}">
                <a16:creationId xmlns:a16="http://schemas.microsoft.com/office/drawing/2014/main" id="{818C6FC3-7B69-F739-4516-1FD8DB3A266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sp>
        <p:nvSpPr>
          <p:cNvPr id="56" name="Text 11">
            <a:extLst>
              <a:ext uri="{FF2B5EF4-FFF2-40B4-BE49-F238E27FC236}">
                <a16:creationId xmlns:a16="http://schemas.microsoft.com/office/drawing/2014/main" id="{613BB954-D5D9-B17B-2ABF-3E826F11CD93}"/>
              </a:ext>
            </a:extLst>
          </p:cNvPr>
          <p:cNvSpPr/>
          <p:nvPr/>
        </p:nvSpPr>
        <p:spPr>
          <a:xfrm>
            <a:off x="399782" y="1309978"/>
            <a:ext cx="3836443" cy="1481582"/>
          </a:xfrm>
          <a:prstGeom prst="rect">
            <a:avLst/>
          </a:prstGeom>
          <a:noFill/>
          <a:ln/>
        </p:spPr>
        <p:txBody>
          <a:bodyPr wrap="square" lIns="0" tIns="0" rIns="0" bIns="0" rtlCol="0" anchor="ctr"/>
          <a:lstStyle/>
          <a:p>
            <a:pPr marL="0" indent="0" algn="just">
              <a:buNone/>
            </a:pPr>
            <a:r>
              <a:rPr lang="en-US" sz="1400" b="1" dirty="0">
                <a:solidFill>
                  <a:srgbClr val="EF6820"/>
                </a:solidFill>
                <a:latin typeface="Calibri" pitchFamily="34" charset="0"/>
                <a:ea typeface="Calibri" pitchFamily="34" charset="-122"/>
                <a:cs typeface="Calibri" pitchFamily="34" charset="-120"/>
              </a:rPr>
              <a:t>Olist</a:t>
            </a:r>
            <a:r>
              <a:rPr lang="en-US" sz="1400" b="1" dirty="0"/>
              <a:t> </a:t>
            </a:r>
            <a:endParaRPr lang="en-US" sz="1000" dirty="0">
              <a:solidFill>
                <a:srgbClr val="E8EDF2"/>
              </a:solidFill>
              <a:latin typeface="Calibri" pitchFamily="34" charset="0"/>
              <a:ea typeface="Calibri" pitchFamily="34" charset="-122"/>
              <a:cs typeface="Calibri" pitchFamily="34" charset="-120"/>
            </a:endParaRPr>
          </a:p>
          <a:p>
            <a:pPr marL="342900" indent="-342900">
              <a:buSzPct val="100000"/>
              <a:buFontTx/>
              <a:buChar char="•"/>
            </a:pPr>
            <a:r>
              <a:rPr lang="en-US" sz="1000" dirty="0">
                <a:solidFill>
                  <a:srgbClr val="E8EDF2"/>
                </a:solidFill>
                <a:latin typeface="Calibri" pitchFamily="34" charset="0"/>
                <a:ea typeface="Calibri" pitchFamily="34" charset="-122"/>
                <a:cs typeface="Calibri" pitchFamily="34" charset="-120"/>
              </a:rPr>
              <a:t>A Brazilian online marketplace connecting 90k sellers to millions of customers across Brazil. </a:t>
            </a:r>
          </a:p>
          <a:p>
            <a:pPr marL="342900" indent="-342900">
              <a:buSzPct val="100000"/>
              <a:buChar char="•"/>
            </a:pPr>
            <a:r>
              <a:rPr lang="en-US" sz="1000" dirty="0">
                <a:solidFill>
                  <a:srgbClr val="FFFFFF"/>
                </a:solidFill>
              </a:rPr>
              <a:t>Global e-commerce surpassed USD 5.8T in 2023 (Statista, 2024)</a:t>
            </a:r>
            <a:endParaRPr lang="en-US" sz="1000" dirty="0"/>
          </a:p>
          <a:p>
            <a:pPr marL="342900" indent="-342900">
              <a:buSzPct val="100000"/>
              <a:buChar char="•"/>
            </a:pPr>
            <a:r>
              <a:rPr lang="en-US" sz="1000" dirty="0">
                <a:solidFill>
                  <a:srgbClr val="FFFFFF"/>
                </a:solidFill>
              </a:rPr>
              <a:t>Brazil's online retail reached USD 34B in 2023 (eMarketer, 2024)</a:t>
            </a:r>
            <a:endParaRPr lang="en-US" sz="1000" dirty="0"/>
          </a:p>
          <a:p>
            <a:pPr marL="342900" indent="-342900">
              <a:buSzPct val="100000"/>
              <a:buChar char="•"/>
            </a:pPr>
            <a:r>
              <a:rPr lang="en-US" sz="1000" dirty="0">
                <a:solidFill>
                  <a:srgbClr val="FFFFFF"/>
                </a:solidFill>
              </a:rPr>
              <a:t>Platform spans sellers, customers, payments, logistics &amp; reviews</a:t>
            </a:r>
            <a:endParaRPr lang="en-US" sz="1000" dirty="0"/>
          </a:p>
          <a:p>
            <a:pPr marL="342900" indent="-342900">
              <a:buSzPct val="100000"/>
              <a:buChar char="•"/>
            </a:pPr>
            <a:r>
              <a:rPr lang="en-US" sz="1000" dirty="0">
                <a:solidFill>
                  <a:srgbClr val="FFFFFF"/>
                </a:solidFill>
              </a:rPr>
              <a:t>Data-rich environment ideal for BI implementation</a:t>
            </a:r>
            <a:endParaRPr lang="en-US" sz="1000" dirty="0"/>
          </a:p>
          <a:p>
            <a:pPr marL="0" indent="0" algn="just">
              <a:buNone/>
            </a:pPr>
            <a:endParaRPr lang="en-US" sz="1000" dirty="0"/>
          </a:p>
        </p:txBody>
      </p:sp>
      <p:sp>
        <p:nvSpPr>
          <p:cNvPr id="58" name="Shape 13">
            <a:extLst>
              <a:ext uri="{FF2B5EF4-FFF2-40B4-BE49-F238E27FC236}">
                <a16:creationId xmlns:a16="http://schemas.microsoft.com/office/drawing/2014/main" id="{D668E580-6C42-2E0B-6DD7-A8A65AD040AE}"/>
              </a:ext>
            </a:extLst>
          </p:cNvPr>
          <p:cNvSpPr/>
          <p:nvPr/>
        </p:nvSpPr>
        <p:spPr>
          <a:xfrm>
            <a:off x="237744" y="970407"/>
            <a:ext cx="4169664" cy="310896"/>
          </a:xfrm>
          <a:prstGeom prst="roundRect">
            <a:avLst>
              <a:gd name="adj" fmla="val 35294"/>
            </a:avLst>
          </a:prstGeom>
          <a:solidFill>
            <a:srgbClr val="00C4B4"/>
          </a:solidFill>
          <a:ln w="12700">
            <a:solidFill>
              <a:srgbClr val="00C4B4"/>
            </a:solidFill>
            <a:prstDash val="solid"/>
          </a:ln>
        </p:spPr>
        <p:txBody>
          <a:bodyPr/>
          <a:lstStyle/>
          <a:p>
            <a:endParaRPr lang="en-MY"/>
          </a:p>
        </p:txBody>
      </p:sp>
      <p:sp>
        <p:nvSpPr>
          <p:cNvPr id="59" name="Shape 14">
            <a:extLst>
              <a:ext uri="{FF2B5EF4-FFF2-40B4-BE49-F238E27FC236}">
                <a16:creationId xmlns:a16="http://schemas.microsoft.com/office/drawing/2014/main" id="{102C8FFC-5D94-70FD-18F2-7851E62D98B2}"/>
              </a:ext>
            </a:extLst>
          </p:cNvPr>
          <p:cNvSpPr/>
          <p:nvPr/>
        </p:nvSpPr>
        <p:spPr>
          <a:xfrm>
            <a:off x="237744" y="1153287"/>
            <a:ext cx="4169664" cy="128016"/>
          </a:xfrm>
          <a:prstGeom prst="rect">
            <a:avLst/>
          </a:prstGeom>
          <a:solidFill>
            <a:srgbClr val="00C4B4"/>
          </a:solidFill>
          <a:ln w="12700">
            <a:solidFill>
              <a:srgbClr val="00C4B4"/>
            </a:solidFill>
            <a:prstDash val="solid"/>
          </a:ln>
        </p:spPr>
        <p:txBody>
          <a:bodyPr/>
          <a:lstStyle/>
          <a:p>
            <a:endParaRPr lang="en-MY" i="1" dirty="0"/>
          </a:p>
        </p:txBody>
      </p:sp>
      <p:sp>
        <p:nvSpPr>
          <p:cNvPr id="60" name="Text 15">
            <a:extLst>
              <a:ext uri="{FF2B5EF4-FFF2-40B4-BE49-F238E27FC236}">
                <a16:creationId xmlns:a16="http://schemas.microsoft.com/office/drawing/2014/main" id="{5907C071-5A85-E6E5-D3B7-AB4885F7614B}"/>
              </a:ext>
            </a:extLst>
          </p:cNvPr>
          <p:cNvSpPr/>
          <p:nvPr/>
        </p:nvSpPr>
        <p:spPr>
          <a:xfrm>
            <a:off x="365760" y="979551"/>
            <a:ext cx="3977640" cy="292608"/>
          </a:xfrm>
          <a:prstGeom prst="rect">
            <a:avLst/>
          </a:prstGeom>
          <a:noFill/>
          <a:ln/>
        </p:spPr>
        <p:txBody>
          <a:bodyPr wrap="square" lIns="0" tIns="0" rIns="0" bIns="0" rtlCol="0" anchor="ctr"/>
          <a:lstStyle/>
          <a:p>
            <a:pPr marL="0" indent="0">
              <a:buNone/>
            </a:pPr>
            <a:r>
              <a:rPr lang="en-US" sz="1100" b="1" dirty="0">
                <a:solidFill>
                  <a:schemeClr val="bg1"/>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Business Understanding &amp; Domain</a:t>
            </a:r>
            <a:endParaRPr lang="en-US" sz="1100" dirty="0">
              <a:solidFill>
                <a:schemeClr val="bg1"/>
              </a:solidFill>
              <a:effectLst>
                <a:outerShdw blurRad="50800" dist="38100" dir="2700000" algn="tl" rotWithShape="0">
                  <a:prstClr val="black">
                    <a:alpha val="40000"/>
                  </a:prstClr>
                </a:outerShdw>
              </a:effectLst>
            </a:endParaRPr>
          </a:p>
        </p:txBody>
      </p:sp>
      <p:graphicFrame>
        <p:nvGraphicFramePr>
          <p:cNvPr id="4" name="Table 3">
            <a:extLst>
              <a:ext uri="{FF2B5EF4-FFF2-40B4-BE49-F238E27FC236}">
                <a16:creationId xmlns:a16="http://schemas.microsoft.com/office/drawing/2014/main" id="{3E3E6171-8D82-DB06-0876-6415642179A5}"/>
              </a:ext>
            </a:extLst>
          </p:cNvPr>
          <p:cNvGraphicFramePr>
            <a:graphicFrameLocks noGrp="1"/>
          </p:cNvGraphicFramePr>
          <p:nvPr>
            <p:extLst>
              <p:ext uri="{D42A27DB-BD31-4B8C-83A1-F6EECF244321}">
                <p14:modId xmlns:p14="http://schemas.microsoft.com/office/powerpoint/2010/main" val="3981724952"/>
              </p:ext>
            </p:extLst>
          </p:nvPr>
        </p:nvGraphicFramePr>
        <p:xfrm>
          <a:off x="4644587" y="1471929"/>
          <a:ext cx="4198225" cy="3000375"/>
        </p:xfrm>
        <a:graphic>
          <a:graphicData uri="http://schemas.openxmlformats.org/drawingml/2006/table">
            <a:tbl>
              <a:tblPr firstRow="1" bandRow="1">
                <a:tableStyleId>{3B4B98B0-60AC-42C2-AFA5-B58CD77FA1E5}</a:tableStyleId>
              </a:tblPr>
              <a:tblGrid>
                <a:gridCol w="1189609">
                  <a:extLst>
                    <a:ext uri="{9D8B030D-6E8A-4147-A177-3AD203B41FA5}">
                      <a16:colId xmlns:a16="http://schemas.microsoft.com/office/drawing/2014/main" val="2335866651"/>
                    </a:ext>
                  </a:extLst>
                </a:gridCol>
                <a:gridCol w="856474">
                  <a:extLst>
                    <a:ext uri="{9D8B030D-6E8A-4147-A177-3AD203B41FA5}">
                      <a16:colId xmlns:a16="http://schemas.microsoft.com/office/drawing/2014/main" val="601232892"/>
                    </a:ext>
                  </a:extLst>
                </a:gridCol>
                <a:gridCol w="730250">
                  <a:extLst>
                    <a:ext uri="{9D8B030D-6E8A-4147-A177-3AD203B41FA5}">
                      <a16:colId xmlns:a16="http://schemas.microsoft.com/office/drawing/2014/main" val="3029380712"/>
                    </a:ext>
                  </a:extLst>
                </a:gridCol>
                <a:gridCol w="1421892">
                  <a:extLst>
                    <a:ext uri="{9D8B030D-6E8A-4147-A177-3AD203B41FA5}">
                      <a16:colId xmlns:a16="http://schemas.microsoft.com/office/drawing/2014/main" val="1243006071"/>
                    </a:ext>
                  </a:extLst>
                </a:gridCol>
              </a:tblGrid>
              <a:tr h="178418">
                <a:tc>
                  <a:txBody>
                    <a:bodyPr/>
                    <a:lstStyle/>
                    <a:p>
                      <a:pPr>
                        <a:buNone/>
                      </a:pPr>
                      <a:r>
                        <a:rPr lang="en-MY" sz="900" b="1" dirty="0">
                          <a:solidFill>
                            <a:schemeClr val="bg1"/>
                          </a:solidFill>
                        </a:rPr>
                        <a:t>Study</a:t>
                      </a:r>
                      <a:endParaRPr lang="en-MY" sz="900" dirty="0">
                        <a:solidFill>
                          <a:schemeClr val="bg1"/>
                        </a:solidFill>
                      </a:endParaRP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buNone/>
                      </a:pPr>
                      <a:r>
                        <a:rPr lang="en-MY" sz="900" b="1" dirty="0">
                          <a:solidFill>
                            <a:schemeClr val="bg1"/>
                          </a:solidFill>
                        </a:rPr>
                        <a:t>Variables</a:t>
                      </a:r>
                      <a:endParaRPr lang="en-MY" sz="900" dirty="0">
                        <a:solidFill>
                          <a:schemeClr val="bg1"/>
                        </a:solidFill>
                      </a:endParaRP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buNone/>
                      </a:pPr>
                      <a:r>
                        <a:rPr lang="en-MY" sz="900" b="1" dirty="0">
                          <a:solidFill>
                            <a:schemeClr val="bg1"/>
                          </a:solidFill>
                        </a:rPr>
                        <a:t>Methods</a:t>
                      </a:r>
                      <a:endParaRPr lang="en-MY" sz="900" dirty="0">
                        <a:solidFill>
                          <a:schemeClr val="bg1"/>
                        </a:solidFill>
                      </a:endParaRP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buNone/>
                      </a:pPr>
                      <a:r>
                        <a:rPr lang="en-MY" sz="900" b="1" dirty="0">
                          <a:solidFill>
                            <a:schemeClr val="bg1"/>
                          </a:solidFill>
                        </a:rPr>
                        <a:t>Key Findings</a:t>
                      </a:r>
                      <a:endParaRPr lang="en-MY" sz="900" dirty="0">
                        <a:solidFill>
                          <a:schemeClr val="bg1"/>
                        </a:solidFill>
                      </a:endParaRPr>
                    </a:p>
                  </a:txBody>
                  <a:tcPr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06565658"/>
                  </a:ext>
                </a:extLst>
              </a:tr>
              <a:tr h="701675">
                <a:tc>
                  <a:txBody>
                    <a:bodyPr/>
                    <a:lstStyle/>
                    <a:p>
                      <a:pPr>
                        <a:buNone/>
                      </a:pPr>
                      <a:r>
                        <a:rPr lang="en-MY" sz="800" b="1" dirty="0">
                          <a:solidFill>
                            <a:schemeClr val="bg1"/>
                          </a:solidFill>
                        </a:rPr>
                        <a:t>BI in Decision-Making</a:t>
                      </a:r>
                      <a:r>
                        <a:rPr lang="en-MY" sz="800" dirty="0">
                          <a:solidFill>
                            <a:schemeClr val="bg1"/>
                          </a:solidFill>
                        </a:rPr>
                        <a:t> </a:t>
                      </a:r>
                    </a:p>
                    <a:p>
                      <a:pPr>
                        <a:buNone/>
                      </a:pPr>
                      <a:r>
                        <a:rPr lang="en-MY" sz="700" dirty="0">
                          <a:solidFill>
                            <a:schemeClr val="bg1"/>
                          </a:solidFill>
                        </a:rPr>
                        <a:t>Yerpude (2023); Eyadat (2024); Judijanto (2024)</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buNone/>
                      </a:pPr>
                      <a:r>
                        <a:rPr lang="en-MY" sz="700" dirty="0">
                          <a:solidFill>
                            <a:schemeClr val="bg1"/>
                          </a:solidFill>
                        </a:rPr>
                        <a:t>Data integration, decision quality, performance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buNone/>
                      </a:pPr>
                      <a:r>
                        <a:rPr lang="en-MY" sz="700" dirty="0">
                          <a:solidFill>
                            <a:schemeClr val="bg1"/>
                          </a:solidFill>
                        </a:rPr>
                        <a:t>Empirical studies + literature review</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a:buNone/>
                      </a:pPr>
                      <a:r>
                        <a:rPr lang="en-MY" sz="700" dirty="0">
                          <a:solidFill>
                            <a:schemeClr val="bg1"/>
                          </a:solidFill>
                        </a:rPr>
                        <a:t>BI converts raw data into actionable insights → improves decision-making &amp; firm performance. Challenges: data quality, integration, resistance</a:t>
                      </a:r>
                    </a:p>
                  </a:txBody>
                  <a:tcPr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562310793"/>
                  </a:ext>
                </a:extLst>
              </a:tr>
              <a:tr h="768350">
                <a:tc>
                  <a:txBody>
                    <a:bodyPr/>
                    <a:lstStyle/>
                    <a:p>
                      <a:pPr>
                        <a:buNone/>
                      </a:pPr>
                      <a:r>
                        <a:rPr lang="en-MY" sz="800" b="1" dirty="0">
                          <a:solidFill>
                            <a:schemeClr val="bg1"/>
                          </a:solidFill>
                        </a:rPr>
                        <a:t>Data Modelling Techniques</a:t>
                      </a:r>
                      <a:r>
                        <a:rPr lang="en-MY" sz="800" dirty="0">
                          <a:solidFill>
                            <a:schemeClr val="bg1"/>
                          </a:solidFill>
                        </a:rPr>
                        <a:t> </a:t>
                      </a:r>
                    </a:p>
                    <a:p>
                      <a:pPr>
                        <a:buNone/>
                      </a:pPr>
                      <a:r>
                        <a:rPr lang="en-MY" sz="700" dirty="0">
                          <a:solidFill>
                            <a:schemeClr val="bg1"/>
                          </a:solidFill>
                        </a:rPr>
                        <a:t>Santos (2024); Ballantyne et al. (2020); </a:t>
                      </a:r>
                    </a:p>
                    <a:p>
                      <a:pPr>
                        <a:buNone/>
                      </a:pPr>
                      <a:r>
                        <a:rPr lang="en-MY" sz="700" dirty="0" err="1">
                          <a:solidFill>
                            <a:schemeClr val="bg1"/>
                          </a:solidFill>
                        </a:rPr>
                        <a:t>Garani</a:t>
                      </a:r>
                      <a:r>
                        <a:rPr lang="en-MY" sz="700" dirty="0">
                          <a:solidFill>
                            <a:schemeClr val="bg1"/>
                          </a:solidFill>
                        </a:rPr>
                        <a:t> et al. (2012)</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MY" sz="700" dirty="0">
                          <a:solidFill>
                            <a:schemeClr val="bg1"/>
                          </a:solidFill>
                        </a:rPr>
                        <a:t>Data structure, relationships, schema design</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MY" sz="700" dirty="0">
                          <a:solidFill>
                            <a:schemeClr val="bg1"/>
                          </a:solidFill>
                        </a:rPr>
                        <a:t>Conceptual modelling + review studies</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MY" sz="700" dirty="0">
                          <a:solidFill>
                            <a:schemeClr val="bg1"/>
                          </a:solidFill>
                        </a:rPr>
                        <a:t>ER modelling still foundational; modern systems use graph/NoSQL. Hybrid schemas improve query performance. Gap in complex real-world modelling</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132757714"/>
                  </a:ext>
                </a:extLst>
              </a:tr>
              <a:tr h="539750">
                <a:tc>
                  <a:txBody>
                    <a:bodyPr/>
                    <a:lstStyle/>
                    <a:p>
                      <a:pPr>
                        <a:buNone/>
                      </a:pPr>
                      <a:r>
                        <a:rPr lang="en-MY" sz="800" b="1" dirty="0">
                          <a:solidFill>
                            <a:schemeClr val="bg1"/>
                          </a:solidFill>
                        </a:rPr>
                        <a:t>ETL vs ELT</a:t>
                      </a:r>
                      <a:r>
                        <a:rPr lang="en-MY" sz="800" dirty="0">
                          <a:solidFill>
                            <a:schemeClr val="bg1"/>
                          </a:solidFill>
                        </a:rPr>
                        <a:t> </a:t>
                      </a:r>
                    </a:p>
                    <a:p>
                      <a:pPr>
                        <a:buNone/>
                      </a:pPr>
                      <a:r>
                        <a:rPr lang="en-MY" sz="700" dirty="0">
                          <a:solidFill>
                            <a:schemeClr val="bg1"/>
                          </a:solidFill>
                        </a:rPr>
                        <a:t>Vassiliadis (2009); Janssen et al. (2024); Rambabu et al. (2023)</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MY" sz="700">
                          <a:solidFill>
                            <a:schemeClr val="bg1"/>
                          </a:solidFill>
                        </a:rPr>
                        <a:t>Data processing, transformation stage, performance</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MY" sz="700">
                          <a:solidFill>
                            <a:schemeClr val="bg1"/>
                          </a:solidFill>
                        </a:rPr>
                        <a:t>Comparative research</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MY" sz="700" dirty="0">
                          <a:solidFill>
                            <a:schemeClr val="bg1"/>
                          </a:solidFill>
                        </a:rPr>
                        <a:t>ETL = data quality control; ELT = speed &amp; scalability. Hybrid approach performs best in practice</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92028649"/>
                  </a:ext>
                </a:extLst>
              </a:tr>
              <a:tr h="578757">
                <a:tc>
                  <a:txBody>
                    <a:bodyPr/>
                    <a:lstStyle/>
                    <a:p>
                      <a:pPr>
                        <a:buNone/>
                      </a:pPr>
                      <a:r>
                        <a:rPr lang="en-MY" sz="800" b="1" dirty="0">
                          <a:solidFill>
                            <a:schemeClr val="bg1"/>
                          </a:solidFill>
                        </a:rPr>
                        <a:t>Dashboard Effectiveness</a:t>
                      </a:r>
                      <a:r>
                        <a:rPr lang="en-MY" sz="800" dirty="0">
                          <a:solidFill>
                            <a:schemeClr val="bg1"/>
                          </a:solidFill>
                        </a:rPr>
                        <a:t> </a:t>
                      </a:r>
                    </a:p>
                    <a:p>
                      <a:pPr>
                        <a:buNone/>
                      </a:pPr>
                      <a:r>
                        <a:rPr lang="en-MY" sz="700" dirty="0">
                          <a:solidFill>
                            <a:schemeClr val="bg1"/>
                          </a:solidFill>
                        </a:rPr>
                        <a:t>Sarikaya et al. (2018); </a:t>
                      </a:r>
                      <a:r>
                        <a:rPr lang="en-MY" sz="700" dirty="0" err="1">
                          <a:solidFill>
                            <a:schemeClr val="bg1"/>
                          </a:solidFill>
                        </a:rPr>
                        <a:t>Prakoso</a:t>
                      </a:r>
                      <a:r>
                        <a:rPr lang="en-MY" sz="700" dirty="0">
                          <a:solidFill>
                            <a:schemeClr val="bg1"/>
                          </a:solidFill>
                        </a:rPr>
                        <a:t> &amp; </a:t>
                      </a:r>
                      <a:r>
                        <a:rPr lang="en-MY" sz="700" dirty="0" err="1">
                          <a:solidFill>
                            <a:schemeClr val="bg1"/>
                          </a:solidFill>
                        </a:rPr>
                        <a:t>Nuryuliani</a:t>
                      </a:r>
                      <a:r>
                        <a:rPr lang="en-MY" sz="700" dirty="0">
                          <a:solidFill>
                            <a:schemeClr val="bg1"/>
                          </a:solidFill>
                        </a:rPr>
                        <a:t> (2019); Grabińska &amp; Ziora (2019)</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buNone/>
                      </a:pPr>
                      <a:r>
                        <a:rPr lang="en-MY" sz="700" dirty="0">
                          <a:solidFill>
                            <a:schemeClr val="bg1"/>
                          </a:solidFill>
                        </a:rPr>
                        <a:t>Interactivity, engagement, decision support</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buNone/>
                      </a:pPr>
                      <a:r>
                        <a:rPr lang="en-MY" sz="700">
                          <a:solidFill>
                            <a:schemeClr val="bg1"/>
                          </a:solidFill>
                        </a:rPr>
                        <a:t>Framework + case studies</a:t>
                      </a:r>
                    </a:p>
                  </a:txBody>
                  <a:tcPr anchor="ctr">
                    <a:lnL>
                      <a:noFill/>
                    </a:lnL>
                    <a:lnR>
                      <a:noFill/>
                    </a:lnR>
                    <a:lnT>
                      <a:noFill/>
                    </a:lnT>
                    <a:lnB w="12700" cmpd="sng">
                      <a:noFill/>
                    </a:lnB>
                    <a:lnTlToBr w="12700" cmpd="sng">
                      <a:noFill/>
                      <a:prstDash val="solid"/>
                    </a:lnTlToBr>
                    <a:lnBlToTr w="12700" cmpd="sng">
                      <a:noFill/>
                      <a:prstDash val="solid"/>
                    </a:lnBlToTr>
                  </a:tcPr>
                </a:tc>
                <a:tc>
                  <a:txBody>
                    <a:bodyPr/>
                    <a:lstStyle/>
                    <a:p>
                      <a:pPr>
                        <a:buNone/>
                      </a:pPr>
                      <a:r>
                        <a:rPr lang="en-MY" sz="700" dirty="0">
                          <a:solidFill>
                            <a:schemeClr val="bg1"/>
                          </a:solidFill>
                        </a:rPr>
                        <a:t>Interactive dashboards improve exploration, operational visibility, and decision-making—critical in e-commerce</a:t>
                      </a:r>
                    </a:p>
                  </a:txBody>
                  <a:tcPr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76967209"/>
                  </a:ext>
                </a:extLst>
              </a:tr>
            </a:tbl>
          </a:graphicData>
        </a:graphic>
      </p:graphicFrame>
    </p:spTree>
    <p:extLst>
      <p:ext uri="{BB962C8B-B14F-4D97-AF65-F5344CB8AC3E}">
        <p14:creationId xmlns:p14="http://schemas.microsoft.com/office/powerpoint/2010/main" val="3664340482"/>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a:extLst>
            <a:ext uri="{FF2B5EF4-FFF2-40B4-BE49-F238E27FC236}">
              <a16:creationId xmlns:a16="http://schemas.microsoft.com/office/drawing/2014/main" id="{BC8EE3F4-1B7A-4C71-1F06-B8E225C94B62}"/>
            </a:ext>
          </a:extLst>
        </p:cNvPr>
        <p:cNvGrpSpPr/>
        <p:nvPr/>
      </p:nvGrpSpPr>
      <p:grpSpPr>
        <a:xfrm>
          <a:off x="0" y="0"/>
          <a:ext cx="0" cy="0"/>
          <a:chOff x="0" y="0"/>
          <a:chExt cx="0" cy="0"/>
        </a:xfrm>
      </p:grpSpPr>
      <p:sp>
        <p:nvSpPr>
          <p:cNvPr id="306" name="Shape 4">
            <a:extLst>
              <a:ext uri="{FF2B5EF4-FFF2-40B4-BE49-F238E27FC236}">
                <a16:creationId xmlns:a16="http://schemas.microsoft.com/office/drawing/2014/main" id="{F8C52518-A8FF-8780-2891-3B581A2B8D41}"/>
              </a:ext>
            </a:extLst>
          </p:cNvPr>
          <p:cNvSpPr/>
          <p:nvPr/>
        </p:nvSpPr>
        <p:spPr>
          <a:xfrm>
            <a:off x="228600" y="2287222"/>
            <a:ext cx="2892026" cy="2152451"/>
          </a:xfrm>
          <a:prstGeom prst="roundRect">
            <a:avLst>
              <a:gd name="adj" fmla="val 10714"/>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88" name="Shape 38">
            <a:extLst>
              <a:ext uri="{FF2B5EF4-FFF2-40B4-BE49-F238E27FC236}">
                <a16:creationId xmlns:a16="http://schemas.microsoft.com/office/drawing/2014/main" id="{48C70272-84CE-A663-AE50-D2847B5436CA}"/>
              </a:ext>
            </a:extLst>
          </p:cNvPr>
          <p:cNvSpPr/>
          <p:nvPr/>
        </p:nvSpPr>
        <p:spPr>
          <a:xfrm>
            <a:off x="228600" y="4553712"/>
            <a:ext cx="8641080" cy="530352"/>
          </a:xfrm>
          <a:prstGeom prst="roundRect">
            <a:avLst>
              <a:gd name="adj" fmla="val 20690"/>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2" name="Shape 0">
            <a:extLst>
              <a:ext uri="{FF2B5EF4-FFF2-40B4-BE49-F238E27FC236}">
                <a16:creationId xmlns:a16="http://schemas.microsoft.com/office/drawing/2014/main" id="{139255D7-9115-6F4E-868B-6039EB3801E1}"/>
              </a:ext>
            </a:extLst>
          </p:cNvPr>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a:extLst>
              <a:ext uri="{FF2B5EF4-FFF2-40B4-BE49-F238E27FC236}">
                <a16:creationId xmlns:a16="http://schemas.microsoft.com/office/drawing/2014/main" id="{5EE23D98-938A-55D7-A536-02269E450FDF}"/>
              </a:ext>
            </a:extLst>
          </p:cNvPr>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7" name="Text 5">
            <a:extLst>
              <a:ext uri="{FF2B5EF4-FFF2-40B4-BE49-F238E27FC236}">
                <a16:creationId xmlns:a16="http://schemas.microsoft.com/office/drawing/2014/main" id="{B735AC1A-9A04-18B4-F10F-B2D97D007806}"/>
              </a:ext>
            </a:extLst>
          </p:cNvPr>
          <p:cNvSpPr/>
          <p:nvPr/>
        </p:nvSpPr>
        <p:spPr>
          <a:xfrm>
            <a:off x="1023366" y="219456"/>
            <a:ext cx="5760720" cy="438912"/>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Data, Model &amp; ETL/ELT</a:t>
            </a:r>
          </a:p>
        </p:txBody>
      </p:sp>
      <p:sp>
        <p:nvSpPr>
          <p:cNvPr id="11" name="Shape 9">
            <a:extLst>
              <a:ext uri="{FF2B5EF4-FFF2-40B4-BE49-F238E27FC236}">
                <a16:creationId xmlns:a16="http://schemas.microsoft.com/office/drawing/2014/main" id="{D855E465-2AE1-0DCD-15AC-509FE7E34AF8}"/>
              </a:ext>
            </a:extLst>
          </p:cNvPr>
          <p:cNvSpPr/>
          <p:nvPr/>
        </p:nvSpPr>
        <p:spPr>
          <a:xfrm>
            <a:off x="228600" y="987552"/>
            <a:ext cx="2788920" cy="1174885"/>
          </a:xfrm>
          <a:prstGeom prst="roundRect">
            <a:avLst>
              <a:gd name="adj" fmla="val 7895"/>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12" name="Shape 10">
            <a:extLst>
              <a:ext uri="{FF2B5EF4-FFF2-40B4-BE49-F238E27FC236}">
                <a16:creationId xmlns:a16="http://schemas.microsoft.com/office/drawing/2014/main" id="{CABD6557-51B5-668A-CCC5-F9FD99285A17}"/>
              </a:ext>
            </a:extLst>
          </p:cNvPr>
          <p:cNvSpPr/>
          <p:nvPr/>
        </p:nvSpPr>
        <p:spPr>
          <a:xfrm>
            <a:off x="237744" y="987552"/>
            <a:ext cx="2770632" cy="310896"/>
          </a:xfrm>
          <a:prstGeom prst="roundRect">
            <a:avLst>
              <a:gd name="adj" fmla="val 35294"/>
            </a:avLst>
          </a:prstGeom>
          <a:solidFill>
            <a:srgbClr val="EF6820"/>
          </a:solidFill>
          <a:ln w="12700">
            <a:solidFill>
              <a:srgbClr val="EF6820"/>
            </a:solidFill>
            <a:prstDash val="solid"/>
          </a:ln>
        </p:spPr>
        <p:txBody>
          <a:bodyPr/>
          <a:lstStyle/>
          <a:p>
            <a:endParaRPr lang="en-MY"/>
          </a:p>
        </p:txBody>
      </p:sp>
      <p:sp>
        <p:nvSpPr>
          <p:cNvPr id="13" name="Shape 11">
            <a:extLst>
              <a:ext uri="{FF2B5EF4-FFF2-40B4-BE49-F238E27FC236}">
                <a16:creationId xmlns:a16="http://schemas.microsoft.com/office/drawing/2014/main" id="{A01D6BD9-ABF2-7392-DD0C-FCD5898EB280}"/>
              </a:ext>
            </a:extLst>
          </p:cNvPr>
          <p:cNvSpPr/>
          <p:nvPr/>
        </p:nvSpPr>
        <p:spPr>
          <a:xfrm>
            <a:off x="237744" y="1170432"/>
            <a:ext cx="2770632" cy="128016"/>
          </a:xfrm>
          <a:prstGeom prst="rect">
            <a:avLst/>
          </a:prstGeom>
          <a:solidFill>
            <a:srgbClr val="EF6820"/>
          </a:solidFill>
          <a:ln w="12700">
            <a:solidFill>
              <a:srgbClr val="EF6820"/>
            </a:solidFill>
            <a:prstDash val="solid"/>
          </a:ln>
        </p:spPr>
        <p:txBody>
          <a:bodyPr/>
          <a:lstStyle/>
          <a:p>
            <a:endParaRPr lang="en-MY"/>
          </a:p>
        </p:txBody>
      </p:sp>
      <p:sp>
        <p:nvSpPr>
          <p:cNvPr id="14" name="Text 12">
            <a:extLst>
              <a:ext uri="{FF2B5EF4-FFF2-40B4-BE49-F238E27FC236}">
                <a16:creationId xmlns:a16="http://schemas.microsoft.com/office/drawing/2014/main" id="{A6295F62-1552-F800-F937-64198F78C646}"/>
              </a:ext>
            </a:extLst>
          </p:cNvPr>
          <p:cNvSpPr/>
          <p:nvPr/>
        </p:nvSpPr>
        <p:spPr>
          <a:xfrm>
            <a:off x="356616" y="996696"/>
            <a:ext cx="2606040" cy="292608"/>
          </a:xfrm>
          <a:prstGeom prst="rect">
            <a:avLst/>
          </a:prstGeom>
          <a:noFill/>
          <a:ln/>
        </p:spPr>
        <p:txBody>
          <a:bodyPr wrap="square" lIns="0" tIns="0" rIns="0" bIns="0" rtlCol="0" anchor="ctr"/>
          <a:lstStyle/>
          <a:p>
            <a:pPr marL="0" indent="0">
              <a:buNone/>
            </a:pPr>
            <a:r>
              <a:rPr lang="en-US" sz="10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DS1  ·  Olist E-Commerce</a:t>
            </a:r>
            <a:endParaRPr lang="en-US" sz="1000" dirty="0">
              <a:effectLst>
                <a:outerShdw blurRad="50800" dist="38100" dir="2700000" algn="tl" rotWithShape="0">
                  <a:prstClr val="black">
                    <a:alpha val="40000"/>
                  </a:prstClr>
                </a:outerShdw>
              </a:effectLst>
            </a:endParaRPr>
          </a:p>
        </p:txBody>
      </p:sp>
      <p:sp>
        <p:nvSpPr>
          <p:cNvPr id="15" name="Text 13">
            <a:extLst>
              <a:ext uri="{FF2B5EF4-FFF2-40B4-BE49-F238E27FC236}">
                <a16:creationId xmlns:a16="http://schemas.microsoft.com/office/drawing/2014/main" id="{350BF5E9-29E6-E2AD-6422-CFC07CE39B01}"/>
              </a:ext>
            </a:extLst>
          </p:cNvPr>
          <p:cNvSpPr/>
          <p:nvPr/>
        </p:nvSpPr>
        <p:spPr>
          <a:xfrm>
            <a:off x="356616" y="1353312"/>
            <a:ext cx="2560320" cy="182880"/>
          </a:xfrm>
          <a:prstGeom prst="rect">
            <a:avLst/>
          </a:prstGeom>
          <a:noFill/>
          <a:ln/>
        </p:spPr>
        <p:txBody>
          <a:bodyPr wrap="square" lIns="0" tIns="0" rIns="0" bIns="0" rtlCol="0" anchor="ctr"/>
          <a:lstStyle/>
          <a:p>
            <a:pPr marL="0" indent="0">
              <a:buNone/>
            </a:pPr>
            <a:r>
              <a:rPr lang="en-US" sz="850" dirty="0">
                <a:solidFill>
                  <a:srgbClr val="8BA5C0"/>
                </a:solidFill>
                <a:latin typeface="Calibri" pitchFamily="34" charset="0"/>
                <a:ea typeface="Calibri" pitchFamily="34" charset="-122"/>
                <a:cs typeface="Calibri" pitchFamily="34" charset="-120"/>
              </a:rPr>
              <a:t>Source: Kaggle</a:t>
            </a:r>
            <a:endParaRPr lang="en-US" sz="850" dirty="0"/>
          </a:p>
        </p:txBody>
      </p:sp>
      <p:sp>
        <p:nvSpPr>
          <p:cNvPr id="16" name="Text 14">
            <a:extLst>
              <a:ext uri="{FF2B5EF4-FFF2-40B4-BE49-F238E27FC236}">
                <a16:creationId xmlns:a16="http://schemas.microsoft.com/office/drawing/2014/main" id="{FA065202-8DB6-3AC7-6294-5B0C4A7C9813}"/>
              </a:ext>
            </a:extLst>
          </p:cNvPr>
          <p:cNvSpPr/>
          <p:nvPr/>
        </p:nvSpPr>
        <p:spPr>
          <a:xfrm>
            <a:off x="356616" y="1536192"/>
            <a:ext cx="2560320" cy="182880"/>
          </a:xfrm>
          <a:prstGeom prst="rect">
            <a:avLst/>
          </a:prstGeom>
          <a:noFill/>
          <a:ln/>
        </p:spPr>
        <p:txBody>
          <a:bodyPr wrap="square" lIns="0" tIns="0" rIns="0" bIns="0" rtlCol="0" anchor="ctr"/>
          <a:lstStyle/>
          <a:p>
            <a:pPr marL="0" indent="0">
              <a:buNone/>
            </a:pPr>
            <a:r>
              <a:rPr lang="en-US" sz="850" b="1" dirty="0">
                <a:solidFill>
                  <a:srgbClr val="EF6820"/>
                </a:solidFill>
                <a:latin typeface="Calibri" pitchFamily="34" charset="0"/>
                <a:ea typeface="Calibri" pitchFamily="34" charset="-122"/>
                <a:cs typeface="Calibri" pitchFamily="34" charset="-120"/>
              </a:rPr>
              <a:t>Volume: 112,650 orders</a:t>
            </a:r>
            <a:endParaRPr lang="en-US" sz="850" dirty="0"/>
          </a:p>
        </p:txBody>
      </p:sp>
      <p:sp>
        <p:nvSpPr>
          <p:cNvPr id="17" name="Text 15">
            <a:extLst>
              <a:ext uri="{FF2B5EF4-FFF2-40B4-BE49-F238E27FC236}">
                <a16:creationId xmlns:a16="http://schemas.microsoft.com/office/drawing/2014/main" id="{CAC3970D-CE3B-BCA1-D2FA-9E92CA9318EF}"/>
              </a:ext>
            </a:extLst>
          </p:cNvPr>
          <p:cNvSpPr/>
          <p:nvPr/>
        </p:nvSpPr>
        <p:spPr>
          <a:xfrm>
            <a:off x="356616" y="1719072"/>
            <a:ext cx="2560320" cy="182880"/>
          </a:xfrm>
          <a:prstGeom prst="rect">
            <a:avLst/>
          </a:prstGeom>
          <a:noFill/>
          <a:ln/>
        </p:spPr>
        <p:txBody>
          <a:bodyPr wrap="square" lIns="0" tIns="0" rIns="0" bIns="0" rtlCol="0" anchor="ctr"/>
          <a:lstStyle/>
          <a:p>
            <a:pPr marL="0" indent="0">
              <a:buNone/>
            </a:pPr>
            <a:r>
              <a:rPr lang="en-US" sz="800" dirty="0">
                <a:solidFill>
                  <a:srgbClr val="E8EDF2"/>
                </a:solidFill>
                <a:latin typeface="Calibri" pitchFamily="34" charset="0"/>
                <a:ea typeface="Calibri" pitchFamily="34" charset="-122"/>
                <a:cs typeface="Calibri" pitchFamily="34" charset="-120"/>
              </a:rPr>
              <a:t>Link key: order_id, customer_id</a:t>
            </a:r>
            <a:endParaRPr lang="en-US" sz="800" dirty="0"/>
          </a:p>
        </p:txBody>
      </p:sp>
      <p:sp>
        <p:nvSpPr>
          <p:cNvPr id="18" name="Text 16">
            <a:extLst>
              <a:ext uri="{FF2B5EF4-FFF2-40B4-BE49-F238E27FC236}">
                <a16:creationId xmlns:a16="http://schemas.microsoft.com/office/drawing/2014/main" id="{117BAAAB-4D3F-0727-F403-16349A52E6B8}"/>
              </a:ext>
            </a:extLst>
          </p:cNvPr>
          <p:cNvSpPr/>
          <p:nvPr/>
        </p:nvSpPr>
        <p:spPr>
          <a:xfrm>
            <a:off x="356616" y="1749552"/>
            <a:ext cx="2560320" cy="347472"/>
          </a:xfrm>
          <a:prstGeom prst="rect">
            <a:avLst/>
          </a:prstGeom>
          <a:noFill/>
          <a:ln/>
        </p:spPr>
        <p:txBody>
          <a:bodyPr wrap="square" lIns="0" tIns="0" rIns="0" bIns="0" rtlCol="0" anchor="ctr"/>
          <a:lstStyle/>
          <a:p>
            <a:pPr marL="0" indent="0">
              <a:buNone/>
            </a:pPr>
            <a:r>
              <a:rPr lang="en-US" sz="750" dirty="0">
                <a:solidFill>
                  <a:srgbClr val="8BA5C0"/>
                </a:solidFill>
                <a:latin typeface="Calibri" pitchFamily="34" charset="0"/>
                <a:ea typeface="Calibri" pitchFamily="34" charset="-122"/>
                <a:cs typeface="Calibri" pitchFamily="34" charset="-120"/>
              </a:rPr>
              <a:t>Core fact table · joins to DS3 via customer_id</a:t>
            </a:r>
            <a:endParaRPr lang="en-US" sz="750" dirty="0"/>
          </a:p>
        </p:txBody>
      </p:sp>
      <p:sp>
        <p:nvSpPr>
          <p:cNvPr id="19" name="Shape 17">
            <a:extLst>
              <a:ext uri="{FF2B5EF4-FFF2-40B4-BE49-F238E27FC236}">
                <a16:creationId xmlns:a16="http://schemas.microsoft.com/office/drawing/2014/main" id="{A5A966D4-77CE-2AC1-6F7F-3AB680A9B468}"/>
              </a:ext>
            </a:extLst>
          </p:cNvPr>
          <p:cNvSpPr/>
          <p:nvPr/>
        </p:nvSpPr>
        <p:spPr>
          <a:xfrm>
            <a:off x="3156204" y="996696"/>
            <a:ext cx="2788920" cy="1174885"/>
          </a:xfrm>
          <a:prstGeom prst="roundRect">
            <a:avLst>
              <a:gd name="adj" fmla="val 7895"/>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20" name="Shape 18">
            <a:extLst>
              <a:ext uri="{FF2B5EF4-FFF2-40B4-BE49-F238E27FC236}">
                <a16:creationId xmlns:a16="http://schemas.microsoft.com/office/drawing/2014/main" id="{72AA7E3C-BAC3-EC0D-EE42-CCB9BEC1B2AD}"/>
              </a:ext>
            </a:extLst>
          </p:cNvPr>
          <p:cNvSpPr/>
          <p:nvPr/>
        </p:nvSpPr>
        <p:spPr>
          <a:xfrm>
            <a:off x="3200400" y="987552"/>
            <a:ext cx="2788920" cy="310896"/>
          </a:xfrm>
          <a:prstGeom prst="roundRect">
            <a:avLst>
              <a:gd name="adj" fmla="val 35294"/>
            </a:avLst>
          </a:prstGeom>
          <a:solidFill>
            <a:srgbClr val="00C4B4"/>
          </a:solidFill>
          <a:ln w="12700">
            <a:solidFill>
              <a:srgbClr val="00C4B4"/>
            </a:solidFill>
            <a:prstDash val="solid"/>
          </a:ln>
        </p:spPr>
        <p:txBody>
          <a:bodyPr/>
          <a:lstStyle/>
          <a:p>
            <a:endParaRPr lang="en-MY"/>
          </a:p>
        </p:txBody>
      </p:sp>
      <p:sp>
        <p:nvSpPr>
          <p:cNvPr id="21" name="Shape 19">
            <a:extLst>
              <a:ext uri="{FF2B5EF4-FFF2-40B4-BE49-F238E27FC236}">
                <a16:creationId xmlns:a16="http://schemas.microsoft.com/office/drawing/2014/main" id="{2C4413DF-D012-038B-FB4A-629D62298793}"/>
              </a:ext>
            </a:extLst>
          </p:cNvPr>
          <p:cNvSpPr/>
          <p:nvPr/>
        </p:nvSpPr>
        <p:spPr>
          <a:xfrm>
            <a:off x="3200400" y="1170432"/>
            <a:ext cx="2788920" cy="128016"/>
          </a:xfrm>
          <a:prstGeom prst="rect">
            <a:avLst/>
          </a:prstGeom>
          <a:solidFill>
            <a:srgbClr val="00C4B4"/>
          </a:solidFill>
          <a:ln w="12700">
            <a:solidFill>
              <a:srgbClr val="00C4B4"/>
            </a:solidFill>
            <a:prstDash val="solid"/>
          </a:ln>
        </p:spPr>
        <p:txBody>
          <a:bodyPr/>
          <a:lstStyle/>
          <a:p>
            <a:endParaRPr lang="en-MY"/>
          </a:p>
        </p:txBody>
      </p:sp>
      <p:sp>
        <p:nvSpPr>
          <p:cNvPr id="22" name="Text 20">
            <a:extLst>
              <a:ext uri="{FF2B5EF4-FFF2-40B4-BE49-F238E27FC236}">
                <a16:creationId xmlns:a16="http://schemas.microsoft.com/office/drawing/2014/main" id="{FCDCD56D-653B-A0A9-4B1C-48AEAF79BB70}"/>
              </a:ext>
            </a:extLst>
          </p:cNvPr>
          <p:cNvSpPr/>
          <p:nvPr/>
        </p:nvSpPr>
        <p:spPr>
          <a:xfrm>
            <a:off x="3328416" y="996696"/>
            <a:ext cx="2606040" cy="292608"/>
          </a:xfrm>
          <a:prstGeom prst="rect">
            <a:avLst/>
          </a:prstGeom>
          <a:noFill/>
          <a:ln/>
        </p:spPr>
        <p:txBody>
          <a:bodyPr wrap="square" lIns="0" tIns="0" rIns="0" bIns="0" rtlCol="0" anchor="ctr"/>
          <a:lstStyle/>
          <a:p>
            <a:pPr marL="0" indent="0">
              <a:buNone/>
            </a:pPr>
            <a:r>
              <a:rPr lang="en-US" sz="10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DS2  ·  Marketing Funnel</a:t>
            </a:r>
            <a:endParaRPr lang="en-US" sz="1000" dirty="0">
              <a:effectLst>
                <a:outerShdw blurRad="50800" dist="38100" dir="2700000" algn="tl" rotWithShape="0">
                  <a:prstClr val="black">
                    <a:alpha val="40000"/>
                  </a:prstClr>
                </a:outerShdw>
              </a:effectLst>
            </a:endParaRPr>
          </a:p>
        </p:txBody>
      </p:sp>
      <p:sp>
        <p:nvSpPr>
          <p:cNvPr id="23" name="Text 21">
            <a:extLst>
              <a:ext uri="{FF2B5EF4-FFF2-40B4-BE49-F238E27FC236}">
                <a16:creationId xmlns:a16="http://schemas.microsoft.com/office/drawing/2014/main" id="{4D768CBA-FF07-E82D-5BDA-56065B94E23D}"/>
              </a:ext>
            </a:extLst>
          </p:cNvPr>
          <p:cNvSpPr/>
          <p:nvPr/>
        </p:nvSpPr>
        <p:spPr>
          <a:xfrm>
            <a:off x="3328416" y="1353312"/>
            <a:ext cx="2560320" cy="182880"/>
          </a:xfrm>
          <a:prstGeom prst="rect">
            <a:avLst/>
          </a:prstGeom>
          <a:noFill/>
          <a:ln/>
        </p:spPr>
        <p:txBody>
          <a:bodyPr wrap="square" lIns="0" tIns="0" rIns="0" bIns="0" rtlCol="0" anchor="ctr"/>
          <a:lstStyle/>
          <a:p>
            <a:pPr marL="0" indent="0">
              <a:buNone/>
            </a:pPr>
            <a:r>
              <a:rPr lang="en-US" sz="850" dirty="0">
                <a:solidFill>
                  <a:srgbClr val="8BA5C0"/>
                </a:solidFill>
                <a:latin typeface="Calibri" pitchFamily="34" charset="0"/>
                <a:ea typeface="Calibri" pitchFamily="34" charset="-122"/>
                <a:cs typeface="Calibri" pitchFamily="34" charset="-120"/>
              </a:rPr>
              <a:t>Source: Kaggle</a:t>
            </a:r>
            <a:endParaRPr lang="en-US" sz="850" dirty="0"/>
          </a:p>
        </p:txBody>
      </p:sp>
      <p:sp>
        <p:nvSpPr>
          <p:cNvPr id="24" name="Text 22">
            <a:extLst>
              <a:ext uri="{FF2B5EF4-FFF2-40B4-BE49-F238E27FC236}">
                <a16:creationId xmlns:a16="http://schemas.microsoft.com/office/drawing/2014/main" id="{875D3181-131E-6CC2-67E2-6B6C026C1589}"/>
              </a:ext>
            </a:extLst>
          </p:cNvPr>
          <p:cNvSpPr/>
          <p:nvPr/>
        </p:nvSpPr>
        <p:spPr>
          <a:xfrm>
            <a:off x="3328416" y="1536192"/>
            <a:ext cx="2560320" cy="182880"/>
          </a:xfrm>
          <a:prstGeom prst="rect">
            <a:avLst/>
          </a:prstGeom>
          <a:noFill/>
          <a:ln/>
        </p:spPr>
        <p:txBody>
          <a:bodyPr wrap="square" lIns="0" tIns="0" rIns="0" bIns="0" rtlCol="0" anchor="ctr"/>
          <a:lstStyle/>
          <a:p>
            <a:pPr marL="0" indent="0">
              <a:buNone/>
            </a:pPr>
            <a:r>
              <a:rPr lang="en-US" sz="850" b="1" dirty="0">
                <a:solidFill>
                  <a:srgbClr val="00C4B4"/>
                </a:solidFill>
                <a:latin typeface="Calibri" pitchFamily="34" charset="0"/>
                <a:ea typeface="Calibri" pitchFamily="34" charset="-122"/>
                <a:cs typeface="Calibri" pitchFamily="34" charset="-120"/>
              </a:rPr>
              <a:t>Volume: 8,000 MQLs · 842 deals</a:t>
            </a:r>
            <a:endParaRPr lang="en-US" sz="850" dirty="0"/>
          </a:p>
        </p:txBody>
      </p:sp>
      <p:sp>
        <p:nvSpPr>
          <p:cNvPr id="25" name="Text 23">
            <a:extLst>
              <a:ext uri="{FF2B5EF4-FFF2-40B4-BE49-F238E27FC236}">
                <a16:creationId xmlns:a16="http://schemas.microsoft.com/office/drawing/2014/main" id="{268E161B-B247-12B0-151B-3D0BA922012A}"/>
              </a:ext>
            </a:extLst>
          </p:cNvPr>
          <p:cNvSpPr/>
          <p:nvPr/>
        </p:nvSpPr>
        <p:spPr>
          <a:xfrm>
            <a:off x="3328416" y="1719072"/>
            <a:ext cx="2560320" cy="182880"/>
          </a:xfrm>
          <a:prstGeom prst="rect">
            <a:avLst/>
          </a:prstGeom>
          <a:noFill/>
          <a:ln/>
        </p:spPr>
        <p:txBody>
          <a:bodyPr wrap="square" lIns="0" tIns="0" rIns="0" bIns="0" rtlCol="0" anchor="ctr"/>
          <a:lstStyle/>
          <a:p>
            <a:pPr marL="0" indent="0">
              <a:buNone/>
            </a:pPr>
            <a:r>
              <a:rPr lang="en-US" sz="800" dirty="0">
                <a:solidFill>
                  <a:srgbClr val="E8EDF2"/>
                </a:solidFill>
                <a:latin typeface="Calibri" pitchFamily="34" charset="0"/>
                <a:ea typeface="Calibri" pitchFamily="34" charset="-122"/>
                <a:cs typeface="Calibri" pitchFamily="34" charset="-120"/>
              </a:rPr>
              <a:t>Link key: seller_id, mql_id</a:t>
            </a:r>
            <a:endParaRPr lang="en-US" sz="800" dirty="0"/>
          </a:p>
        </p:txBody>
      </p:sp>
      <p:sp>
        <p:nvSpPr>
          <p:cNvPr id="26" name="Text 24">
            <a:extLst>
              <a:ext uri="{FF2B5EF4-FFF2-40B4-BE49-F238E27FC236}">
                <a16:creationId xmlns:a16="http://schemas.microsoft.com/office/drawing/2014/main" id="{5C98F55B-A156-5156-1710-1C60A0BC7985}"/>
              </a:ext>
            </a:extLst>
          </p:cNvPr>
          <p:cNvSpPr/>
          <p:nvPr/>
        </p:nvSpPr>
        <p:spPr>
          <a:xfrm>
            <a:off x="3328416" y="1734312"/>
            <a:ext cx="2560320" cy="347472"/>
          </a:xfrm>
          <a:prstGeom prst="rect">
            <a:avLst/>
          </a:prstGeom>
          <a:noFill/>
          <a:ln/>
        </p:spPr>
        <p:txBody>
          <a:bodyPr wrap="square" lIns="0" tIns="0" rIns="0" bIns="0" rtlCol="0" anchor="ctr"/>
          <a:lstStyle/>
          <a:p>
            <a:pPr marL="0" indent="0">
              <a:buNone/>
            </a:pPr>
            <a:r>
              <a:rPr lang="en-US" sz="750" dirty="0">
                <a:solidFill>
                  <a:srgbClr val="8BA5C0"/>
                </a:solidFill>
                <a:latin typeface="Calibri" pitchFamily="34" charset="0"/>
                <a:ea typeface="Calibri" pitchFamily="34" charset="-122"/>
                <a:cs typeface="Calibri" pitchFamily="34" charset="-120"/>
              </a:rPr>
              <a:t>Channel ROI &amp; funnel analysis · bridge join on mql_id</a:t>
            </a:r>
            <a:endParaRPr lang="en-US" sz="750" dirty="0"/>
          </a:p>
        </p:txBody>
      </p:sp>
      <p:sp>
        <p:nvSpPr>
          <p:cNvPr id="27" name="Shape 25">
            <a:extLst>
              <a:ext uri="{FF2B5EF4-FFF2-40B4-BE49-F238E27FC236}">
                <a16:creationId xmlns:a16="http://schemas.microsoft.com/office/drawing/2014/main" id="{39ABBA51-30BB-CFE1-4A2E-1D606CB8EB86}"/>
              </a:ext>
            </a:extLst>
          </p:cNvPr>
          <p:cNvSpPr/>
          <p:nvPr/>
        </p:nvSpPr>
        <p:spPr>
          <a:xfrm>
            <a:off x="6172200" y="987552"/>
            <a:ext cx="2788920" cy="1184029"/>
          </a:xfrm>
          <a:prstGeom prst="roundRect">
            <a:avLst>
              <a:gd name="adj" fmla="val 7895"/>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28" name="Shape 26">
            <a:extLst>
              <a:ext uri="{FF2B5EF4-FFF2-40B4-BE49-F238E27FC236}">
                <a16:creationId xmlns:a16="http://schemas.microsoft.com/office/drawing/2014/main" id="{ABF443B7-C42A-FE4E-34A3-86ACA09E27F7}"/>
              </a:ext>
            </a:extLst>
          </p:cNvPr>
          <p:cNvSpPr/>
          <p:nvPr/>
        </p:nvSpPr>
        <p:spPr>
          <a:xfrm>
            <a:off x="6172200" y="987552"/>
            <a:ext cx="2788920" cy="310896"/>
          </a:xfrm>
          <a:prstGeom prst="roundRect">
            <a:avLst>
              <a:gd name="adj" fmla="val 35294"/>
            </a:avLst>
          </a:prstGeom>
          <a:solidFill>
            <a:srgbClr val="FFC107"/>
          </a:solidFill>
          <a:ln w="12700">
            <a:solidFill>
              <a:srgbClr val="FFC107"/>
            </a:solidFill>
            <a:prstDash val="solid"/>
          </a:ln>
        </p:spPr>
        <p:txBody>
          <a:bodyPr/>
          <a:lstStyle/>
          <a:p>
            <a:endParaRPr lang="en-MY"/>
          </a:p>
        </p:txBody>
      </p:sp>
      <p:sp>
        <p:nvSpPr>
          <p:cNvPr id="29" name="Shape 27">
            <a:extLst>
              <a:ext uri="{FF2B5EF4-FFF2-40B4-BE49-F238E27FC236}">
                <a16:creationId xmlns:a16="http://schemas.microsoft.com/office/drawing/2014/main" id="{3E87F0F7-FB80-0496-9AAC-69A677979260}"/>
              </a:ext>
            </a:extLst>
          </p:cNvPr>
          <p:cNvSpPr/>
          <p:nvPr/>
        </p:nvSpPr>
        <p:spPr>
          <a:xfrm>
            <a:off x="6172200" y="1170432"/>
            <a:ext cx="2788920" cy="128016"/>
          </a:xfrm>
          <a:prstGeom prst="rect">
            <a:avLst/>
          </a:prstGeom>
          <a:solidFill>
            <a:srgbClr val="FFC107"/>
          </a:solidFill>
          <a:ln w="12700">
            <a:solidFill>
              <a:srgbClr val="FFC107"/>
            </a:solidFill>
            <a:prstDash val="solid"/>
          </a:ln>
        </p:spPr>
        <p:txBody>
          <a:bodyPr/>
          <a:lstStyle/>
          <a:p>
            <a:endParaRPr lang="en-MY"/>
          </a:p>
        </p:txBody>
      </p:sp>
      <p:sp>
        <p:nvSpPr>
          <p:cNvPr id="30" name="Text 28">
            <a:extLst>
              <a:ext uri="{FF2B5EF4-FFF2-40B4-BE49-F238E27FC236}">
                <a16:creationId xmlns:a16="http://schemas.microsoft.com/office/drawing/2014/main" id="{5F042312-455F-3B26-45B1-8261EFD9181E}"/>
              </a:ext>
            </a:extLst>
          </p:cNvPr>
          <p:cNvSpPr/>
          <p:nvPr/>
        </p:nvSpPr>
        <p:spPr>
          <a:xfrm>
            <a:off x="6300216" y="996696"/>
            <a:ext cx="2606040" cy="292608"/>
          </a:xfrm>
          <a:prstGeom prst="rect">
            <a:avLst/>
          </a:prstGeom>
          <a:noFill/>
          <a:ln/>
        </p:spPr>
        <p:txBody>
          <a:bodyPr wrap="square" lIns="0" tIns="0" rIns="0" bIns="0" rtlCol="0" anchor="ctr"/>
          <a:lstStyle/>
          <a:p>
            <a:pPr marL="0" indent="0">
              <a:buNone/>
            </a:pPr>
            <a:r>
              <a:rPr lang="en-US" sz="10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DS3  ·  AI-Gen Behaviour</a:t>
            </a:r>
            <a:endParaRPr lang="en-US" sz="1000" dirty="0">
              <a:effectLst>
                <a:outerShdw blurRad="50800" dist="38100" dir="2700000" algn="tl" rotWithShape="0">
                  <a:prstClr val="black">
                    <a:alpha val="40000"/>
                  </a:prstClr>
                </a:outerShdw>
              </a:effectLst>
            </a:endParaRPr>
          </a:p>
        </p:txBody>
      </p:sp>
      <p:sp>
        <p:nvSpPr>
          <p:cNvPr id="31" name="Text 29">
            <a:extLst>
              <a:ext uri="{FF2B5EF4-FFF2-40B4-BE49-F238E27FC236}">
                <a16:creationId xmlns:a16="http://schemas.microsoft.com/office/drawing/2014/main" id="{1498331F-A97F-08DF-911E-AFF7121486B9}"/>
              </a:ext>
            </a:extLst>
          </p:cNvPr>
          <p:cNvSpPr/>
          <p:nvPr/>
        </p:nvSpPr>
        <p:spPr>
          <a:xfrm>
            <a:off x="6300216" y="1353312"/>
            <a:ext cx="2560320" cy="182880"/>
          </a:xfrm>
          <a:prstGeom prst="rect">
            <a:avLst/>
          </a:prstGeom>
          <a:noFill/>
          <a:ln/>
        </p:spPr>
        <p:txBody>
          <a:bodyPr wrap="square" lIns="0" tIns="0" rIns="0" bIns="0" rtlCol="0" anchor="ctr"/>
          <a:lstStyle/>
          <a:p>
            <a:pPr marL="0" indent="0">
              <a:buNone/>
            </a:pPr>
            <a:r>
              <a:rPr lang="en-US" sz="850" dirty="0">
                <a:solidFill>
                  <a:srgbClr val="8BA5C0"/>
                </a:solidFill>
                <a:latin typeface="Calibri" pitchFamily="34" charset="0"/>
                <a:ea typeface="Calibri" pitchFamily="34" charset="-122"/>
                <a:cs typeface="Calibri" pitchFamily="34" charset="-120"/>
              </a:rPr>
              <a:t>Source: ChatGPT-generated</a:t>
            </a:r>
            <a:endParaRPr lang="en-US" sz="850" dirty="0"/>
          </a:p>
        </p:txBody>
      </p:sp>
      <p:sp>
        <p:nvSpPr>
          <p:cNvPr id="32" name="Text 30">
            <a:extLst>
              <a:ext uri="{FF2B5EF4-FFF2-40B4-BE49-F238E27FC236}">
                <a16:creationId xmlns:a16="http://schemas.microsoft.com/office/drawing/2014/main" id="{10B56634-1040-FB23-1209-1BC0A0129FDA}"/>
              </a:ext>
            </a:extLst>
          </p:cNvPr>
          <p:cNvSpPr/>
          <p:nvPr/>
        </p:nvSpPr>
        <p:spPr>
          <a:xfrm>
            <a:off x="6300216" y="1536192"/>
            <a:ext cx="2560320" cy="182880"/>
          </a:xfrm>
          <a:prstGeom prst="rect">
            <a:avLst/>
          </a:prstGeom>
          <a:noFill/>
          <a:ln/>
        </p:spPr>
        <p:txBody>
          <a:bodyPr wrap="square" lIns="0" tIns="0" rIns="0" bIns="0" rtlCol="0" anchor="ctr"/>
          <a:lstStyle/>
          <a:p>
            <a:pPr marL="0" indent="0">
              <a:buNone/>
            </a:pPr>
            <a:r>
              <a:rPr lang="en-US" sz="850" b="1" dirty="0">
                <a:solidFill>
                  <a:srgbClr val="FFC107"/>
                </a:solidFill>
                <a:latin typeface="Calibri" pitchFamily="34" charset="0"/>
                <a:ea typeface="Calibri" pitchFamily="34" charset="-122"/>
                <a:cs typeface="Calibri" pitchFamily="34" charset="-120"/>
              </a:rPr>
              <a:t>Volume: Matched to DS1 customers</a:t>
            </a:r>
            <a:endParaRPr lang="en-US" sz="850" dirty="0"/>
          </a:p>
        </p:txBody>
      </p:sp>
      <p:sp>
        <p:nvSpPr>
          <p:cNvPr id="33" name="Text 31">
            <a:extLst>
              <a:ext uri="{FF2B5EF4-FFF2-40B4-BE49-F238E27FC236}">
                <a16:creationId xmlns:a16="http://schemas.microsoft.com/office/drawing/2014/main" id="{11366FE5-3432-976C-94FD-DF8640460B73}"/>
              </a:ext>
            </a:extLst>
          </p:cNvPr>
          <p:cNvSpPr/>
          <p:nvPr/>
        </p:nvSpPr>
        <p:spPr>
          <a:xfrm>
            <a:off x="6300216" y="1719072"/>
            <a:ext cx="2560320" cy="182880"/>
          </a:xfrm>
          <a:prstGeom prst="rect">
            <a:avLst/>
          </a:prstGeom>
          <a:noFill/>
          <a:ln/>
        </p:spPr>
        <p:txBody>
          <a:bodyPr wrap="square" lIns="0" tIns="0" rIns="0" bIns="0" rtlCol="0" anchor="ctr"/>
          <a:lstStyle/>
          <a:p>
            <a:pPr marL="0" indent="0">
              <a:buNone/>
            </a:pPr>
            <a:r>
              <a:rPr lang="en-US" sz="800" dirty="0">
                <a:solidFill>
                  <a:srgbClr val="E8EDF2"/>
                </a:solidFill>
                <a:latin typeface="Calibri" pitchFamily="34" charset="0"/>
                <a:ea typeface="Calibri" pitchFamily="34" charset="-122"/>
                <a:cs typeface="Calibri" pitchFamily="34" charset="-120"/>
              </a:rPr>
              <a:t>Link key: customer_id</a:t>
            </a:r>
            <a:endParaRPr lang="en-US" sz="800" dirty="0"/>
          </a:p>
        </p:txBody>
      </p:sp>
      <p:sp>
        <p:nvSpPr>
          <p:cNvPr id="34" name="Text 32">
            <a:extLst>
              <a:ext uri="{FF2B5EF4-FFF2-40B4-BE49-F238E27FC236}">
                <a16:creationId xmlns:a16="http://schemas.microsoft.com/office/drawing/2014/main" id="{AA26A4F7-21A8-0127-E9D7-40ABF5AF071A}"/>
              </a:ext>
            </a:extLst>
          </p:cNvPr>
          <p:cNvSpPr/>
          <p:nvPr/>
        </p:nvSpPr>
        <p:spPr>
          <a:xfrm>
            <a:off x="6300216" y="1757172"/>
            <a:ext cx="2560320" cy="347472"/>
          </a:xfrm>
          <a:prstGeom prst="rect">
            <a:avLst/>
          </a:prstGeom>
          <a:noFill/>
          <a:ln/>
        </p:spPr>
        <p:txBody>
          <a:bodyPr wrap="square" lIns="0" tIns="0" rIns="0" bIns="0" rtlCol="0" anchor="ctr"/>
          <a:lstStyle/>
          <a:p>
            <a:pPr marL="0" indent="0">
              <a:buNone/>
            </a:pPr>
            <a:r>
              <a:rPr lang="en-US" sz="750" i="1" dirty="0">
                <a:solidFill>
                  <a:srgbClr val="FFC107"/>
                </a:solidFill>
                <a:latin typeface="Calibri" pitchFamily="34" charset="0"/>
                <a:ea typeface="Calibri" pitchFamily="34" charset="-122"/>
                <a:cs typeface="Calibri" pitchFamily="34" charset="-120"/>
              </a:rPr>
              <a:t>⚠ Synthetic · segmentation signal only, not prediction</a:t>
            </a:r>
            <a:endParaRPr lang="en-US" sz="750" dirty="0"/>
          </a:p>
        </p:txBody>
      </p:sp>
      <p:pic>
        <p:nvPicPr>
          <p:cNvPr id="87" name="Picture 86">
            <a:extLst>
              <a:ext uri="{FF2B5EF4-FFF2-40B4-BE49-F238E27FC236}">
                <a16:creationId xmlns:a16="http://schemas.microsoft.com/office/drawing/2014/main" id="{C243223B-27F9-0F27-10B4-762AEBAE17E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pic>
        <p:nvPicPr>
          <p:cNvPr id="5" name="Picture 4">
            <a:extLst>
              <a:ext uri="{FF2B5EF4-FFF2-40B4-BE49-F238E27FC236}">
                <a16:creationId xmlns:a16="http://schemas.microsoft.com/office/drawing/2014/main" id="{A256A94B-07B6-9111-BA50-43EA18820679}"/>
              </a:ext>
            </a:extLst>
          </p:cNvPr>
          <p:cNvPicPr>
            <a:picLocks noChangeAspect="1"/>
          </p:cNvPicPr>
          <p:nvPr/>
        </p:nvPicPr>
        <p:blipFill>
          <a:blip r:embed="rId5"/>
          <a:srcRect r="5755"/>
          <a:stretch>
            <a:fillRect/>
          </a:stretch>
        </p:blipFill>
        <p:spPr>
          <a:xfrm>
            <a:off x="313083" y="2452005"/>
            <a:ext cx="2698497" cy="1814948"/>
          </a:xfrm>
          <a:prstGeom prst="rect">
            <a:avLst/>
          </a:prstGeom>
        </p:spPr>
      </p:pic>
      <p:sp>
        <p:nvSpPr>
          <p:cNvPr id="164" name="Text 39">
            <a:extLst>
              <a:ext uri="{FF2B5EF4-FFF2-40B4-BE49-F238E27FC236}">
                <a16:creationId xmlns:a16="http://schemas.microsoft.com/office/drawing/2014/main" id="{03C480C4-279B-CBAF-2FBD-0A8194F3C03A}"/>
              </a:ext>
            </a:extLst>
          </p:cNvPr>
          <p:cNvSpPr/>
          <p:nvPr/>
        </p:nvSpPr>
        <p:spPr>
          <a:xfrm>
            <a:off x="411480" y="4608576"/>
            <a:ext cx="777240" cy="201168"/>
          </a:xfrm>
          <a:prstGeom prst="rect">
            <a:avLst/>
          </a:prstGeom>
          <a:noFill/>
          <a:ln/>
        </p:spPr>
        <p:txBody>
          <a:bodyPr wrap="square" lIns="0" tIns="0" rIns="0" bIns="0" rtlCol="0" anchor="ctr"/>
          <a:lstStyle/>
          <a:p>
            <a:pPr marL="0" indent="0">
              <a:buNone/>
            </a:pPr>
            <a:r>
              <a:rPr lang="en-US" sz="900" b="1" dirty="0">
                <a:solidFill>
                  <a:srgbClr val="B0BEC5"/>
                </a:solidFill>
              </a:rPr>
              <a:t>Join Keys:</a:t>
            </a:r>
            <a:endParaRPr lang="en-US" sz="900" dirty="0"/>
          </a:p>
        </p:txBody>
      </p:sp>
      <p:sp>
        <p:nvSpPr>
          <p:cNvPr id="166" name="Shape 40">
            <a:extLst>
              <a:ext uri="{FF2B5EF4-FFF2-40B4-BE49-F238E27FC236}">
                <a16:creationId xmlns:a16="http://schemas.microsoft.com/office/drawing/2014/main" id="{DE51C6FA-EAC5-A1ED-64EC-3F119BA4CC1B}"/>
              </a:ext>
            </a:extLst>
          </p:cNvPr>
          <p:cNvSpPr/>
          <p:nvPr/>
        </p:nvSpPr>
        <p:spPr>
          <a:xfrm>
            <a:off x="1207008" y="4599432"/>
            <a:ext cx="1261872" cy="219456"/>
          </a:xfrm>
          <a:prstGeom prst="roundRect">
            <a:avLst>
              <a:gd name="adj" fmla="val 29167"/>
            </a:avLst>
          </a:prstGeom>
          <a:solidFill>
            <a:srgbClr val="00BCD4">
              <a:alpha val="30000"/>
            </a:srgbClr>
          </a:solidFill>
          <a:ln/>
        </p:spPr>
        <p:txBody>
          <a:bodyPr/>
          <a:lstStyle/>
          <a:p>
            <a:endParaRPr lang="en-MY"/>
          </a:p>
        </p:txBody>
      </p:sp>
      <p:sp>
        <p:nvSpPr>
          <p:cNvPr id="168" name="Text 41">
            <a:extLst>
              <a:ext uri="{FF2B5EF4-FFF2-40B4-BE49-F238E27FC236}">
                <a16:creationId xmlns:a16="http://schemas.microsoft.com/office/drawing/2014/main" id="{8089A9A9-DAFF-CF74-317B-999A6CDDF866}"/>
              </a:ext>
            </a:extLst>
          </p:cNvPr>
          <p:cNvSpPr/>
          <p:nvPr/>
        </p:nvSpPr>
        <p:spPr>
          <a:xfrm>
            <a:off x="1207008" y="4599432"/>
            <a:ext cx="1261872" cy="219456"/>
          </a:xfrm>
          <a:prstGeom prst="rect">
            <a:avLst/>
          </a:prstGeom>
          <a:noFill/>
          <a:ln/>
        </p:spPr>
        <p:txBody>
          <a:bodyPr wrap="square" lIns="0" tIns="0" rIns="0" bIns="0" rtlCol="0" anchor="ctr"/>
          <a:lstStyle/>
          <a:p>
            <a:pPr marL="0" indent="0" algn="ctr">
              <a:buNone/>
            </a:pPr>
            <a:r>
              <a:rPr lang="en-US" sz="900" b="1" dirty="0">
                <a:solidFill>
                  <a:srgbClr val="00BCD4"/>
                </a:solidFill>
              </a:rPr>
              <a:t>order_id</a:t>
            </a:r>
            <a:endParaRPr lang="en-US" sz="900" dirty="0"/>
          </a:p>
        </p:txBody>
      </p:sp>
      <p:sp>
        <p:nvSpPr>
          <p:cNvPr id="170" name="Shape 42">
            <a:extLst>
              <a:ext uri="{FF2B5EF4-FFF2-40B4-BE49-F238E27FC236}">
                <a16:creationId xmlns:a16="http://schemas.microsoft.com/office/drawing/2014/main" id="{BB337A44-37D5-40A2-700D-222E198AE9DC}"/>
              </a:ext>
            </a:extLst>
          </p:cNvPr>
          <p:cNvSpPr/>
          <p:nvPr/>
        </p:nvSpPr>
        <p:spPr>
          <a:xfrm>
            <a:off x="2596896" y="4599432"/>
            <a:ext cx="1261872" cy="219456"/>
          </a:xfrm>
          <a:prstGeom prst="roundRect">
            <a:avLst>
              <a:gd name="adj" fmla="val 29167"/>
            </a:avLst>
          </a:prstGeom>
          <a:solidFill>
            <a:srgbClr val="FF6B35">
              <a:alpha val="30000"/>
            </a:srgbClr>
          </a:solidFill>
          <a:ln/>
        </p:spPr>
        <p:txBody>
          <a:bodyPr/>
          <a:lstStyle/>
          <a:p>
            <a:endParaRPr lang="en-MY"/>
          </a:p>
        </p:txBody>
      </p:sp>
      <p:sp>
        <p:nvSpPr>
          <p:cNvPr id="172" name="Text 43">
            <a:extLst>
              <a:ext uri="{FF2B5EF4-FFF2-40B4-BE49-F238E27FC236}">
                <a16:creationId xmlns:a16="http://schemas.microsoft.com/office/drawing/2014/main" id="{18E1783A-E59C-A9B8-10E0-559F6BB394E8}"/>
              </a:ext>
            </a:extLst>
          </p:cNvPr>
          <p:cNvSpPr/>
          <p:nvPr/>
        </p:nvSpPr>
        <p:spPr>
          <a:xfrm>
            <a:off x="2596896" y="4599432"/>
            <a:ext cx="1261872" cy="219456"/>
          </a:xfrm>
          <a:prstGeom prst="rect">
            <a:avLst/>
          </a:prstGeom>
          <a:noFill/>
          <a:ln/>
        </p:spPr>
        <p:txBody>
          <a:bodyPr wrap="square" lIns="0" tIns="0" rIns="0" bIns="0" rtlCol="0" anchor="ctr"/>
          <a:lstStyle/>
          <a:p>
            <a:pPr marL="0" indent="0" algn="ctr">
              <a:buNone/>
            </a:pPr>
            <a:r>
              <a:rPr lang="en-US" sz="900" b="1" dirty="0">
                <a:solidFill>
                  <a:srgbClr val="FF6B35"/>
                </a:solidFill>
              </a:rPr>
              <a:t>customer_id</a:t>
            </a:r>
            <a:endParaRPr lang="en-US" sz="900" dirty="0"/>
          </a:p>
        </p:txBody>
      </p:sp>
      <p:sp>
        <p:nvSpPr>
          <p:cNvPr id="174" name="Shape 44">
            <a:extLst>
              <a:ext uri="{FF2B5EF4-FFF2-40B4-BE49-F238E27FC236}">
                <a16:creationId xmlns:a16="http://schemas.microsoft.com/office/drawing/2014/main" id="{61464C22-CA66-36E1-3D3E-8A9872B3E81F}"/>
              </a:ext>
            </a:extLst>
          </p:cNvPr>
          <p:cNvSpPr/>
          <p:nvPr/>
        </p:nvSpPr>
        <p:spPr>
          <a:xfrm>
            <a:off x="3986784" y="4599432"/>
            <a:ext cx="1261872" cy="219456"/>
          </a:xfrm>
          <a:prstGeom prst="roundRect">
            <a:avLst>
              <a:gd name="adj" fmla="val 29167"/>
            </a:avLst>
          </a:prstGeom>
          <a:solidFill>
            <a:srgbClr val="4CAF50">
              <a:alpha val="30000"/>
            </a:srgbClr>
          </a:solidFill>
          <a:ln/>
        </p:spPr>
        <p:txBody>
          <a:bodyPr/>
          <a:lstStyle/>
          <a:p>
            <a:endParaRPr lang="en-MY"/>
          </a:p>
        </p:txBody>
      </p:sp>
      <p:sp>
        <p:nvSpPr>
          <p:cNvPr id="176" name="Text 45">
            <a:extLst>
              <a:ext uri="{FF2B5EF4-FFF2-40B4-BE49-F238E27FC236}">
                <a16:creationId xmlns:a16="http://schemas.microsoft.com/office/drawing/2014/main" id="{943360A5-ABB0-B5DE-ED3C-BA81D0C57228}"/>
              </a:ext>
            </a:extLst>
          </p:cNvPr>
          <p:cNvSpPr/>
          <p:nvPr/>
        </p:nvSpPr>
        <p:spPr>
          <a:xfrm>
            <a:off x="3986784" y="4599432"/>
            <a:ext cx="1261872" cy="219456"/>
          </a:xfrm>
          <a:prstGeom prst="rect">
            <a:avLst/>
          </a:prstGeom>
          <a:noFill/>
          <a:ln/>
        </p:spPr>
        <p:txBody>
          <a:bodyPr wrap="square" lIns="0" tIns="0" rIns="0" bIns="0" rtlCol="0" anchor="ctr"/>
          <a:lstStyle/>
          <a:p>
            <a:pPr marL="0" indent="0" algn="ctr">
              <a:buNone/>
            </a:pPr>
            <a:r>
              <a:rPr lang="en-US" sz="900" b="1" dirty="0">
                <a:solidFill>
                  <a:srgbClr val="4CAF50"/>
                </a:solidFill>
              </a:rPr>
              <a:t>seller_id</a:t>
            </a:r>
            <a:endParaRPr lang="en-US" sz="900" dirty="0"/>
          </a:p>
        </p:txBody>
      </p:sp>
      <p:sp>
        <p:nvSpPr>
          <p:cNvPr id="178" name="Shape 46">
            <a:extLst>
              <a:ext uri="{FF2B5EF4-FFF2-40B4-BE49-F238E27FC236}">
                <a16:creationId xmlns:a16="http://schemas.microsoft.com/office/drawing/2014/main" id="{D78C51D7-5A77-F670-E3FE-DB646942F5F2}"/>
              </a:ext>
            </a:extLst>
          </p:cNvPr>
          <p:cNvSpPr/>
          <p:nvPr/>
        </p:nvSpPr>
        <p:spPr>
          <a:xfrm>
            <a:off x="5376672" y="4599432"/>
            <a:ext cx="1261872" cy="219456"/>
          </a:xfrm>
          <a:prstGeom prst="roundRect">
            <a:avLst>
              <a:gd name="adj" fmla="val 29167"/>
            </a:avLst>
          </a:prstGeom>
          <a:solidFill>
            <a:srgbClr val="9C27B0">
              <a:alpha val="30000"/>
            </a:srgbClr>
          </a:solidFill>
          <a:ln/>
        </p:spPr>
        <p:txBody>
          <a:bodyPr/>
          <a:lstStyle/>
          <a:p>
            <a:endParaRPr lang="en-MY"/>
          </a:p>
        </p:txBody>
      </p:sp>
      <p:sp>
        <p:nvSpPr>
          <p:cNvPr id="180" name="Text 47">
            <a:extLst>
              <a:ext uri="{FF2B5EF4-FFF2-40B4-BE49-F238E27FC236}">
                <a16:creationId xmlns:a16="http://schemas.microsoft.com/office/drawing/2014/main" id="{E2519D82-E05C-C926-1A0B-048D8EF476E9}"/>
              </a:ext>
            </a:extLst>
          </p:cNvPr>
          <p:cNvSpPr/>
          <p:nvPr/>
        </p:nvSpPr>
        <p:spPr>
          <a:xfrm>
            <a:off x="5376672" y="4599432"/>
            <a:ext cx="1261872" cy="219456"/>
          </a:xfrm>
          <a:prstGeom prst="rect">
            <a:avLst/>
          </a:prstGeom>
          <a:noFill/>
          <a:ln/>
        </p:spPr>
        <p:txBody>
          <a:bodyPr wrap="square" lIns="0" tIns="0" rIns="0" bIns="0" rtlCol="0" anchor="ctr"/>
          <a:lstStyle/>
          <a:p>
            <a:pPr marL="0" indent="0" algn="ctr">
              <a:buNone/>
            </a:pPr>
            <a:r>
              <a:rPr lang="en-US" sz="900" b="1" dirty="0">
                <a:solidFill>
                  <a:srgbClr val="9C27B0"/>
                </a:solidFill>
              </a:rPr>
              <a:t>product_id</a:t>
            </a:r>
            <a:endParaRPr lang="en-US" sz="900" dirty="0"/>
          </a:p>
        </p:txBody>
      </p:sp>
      <p:sp>
        <p:nvSpPr>
          <p:cNvPr id="182" name="Shape 48">
            <a:extLst>
              <a:ext uri="{FF2B5EF4-FFF2-40B4-BE49-F238E27FC236}">
                <a16:creationId xmlns:a16="http://schemas.microsoft.com/office/drawing/2014/main" id="{0AD9634F-E9A0-FF16-98F1-C36F4050128C}"/>
              </a:ext>
            </a:extLst>
          </p:cNvPr>
          <p:cNvSpPr/>
          <p:nvPr/>
        </p:nvSpPr>
        <p:spPr>
          <a:xfrm>
            <a:off x="6766560" y="4599432"/>
            <a:ext cx="1261872" cy="219456"/>
          </a:xfrm>
          <a:prstGeom prst="roundRect">
            <a:avLst>
              <a:gd name="adj" fmla="val 29167"/>
            </a:avLst>
          </a:prstGeom>
          <a:solidFill>
            <a:srgbClr val="FFC107">
              <a:alpha val="30000"/>
            </a:srgbClr>
          </a:solidFill>
          <a:ln/>
        </p:spPr>
        <p:txBody>
          <a:bodyPr/>
          <a:lstStyle/>
          <a:p>
            <a:endParaRPr lang="en-MY"/>
          </a:p>
        </p:txBody>
      </p:sp>
      <p:sp>
        <p:nvSpPr>
          <p:cNvPr id="184" name="Text 49">
            <a:extLst>
              <a:ext uri="{FF2B5EF4-FFF2-40B4-BE49-F238E27FC236}">
                <a16:creationId xmlns:a16="http://schemas.microsoft.com/office/drawing/2014/main" id="{341FF1DB-A722-15AB-9B21-5A0DE04A219A}"/>
              </a:ext>
            </a:extLst>
          </p:cNvPr>
          <p:cNvSpPr/>
          <p:nvPr/>
        </p:nvSpPr>
        <p:spPr>
          <a:xfrm>
            <a:off x="6766560" y="4599432"/>
            <a:ext cx="1261872" cy="219456"/>
          </a:xfrm>
          <a:prstGeom prst="rect">
            <a:avLst/>
          </a:prstGeom>
          <a:noFill/>
          <a:ln/>
        </p:spPr>
        <p:txBody>
          <a:bodyPr wrap="square" lIns="0" tIns="0" rIns="0" bIns="0" rtlCol="0" anchor="ctr"/>
          <a:lstStyle/>
          <a:p>
            <a:pPr marL="0" indent="0" algn="ctr">
              <a:buNone/>
            </a:pPr>
            <a:r>
              <a:rPr lang="en-US" sz="900" b="1" dirty="0">
                <a:solidFill>
                  <a:srgbClr val="FFC107"/>
                </a:solidFill>
              </a:rPr>
              <a:t>mql_id</a:t>
            </a:r>
            <a:endParaRPr lang="en-US" sz="900" dirty="0"/>
          </a:p>
        </p:txBody>
      </p:sp>
      <p:sp>
        <p:nvSpPr>
          <p:cNvPr id="186" name="Text 50">
            <a:extLst>
              <a:ext uri="{FF2B5EF4-FFF2-40B4-BE49-F238E27FC236}">
                <a16:creationId xmlns:a16="http://schemas.microsoft.com/office/drawing/2014/main" id="{1A287EA7-A568-7D27-535D-76DF84087B3D}"/>
              </a:ext>
            </a:extLst>
          </p:cNvPr>
          <p:cNvSpPr/>
          <p:nvPr/>
        </p:nvSpPr>
        <p:spPr>
          <a:xfrm>
            <a:off x="411480" y="4855464"/>
            <a:ext cx="8412480" cy="201168"/>
          </a:xfrm>
          <a:prstGeom prst="rect">
            <a:avLst/>
          </a:prstGeom>
          <a:noFill/>
          <a:ln/>
        </p:spPr>
        <p:txBody>
          <a:bodyPr wrap="square" lIns="0" tIns="0" rIns="0" bIns="0" rtlCol="0" anchor="t"/>
          <a:lstStyle/>
          <a:p>
            <a:pPr marL="0" indent="0">
              <a:buNone/>
            </a:pPr>
            <a:r>
              <a:rPr lang="en-US" sz="850" dirty="0">
                <a:solidFill>
                  <a:srgbClr val="B0BEC5"/>
                </a:solidFill>
              </a:rPr>
              <a:t>Galaxy Schema chosen over Star (single fact) and Snowflake (over-normalized); multiple business processes share conformed dimensions without cross-join complexity.</a:t>
            </a:r>
            <a:endParaRPr lang="en-US" sz="850" dirty="0"/>
          </a:p>
        </p:txBody>
      </p:sp>
      <p:sp>
        <p:nvSpPr>
          <p:cNvPr id="190" name="Shape 4">
            <a:extLst>
              <a:ext uri="{FF2B5EF4-FFF2-40B4-BE49-F238E27FC236}">
                <a16:creationId xmlns:a16="http://schemas.microsoft.com/office/drawing/2014/main" id="{74F6C93C-EE74-940B-B54D-7945D62F77F4}"/>
              </a:ext>
            </a:extLst>
          </p:cNvPr>
          <p:cNvSpPr/>
          <p:nvPr/>
        </p:nvSpPr>
        <p:spPr>
          <a:xfrm>
            <a:off x="3326520" y="2333947"/>
            <a:ext cx="2633472" cy="1024128"/>
          </a:xfrm>
          <a:prstGeom prst="roundRect">
            <a:avLst>
              <a:gd name="adj" fmla="val 10714"/>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92" name="Text 5">
            <a:extLst>
              <a:ext uri="{FF2B5EF4-FFF2-40B4-BE49-F238E27FC236}">
                <a16:creationId xmlns:a16="http://schemas.microsoft.com/office/drawing/2014/main" id="{1DBD310B-0D43-5A1A-5F6C-633886DE5C76}"/>
              </a:ext>
            </a:extLst>
          </p:cNvPr>
          <p:cNvSpPr/>
          <p:nvPr/>
        </p:nvSpPr>
        <p:spPr>
          <a:xfrm>
            <a:off x="3454536" y="2407099"/>
            <a:ext cx="2377440" cy="256032"/>
          </a:xfrm>
          <a:prstGeom prst="rect">
            <a:avLst/>
          </a:prstGeom>
          <a:noFill/>
          <a:ln/>
        </p:spPr>
        <p:txBody>
          <a:bodyPr wrap="square" lIns="0" tIns="0" rIns="0" bIns="0" rtlCol="0" anchor="ctr"/>
          <a:lstStyle/>
          <a:p>
            <a:pPr marL="0" indent="0">
              <a:buNone/>
            </a:pPr>
            <a:r>
              <a:rPr lang="en-US" sz="1100" b="1" dirty="0">
                <a:solidFill>
                  <a:srgbClr val="FF6B35"/>
                </a:solidFill>
              </a:rPr>
              <a:t>3 Fact Tables</a:t>
            </a:r>
            <a:endParaRPr lang="en-US" sz="1100" dirty="0"/>
          </a:p>
        </p:txBody>
      </p:sp>
      <p:sp>
        <p:nvSpPr>
          <p:cNvPr id="194" name="Shape 6">
            <a:extLst>
              <a:ext uri="{FF2B5EF4-FFF2-40B4-BE49-F238E27FC236}">
                <a16:creationId xmlns:a16="http://schemas.microsoft.com/office/drawing/2014/main" id="{B7138376-2E1E-1A6E-3439-AA76EA6A8464}"/>
              </a:ext>
            </a:extLst>
          </p:cNvPr>
          <p:cNvSpPr/>
          <p:nvPr/>
        </p:nvSpPr>
        <p:spPr>
          <a:xfrm>
            <a:off x="3530210" y="2699707"/>
            <a:ext cx="109728" cy="109728"/>
          </a:xfrm>
          <a:prstGeom prst="ellipse">
            <a:avLst/>
          </a:prstGeom>
          <a:solidFill>
            <a:srgbClr val="FF6B35"/>
          </a:solidFill>
          <a:ln/>
        </p:spPr>
        <p:txBody>
          <a:bodyPr/>
          <a:lstStyle/>
          <a:p>
            <a:endParaRPr lang="en-MY"/>
          </a:p>
        </p:txBody>
      </p:sp>
      <p:sp>
        <p:nvSpPr>
          <p:cNvPr id="196" name="Text 7">
            <a:extLst>
              <a:ext uri="{FF2B5EF4-FFF2-40B4-BE49-F238E27FC236}">
                <a16:creationId xmlns:a16="http://schemas.microsoft.com/office/drawing/2014/main" id="{82C9E00D-3B5A-051C-ABD5-EBC5867173F9}"/>
              </a:ext>
            </a:extLst>
          </p:cNvPr>
          <p:cNvSpPr/>
          <p:nvPr/>
        </p:nvSpPr>
        <p:spPr>
          <a:xfrm>
            <a:off x="3694802" y="2663131"/>
            <a:ext cx="2240280" cy="182880"/>
          </a:xfrm>
          <a:prstGeom prst="rect">
            <a:avLst/>
          </a:prstGeom>
          <a:noFill/>
          <a:ln/>
        </p:spPr>
        <p:txBody>
          <a:bodyPr wrap="square" lIns="0" tIns="0" rIns="0" bIns="0" rtlCol="0" anchor="ctr"/>
          <a:lstStyle/>
          <a:p>
            <a:pPr marL="0" indent="0">
              <a:buNone/>
            </a:pPr>
            <a:r>
              <a:rPr lang="en-US" sz="850" dirty="0">
                <a:solidFill>
                  <a:srgbClr val="FFFFFF"/>
                </a:solidFill>
                <a:latin typeface="Courier New" pitchFamily="34" charset="0"/>
                <a:ea typeface="Courier New" pitchFamily="34" charset="-122"/>
                <a:cs typeface="Courier New" pitchFamily="34" charset="-120"/>
              </a:rPr>
              <a:t>olist_orders_dataset</a:t>
            </a:r>
            <a:endParaRPr lang="en-US" sz="850" dirty="0"/>
          </a:p>
        </p:txBody>
      </p:sp>
      <p:sp>
        <p:nvSpPr>
          <p:cNvPr id="198" name="Shape 8">
            <a:extLst>
              <a:ext uri="{FF2B5EF4-FFF2-40B4-BE49-F238E27FC236}">
                <a16:creationId xmlns:a16="http://schemas.microsoft.com/office/drawing/2014/main" id="{98AD3069-96D3-C48E-4220-C5722988F279}"/>
              </a:ext>
            </a:extLst>
          </p:cNvPr>
          <p:cNvSpPr/>
          <p:nvPr/>
        </p:nvSpPr>
        <p:spPr>
          <a:xfrm>
            <a:off x="3530210" y="2900875"/>
            <a:ext cx="109728" cy="109728"/>
          </a:xfrm>
          <a:prstGeom prst="ellipse">
            <a:avLst/>
          </a:prstGeom>
          <a:solidFill>
            <a:srgbClr val="FF6B35"/>
          </a:solidFill>
          <a:ln/>
        </p:spPr>
        <p:txBody>
          <a:bodyPr/>
          <a:lstStyle/>
          <a:p>
            <a:endParaRPr lang="en-MY"/>
          </a:p>
        </p:txBody>
      </p:sp>
      <p:sp>
        <p:nvSpPr>
          <p:cNvPr id="200" name="Text 9">
            <a:extLst>
              <a:ext uri="{FF2B5EF4-FFF2-40B4-BE49-F238E27FC236}">
                <a16:creationId xmlns:a16="http://schemas.microsoft.com/office/drawing/2014/main" id="{745A22C8-525A-8990-EBD1-2EF2AF0300AE}"/>
              </a:ext>
            </a:extLst>
          </p:cNvPr>
          <p:cNvSpPr/>
          <p:nvPr/>
        </p:nvSpPr>
        <p:spPr>
          <a:xfrm>
            <a:off x="3694802" y="2864299"/>
            <a:ext cx="2240280" cy="182880"/>
          </a:xfrm>
          <a:prstGeom prst="rect">
            <a:avLst/>
          </a:prstGeom>
          <a:noFill/>
          <a:ln/>
        </p:spPr>
        <p:txBody>
          <a:bodyPr wrap="square" lIns="0" tIns="0" rIns="0" bIns="0" rtlCol="0" anchor="ctr"/>
          <a:lstStyle/>
          <a:p>
            <a:pPr marL="0" indent="0">
              <a:buNone/>
            </a:pPr>
            <a:r>
              <a:rPr lang="en-US" sz="850" dirty="0">
                <a:solidFill>
                  <a:srgbClr val="FFFFFF"/>
                </a:solidFill>
                <a:latin typeface="Courier New" pitchFamily="34" charset="0"/>
                <a:ea typeface="Courier New" pitchFamily="34" charset="-122"/>
                <a:cs typeface="Courier New" pitchFamily="34" charset="-120"/>
              </a:rPr>
              <a:t>olist_order_items_dataset</a:t>
            </a:r>
            <a:endParaRPr lang="en-US" sz="850" dirty="0"/>
          </a:p>
        </p:txBody>
      </p:sp>
      <p:sp>
        <p:nvSpPr>
          <p:cNvPr id="202" name="Shape 10">
            <a:extLst>
              <a:ext uri="{FF2B5EF4-FFF2-40B4-BE49-F238E27FC236}">
                <a16:creationId xmlns:a16="http://schemas.microsoft.com/office/drawing/2014/main" id="{E35FED77-5C78-987A-3FCF-4E89522BA650}"/>
              </a:ext>
            </a:extLst>
          </p:cNvPr>
          <p:cNvSpPr/>
          <p:nvPr/>
        </p:nvSpPr>
        <p:spPr>
          <a:xfrm>
            <a:off x="3530210" y="3102043"/>
            <a:ext cx="109728" cy="109728"/>
          </a:xfrm>
          <a:prstGeom prst="ellipse">
            <a:avLst/>
          </a:prstGeom>
          <a:solidFill>
            <a:srgbClr val="FF6B35"/>
          </a:solidFill>
          <a:ln/>
        </p:spPr>
        <p:txBody>
          <a:bodyPr/>
          <a:lstStyle/>
          <a:p>
            <a:endParaRPr lang="en-MY"/>
          </a:p>
        </p:txBody>
      </p:sp>
      <p:sp>
        <p:nvSpPr>
          <p:cNvPr id="204" name="Text 11">
            <a:extLst>
              <a:ext uri="{FF2B5EF4-FFF2-40B4-BE49-F238E27FC236}">
                <a16:creationId xmlns:a16="http://schemas.microsoft.com/office/drawing/2014/main" id="{4567274A-38EA-35B5-7665-57EC78EC64FF}"/>
              </a:ext>
            </a:extLst>
          </p:cNvPr>
          <p:cNvSpPr/>
          <p:nvPr/>
        </p:nvSpPr>
        <p:spPr>
          <a:xfrm>
            <a:off x="3694802" y="3065467"/>
            <a:ext cx="2240280" cy="182880"/>
          </a:xfrm>
          <a:prstGeom prst="rect">
            <a:avLst/>
          </a:prstGeom>
          <a:noFill/>
          <a:ln/>
        </p:spPr>
        <p:txBody>
          <a:bodyPr wrap="square" lIns="0" tIns="0" rIns="0" bIns="0" rtlCol="0" anchor="ctr"/>
          <a:lstStyle/>
          <a:p>
            <a:pPr marL="0" indent="0">
              <a:buNone/>
            </a:pPr>
            <a:r>
              <a:rPr lang="en-US" sz="850" dirty="0">
                <a:solidFill>
                  <a:srgbClr val="FFFFFF"/>
                </a:solidFill>
                <a:latin typeface="Courier New" pitchFamily="34" charset="0"/>
                <a:ea typeface="Courier New" pitchFamily="34" charset="-122"/>
                <a:cs typeface="Courier New" pitchFamily="34" charset="-120"/>
              </a:rPr>
              <a:t>olist_closed_deals_dataset</a:t>
            </a:r>
            <a:endParaRPr lang="en-US" sz="850" dirty="0"/>
          </a:p>
        </p:txBody>
      </p:sp>
      <p:sp>
        <p:nvSpPr>
          <p:cNvPr id="254" name="Shape 12">
            <a:extLst>
              <a:ext uri="{FF2B5EF4-FFF2-40B4-BE49-F238E27FC236}">
                <a16:creationId xmlns:a16="http://schemas.microsoft.com/office/drawing/2014/main" id="{976592D3-2965-4CDD-C6E2-D64AA30FF19E}"/>
              </a:ext>
            </a:extLst>
          </p:cNvPr>
          <p:cNvSpPr/>
          <p:nvPr/>
        </p:nvSpPr>
        <p:spPr>
          <a:xfrm>
            <a:off x="6144768" y="2362371"/>
            <a:ext cx="2788920" cy="2077302"/>
          </a:xfrm>
          <a:prstGeom prst="roundRect">
            <a:avLst>
              <a:gd name="adj" fmla="val 6593"/>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256" name="Text 13">
            <a:extLst>
              <a:ext uri="{FF2B5EF4-FFF2-40B4-BE49-F238E27FC236}">
                <a16:creationId xmlns:a16="http://schemas.microsoft.com/office/drawing/2014/main" id="{3CE1D986-7E33-3482-6BA7-2A08DFDCC558}"/>
              </a:ext>
            </a:extLst>
          </p:cNvPr>
          <p:cNvSpPr/>
          <p:nvPr/>
        </p:nvSpPr>
        <p:spPr>
          <a:xfrm>
            <a:off x="6272784" y="2435523"/>
            <a:ext cx="2377440" cy="256032"/>
          </a:xfrm>
          <a:prstGeom prst="rect">
            <a:avLst/>
          </a:prstGeom>
          <a:noFill/>
          <a:ln/>
        </p:spPr>
        <p:txBody>
          <a:bodyPr wrap="square" lIns="0" tIns="0" rIns="0" bIns="0" rtlCol="0" anchor="ctr"/>
          <a:lstStyle/>
          <a:p>
            <a:pPr marL="0" indent="0">
              <a:buNone/>
            </a:pPr>
            <a:r>
              <a:rPr lang="en-US" sz="1100" b="1" dirty="0">
                <a:solidFill>
                  <a:srgbClr val="00BCD4"/>
                </a:solidFill>
              </a:rPr>
              <a:t>8 Dimension Tables</a:t>
            </a:r>
            <a:endParaRPr lang="en-US" sz="1100" dirty="0"/>
          </a:p>
        </p:txBody>
      </p:sp>
      <p:sp>
        <p:nvSpPr>
          <p:cNvPr id="258" name="Shape 14">
            <a:extLst>
              <a:ext uri="{FF2B5EF4-FFF2-40B4-BE49-F238E27FC236}">
                <a16:creationId xmlns:a16="http://schemas.microsoft.com/office/drawing/2014/main" id="{06A224F7-DA43-127F-CD4E-FB9B76894A8D}"/>
              </a:ext>
            </a:extLst>
          </p:cNvPr>
          <p:cNvSpPr/>
          <p:nvPr/>
        </p:nvSpPr>
        <p:spPr>
          <a:xfrm>
            <a:off x="6386294" y="2732229"/>
            <a:ext cx="91440" cy="91440"/>
          </a:xfrm>
          <a:prstGeom prst="ellipse">
            <a:avLst/>
          </a:prstGeom>
          <a:solidFill>
            <a:srgbClr val="00BCD4"/>
          </a:solidFill>
          <a:ln/>
        </p:spPr>
        <p:txBody>
          <a:bodyPr/>
          <a:lstStyle/>
          <a:p>
            <a:endParaRPr lang="en-MY"/>
          </a:p>
        </p:txBody>
      </p:sp>
      <p:sp>
        <p:nvSpPr>
          <p:cNvPr id="260" name="Text 15">
            <a:extLst>
              <a:ext uri="{FF2B5EF4-FFF2-40B4-BE49-F238E27FC236}">
                <a16:creationId xmlns:a16="http://schemas.microsoft.com/office/drawing/2014/main" id="{F396859B-6025-CF8A-93F2-943B72E6B100}"/>
              </a:ext>
            </a:extLst>
          </p:cNvPr>
          <p:cNvSpPr/>
          <p:nvPr/>
        </p:nvSpPr>
        <p:spPr>
          <a:xfrm>
            <a:off x="6514310" y="2683041"/>
            <a:ext cx="1627632" cy="201168"/>
          </a:xfrm>
          <a:prstGeom prst="rect">
            <a:avLst/>
          </a:prstGeom>
          <a:noFill/>
          <a:ln/>
        </p:spPr>
        <p:txBody>
          <a:bodyPr wrap="square" lIns="0" tIns="0" rIns="0" bIns="0" rtlCol="0" anchor="ctr"/>
          <a:lstStyle/>
          <a:p>
            <a:pPr marL="0" indent="0">
              <a:buNone/>
            </a:pPr>
            <a:r>
              <a:rPr lang="en-US" sz="750" dirty="0">
                <a:solidFill>
                  <a:srgbClr val="B0BEC5"/>
                </a:solidFill>
                <a:latin typeface="Courier New" pitchFamily="34" charset="0"/>
                <a:ea typeface="Courier New" pitchFamily="34" charset="-122"/>
                <a:cs typeface="Courier New" pitchFamily="34" charset="-120"/>
              </a:rPr>
              <a:t>olist_customers_dataset</a:t>
            </a:r>
            <a:endParaRPr lang="en-US" sz="750" dirty="0"/>
          </a:p>
        </p:txBody>
      </p:sp>
      <p:sp>
        <p:nvSpPr>
          <p:cNvPr id="262" name="Shape 16">
            <a:extLst>
              <a:ext uri="{FF2B5EF4-FFF2-40B4-BE49-F238E27FC236}">
                <a16:creationId xmlns:a16="http://schemas.microsoft.com/office/drawing/2014/main" id="{730E318F-4F3C-5C0E-5652-3D4A1E5222EB}"/>
              </a:ext>
            </a:extLst>
          </p:cNvPr>
          <p:cNvSpPr/>
          <p:nvPr/>
        </p:nvSpPr>
        <p:spPr>
          <a:xfrm>
            <a:off x="6386294" y="2918264"/>
            <a:ext cx="91440" cy="91440"/>
          </a:xfrm>
          <a:prstGeom prst="ellipse">
            <a:avLst/>
          </a:prstGeom>
          <a:solidFill>
            <a:srgbClr val="00BCD4"/>
          </a:solidFill>
          <a:ln/>
        </p:spPr>
        <p:txBody>
          <a:bodyPr/>
          <a:lstStyle/>
          <a:p>
            <a:endParaRPr lang="en-MY"/>
          </a:p>
        </p:txBody>
      </p:sp>
      <p:sp>
        <p:nvSpPr>
          <p:cNvPr id="264" name="Text 17">
            <a:extLst>
              <a:ext uri="{FF2B5EF4-FFF2-40B4-BE49-F238E27FC236}">
                <a16:creationId xmlns:a16="http://schemas.microsoft.com/office/drawing/2014/main" id="{56C57A50-EFF4-4DE6-AEA1-750B2D346886}"/>
              </a:ext>
            </a:extLst>
          </p:cNvPr>
          <p:cNvSpPr/>
          <p:nvPr/>
        </p:nvSpPr>
        <p:spPr>
          <a:xfrm>
            <a:off x="6514310" y="2869076"/>
            <a:ext cx="1393672" cy="201168"/>
          </a:xfrm>
          <a:prstGeom prst="rect">
            <a:avLst/>
          </a:prstGeom>
          <a:noFill/>
          <a:ln/>
        </p:spPr>
        <p:txBody>
          <a:bodyPr wrap="square" lIns="0" tIns="0" rIns="0" bIns="0" rtlCol="0" anchor="ctr"/>
          <a:lstStyle/>
          <a:p>
            <a:pPr marL="0" indent="0">
              <a:buNone/>
            </a:pPr>
            <a:r>
              <a:rPr lang="en-US" sz="750" dirty="0">
                <a:solidFill>
                  <a:srgbClr val="B0BEC5"/>
                </a:solidFill>
                <a:latin typeface="Courier New" pitchFamily="34" charset="0"/>
                <a:ea typeface="Courier New" pitchFamily="34" charset="-122"/>
                <a:cs typeface="Courier New" pitchFamily="34" charset="-120"/>
              </a:rPr>
              <a:t>olist_sellers_dataset</a:t>
            </a:r>
            <a:endParaRPr lang="en-US" sz="750" dirty="0"/>
          </a:p>
        </p:txBody>
      </p:sp>
      <p:sp>
        <p:nvSpPr>
          <p:cNvPr id="266" name="Shape 18">
            <a:extLst>
              <a:ext uri="{FF2B5EF4-FFF2-40B4-BE49-F238E27FC236}">
                <a16:creationId xmlns:a16="http://schemas.microsoft.com/office/drawing/2014/main" id="{654C4C8C-4E30-DCC8-6AAD-9D8B62603B46}"/>
              </a:ext>
            </a:extLst>
          </p:cNvPr>
          <p:cNvSpPr/>
          <p:nvPr/>
        </p:nvSpPr>
        <p:spPr>
          <a:xfrm>
            <a:off x="6386294" y="3110604"/>
            <a:ext cx="91440" cy="91440"/>
          </a:xfrm>
          <a:prstGeom prst="ellipse">
            <a:avLst/>
          </a:prstGeom>
          <a:solidFill>
            <a:srgbClr val="00BCD4"/>
          </a:solidFill>
          <a:ln/>
        </p:spPr>
        <p:txBody>
          <a:bodyPr/>
          <a:lstStyle/>
          <a:p>
            <a:endParaRPr lang="en-MY"/>
          </a:p>
        </p:txBody>
      </p:sp>
      <p:sp>
        <p:nvSpPr>
          <p:cNvPr id="268" name="Text 19">
            <a:extLst>
              <a:ext uri="{FF2B5EF4-FFF2-40B4-BE49-F238E27FC236}">
                <a16:creationId xmlns:a16="http://schemas.microsoft.com/office/drawing/2014/main" id="{0C5ED476-F880-D7E9-7903-76EEDC9E3B2C}"/>
              </a:ext>
            </a:extLst>
          </p:cNvPr>
          <p:cNvSpPr/>
          <p:nvPr/>
        </p:nvSpPr>
        <p:spPr>
          <a:xfrm>
            <a:off x="6514310" y="3067722"/>
            <a:ext cx="1393672" cy="201168"/>
          </a:xfrm>
          <a:prstGeom prst="rect">
            <a:avLst/>
          </a:prstGeom>
          <a:noFill/>
          <a:ln/>
        </p:spPr>
        <p:txBody>
          <a:bodyPr wrap="square" lIns="0" tIns="0" rIns="0" bIns="0" rtlCol="0" anchor="ctr"/>
          <a:lstStyle/>
          <a:p>
            <a:pPr marL="0" indent="0">
              <a:buNone/>
            </a:pPr>
            <a:r>
              <a:rPr lang="en-US" sz="750" dirty="0">
                <a:solidFill>
                  <a:srgbClr val="B0BEC5"/>
                </a:solidFill>
                <a:latin typeface="Courier New" pitchFamily="34" charset="0"/>
                <a:ea typeface="Courier New" pitchFamily="34" charset="-122"/>
                <a:cs typeface="Courier New" pitchFamily="34" charset="-120"/>
              </a:rPr>
              <a:t>olist_products_dataset</a:t>
            </a:r>
            <a:endParaRPr lang="en-US" sz="750" dirty="0"/>
          </a:p>
        </p:txBody>
      </p:sp>
      <p:sp>
        <p:nvSpPr>
          <p:cNvPr id="270" name="Shape 20">
            <a:extLst>
              <a:ext uri="{FF2B5EF4-FFF2-40B4-BE49-F238E27FC236}">
                <a16:creationId xmlns:a16="http://schemas.microsoft.com/office/drawing/2014/main" id="{BCDF9DF8-F3ED-4531-A95B-C7C4EEEB8E61}"/>
              </a:ext>
            </a:extLst>
          </p:cNvPr>
          <p:cNvSpPr/>
          <p:nvPr/>
        </p:nvSpPr>
        <p:spPr>
          <a:xfrm>
            <a:off x="6386294" y="3321864"/>
            <a:ext cx="91440" cy="91440"/>
          </a:xfrm>
          <a:prstGeom prst="ellipse">
            <a:avLst/>
          </a:prstGeom>
          <a:solidFill>
            <a:srgbClr val="00BCD4"/>
          </a:solidFill>
          <a:ln/>
        </p:spPr>
        <p:txBody>
          <a:bodyPr/>
          <a:lstStyle/>
          <a:p>
            <a:endParaRPr lang="en-MY"/>
          </a:p>
        </p:txBody>
      </p:sp>
      <p:sp>
        <p:nvSpPr>
          <p:cNvPr id="272" name="Text 21">
            <a:extLst>
              <a:ext uri="{FF2B5EF4-FFF2-40B4-BE49-F238E27FC236}">
                <a16:creationId xmlns:a16="http://schemas.microsoft.com/office/drawing/2014/main" id="{45E46494-3E04-8C31-B3FF-6869DCCBBC38}"/>
              </a:ext>
            </a:extLst>
          </p:cNvPr>
          <p:cNvSpPr/>
          <p:nvPr/>
        </p:nvSpPr>
        <p:spPr>
          <a:xfrm>
            <a:off x="6514310" y="3266370"/>
            <a:ext cx="1708982" cy="201168"/>
          </a:xfrm>
          <a:prstGeom prst="rect">
            <a:avLst/>
          </a:prstGeom>
          <a:noFill/>
          <a:ln/>
        </p:spPr>
        <p:txBody>
          <a:bodyPr wrap="square" lIns="0" tIns="0" rIns="0" bIns="0" rtlCol="0" anchor="ctr"/>
          <a:lstStyle/>
          <a:p>
            <a:pPr marL="0" indent="0">
              <a:buNone/>
            </a:pPr>
            <a:r>
              <a:rPr lang="en-US" sz="750" dirty="0">
                <a:solidFill>
                  <a:srgbClr val="B0BEC5"/>
                </a:solidFill>
                <a:latin typeface="Courier New" pitchFamily="34" charset="0"/>
                <a:ea typeface="Courier New" pitchFamily="34" charset="-122"/>
                <a:cs typeface="Courier New" pitchFamily="34" charset="-120"/>
              </a:rPr>
              <a:t>olist_order_reviews_dataset</a:t>
            </a:r>
            <a:endParaRPr lang="en-US" sz="750" dirty="0"/>
          </a:p>
        </p:txBody>
      </p:sp>
      <p:sp>
        <p:nvSpPr>
          <p:cNvPr id="274" name="Shape 22">
            <a:extLst>
              <a:ext uri="{FF2B5EF4-FFF2-40B4-BE49-F238E27FC236}">
                <a16:creationId xmlns:a16="http://schemas.microsoft.com/office/drawing/2014/main" id="{C9D8345F-06B2-5517-3C4F-3C2D34B08753}"/>
              </a:ext>
            </a:extLst>
          </p:cNvPr>
          <p:cNvSpPr/>
          <p:nvPr/>
        </p:nvSpPr>
        <p:spPr>
          <a:xfrm>
            <a:off x="6386294" y="3528681"/>
            <a:ext cx="91440" cy="91440"/>
          </a:xfrm>
          <a:prstGeom prst="ellipse">
            <a:avLst/>
          </a:prstGeom>
          <a:solidFill>
            <a:srgbClr val="00BCD4"/>
          </a:solidFill>
          <a:ln/>
        </p:spPr>
        <p:txBody>
          <a:bodyPr/>
          <a:lstStyle/>
          <a:p>
            <a:endParaRPr lang="en-MY"/>
          </a:p>
        </p:txBody>
      </p:sp>
      <p:sp>
        <p:nvSpPr>
          <p:cNvPr id="276" name="Text 23">
            <a:extLst>
              <a:ext uri="{FF2B5EF4-FFF2-40B4-BE49-F238E27FC236}">
                <a16:creationId xmlns:a16="http://schemas.microsoft.com/office/drawing/2014/main" id="{2320CCA6-1C98-2F63-D5A4-C9C8166421C3}"/>
              </a:ext>
            </a:extLst>
          </p:cNvPr>
          <p:cNvSpPr/>
          <p:nvPr/>
        </p:nvSpPr>
        <p:spPr>
          <a:xfrm>
            <a:off x="6509737" y="3465820"/>
            <a:ext cx="2117151" cy="201168"/>
          </a:xfrm>
          <a:prstGeom prst="rect">
            <a:avLst/>
          </a:prstGeom>
          <a:noFill/>
          <a:ln/>
        </p:spPr>
        <p:txBody>
          <a:bodyPr wrap="square" lIns="0" tIns="0" rIns="0" bIns="0" rtlCol="0" anchor="ctr"/>
          <a:lstStyle/>
          <a:p>
            <a:pPr marL="0" indent="0">
              <a:buNone/>
            </a:pPr>
            <a:r>
              <a:rPr lang="en-US" sz="750" dirty="0">
                <a:solidFill>
                  <a:srgbClr val="B0BEC5"/>
                </a:solidFill>
                <a:latin typeface="Courier New" pitchFamily="34" charset="0"/>
                <a:ea typeface="Courier New" pitchFamily="34" charset="-122"/>
                <a:cs typeface="Courier New" pitchFamily="34" charset="-120"/>
              </a:rPr>
              <a:t>olist_order_payments_dataset</a:t>
            </a:r>
            <a:endParaRPr lang="en-US" sz="750" dirty="0"/>
          </a:p>
        </p:txBody>
      </p:sp>
      <p:sp>
        <p:nvSpPr>
          <p:cNvPr id="278" name="Shape 24">
            <a:extLst>
              <a:ext uri="{FF2B5EF4-FFF2-40B4-BE49-F238E27FC236}">
                <a16:creationId xmlns:a16="http://schemas.microsoft.com/office/drawing/2014/main" id="{3FCB0EE7-2EB8-9D0F-030C-F187CFD4AD9B}"/>
              </a:ext>
            </a:extLst>
          </p:cNvPr>
          <p:cNvSpPr/>
          <p:nvPr/>
        </p:nvSpPr>
        <p:spPr>
          <a:xfrm>
            <a:off x="6386294" y="3701810"/>
            <a:ext cx="91440" cy="91440"/>
          </a:xfrm>
          <a:prstGeom prst="ellipse">
            <a:avLst/>
          </a:prstGeom>
          <a:solidFill>
            <a:srgbClr val="00BCD4"/>
          </a:solidFill>
          <a:ln/>
        </p:spPr>
        <p:txBody>
          <a:bodyPr/>
          <a:lstStyle/>
          <a:p>
            <a:endParaRPr lang="en-MY"/>
          </a:p>
        </p:txBody>
      </p:sp>
      <p:sp>
        <p:nvSpPr>
          <p:cNvPr id="280" name="Text 25">
            <a:extLst>
              <a:ext uri="{FF2B5EF4-FFF2-40B4-BE49-F238E27FC236}">
                <a16:creationId xmlns:a16="http://schemas.microsoft.com/office/drawing/2014/main" id="{2DF8A6A1-5C37-0033-2B90-5ABF8ECA279A}"/>
              </a:ext>
            </a:extLst>
          </p:cNvPr>
          <p:cNvSpPr/>
          <p:nvPr/>
        </p:nvSpPr>
        <p:spPr>
          <a:xfrm>
            <a:off x="6496652" y="3652642"/>
            <a:ext cx="1745558" cy="201168"/>
          </a:xfrm>
          <a:prstGeom prst="rect">
            <a:avLst/>
          </a:prstGeom>
          <a:noFill/>
          <a:ln/>
        </p:spPr>
        <p:txBody>
          <a:bodyPr wrap="square" lIns="0" tIns="0" rIns="0" bIns="0" rtlCol="0" anchor="ctr"/>
          <a:lstStyle/>
          <a:p>
            <a:pPr marL="0" indent="0">
              <a:buNone/>
            </a:pPr>
            <a:r>
              <a:rPr lang="en-US" sz="750" dirty="0">
                <a:solidFill>
                  <a:srgbClr val="B0BEC5"/>
                </a:solidFill>
                <a:latin typeface="Courier New" pitchFamily="34" charset="0"/>
                <a:ea typeface="Courier New" pitchFamily="34" charset="-122"/>
                <a:cs typeface="Courier New" pitchFamily="34" charset="-120"/>
              </a:rPr>
              <a:t>olist_geolocation_dataset</a:t>
            </a:r>
            <a:endParaRPr lang="en-US" sz="750" dirty="0"/>
          </a:p>
        </p:txBody>
      </p:sp>
      <p:sp>
        <p:nvSpPr>
          <p:cNvPr id="282" name="Shape 26">
            <a:extLst>
              <a:ext uri="{FF2B5EF4-FFF2-40B4-BE49-F238E27FC236}">
                <a16:creationId xmlns:a16="http://schemas.microsoft.com/office/drawing/2014/main" id="{7E61DB89-73D1-9666-8DDA-9916D9606C03}"/>
              </a:ext>
            </a:extLst>
          </p:cNvPr>
          <p:cNvSpPr/>
          <p:nvPr/>
        </p:nvSpPr>
        <p:spPr>
          <a:xfrm>
            <a:off x="6379362" y="3884436"/>
            <a:ext cx="91440" cy="91440"/>
          </a:xfrm>
          <a:prstGeom prst="ellipse">
            <a:avLst/>
          </a:prstGeom>
          <a:solidFill>
            <a:srgbClr val="00BCD4"/>
          </a:solidFill>
          <a:ln/>
        </p:spPr>
        <p:txBody>
          <a:bodyPr/>
          <a:lstStyle/>
          <a:p>
            <a:endParaRPr lang="en-MY"/>
          </a:p>
        </p:txBody>
      </p:sp>
      <p:sp>
        <p:nvSpPr>
          <p:cNvPr id="284" name="Text 27">
            <a:extLst>
              <a:ext uri="{FF2B5EF4-FFF2-40B4-BE49-F238E27FC236}">
                <a16:creationId xmlns:a16="http://schemas.microsoft.com/office/drawing/2014/main" id="{26264354-F925-A02B-EBF9-E3F822D67A7C}"/>
              </a:ext>
            </a:extLst>
          </p:cNvPr>
          <p:cNvSpPr/>
          <p:nvPr/>
        </p:nvSpPr>
        <p:spPr>
          <a:xfrm>
            <a:off x="6507377" y="3835248"/>
            <a:ext cx="1791593" cy="201168"/>
          </a:xfrm>
          <a:prstGeom prst="rect">
            <a:avLst/>
          </a:prstGeom>
          <a:noFill/>
          <a:ln/>
        </p:spPr>
        <p:txBody>
          <a:bodyPr wrap="square" lIns="0" tIns="0" rIns="0" bIns="0" rtlCol="0" anchor="ctr"/>
          <a:lstStyle/>
          <a:p>
            <a:pPr marL="0" indent="0">
              <a:buNone/>
            </a:pPr>
            <a:r>
              <a:rPr lang="en-US" sz="750" dirty="0">
                <a:solidFill>
                  <a:srgbClr val="B0BEC5"/>
                </a:solidFill>
                <a:latin typeface="Courier New" pitchFamily="34" charset="0"/>
                <a:ea typeface="Courier New" pitchFamily="34" charset="-122"/>
                <a:cs typeface="Courier New" pitchFamily="34" charset="-120"/>
              </a:rPr>
              <a:t>olist_marketing_qualified_leads</a:t>
            </a:r>
            <a:endParaRPr lang="en-US" sz="750" dirty="0"/>
          </a:p>
        </p:txBody>
      </p:sp>
      <p:sp>
        <p:nvSpPr>
          <p:cNvPr id="286" name="Shape 28">
            <a:extLst>
              <a:ext uri="{FF2B5EF4-FFF2-40B4-BE49-F238E27FC236}">
                <a16:creationId xmlns:a16="http://schemas.microsoft.com/office/drawing/2014/main" id="{939D14D5-FFBB-8C16-E490-E322AC115EE7}"/>
              </a:ext>
            </a:extLst>
          </p:cNvPr>
          <p:cNvSpPr/>
          <p:nvPr/>
        </p:nvSpPr>
        <p:spPr>
          <a:xfrm>
            <a:off x="6385665" y="4095696"/>
            <a:ext cx="91440" cy="91440"/>
          </a:xfrm>
          <a:prstGeom prst="ellipse">
            <a:avLst/>
          </a:prstGeom>
          <a:solidFill>
            <a:srgbClr val="00BCD4"/>
          </a:solidFill>
          <a:ln/>
        </p:spPr>
        <p:txBody>
          <a:bodyPr/>
          <a:lstStyle/>
          <a:p>
            <a:endParaRPr lang="en-MY"/>
          </a:p>
        </p:txBody>
      </p:sp>
      <p:sp>
        <p:nvSpPr>
          <p:cNvPr id="288" name="Text 29">
            <a:extLst>
              <a:ext uri="{FF2B5EF4-FFF2-40B4-BE49-F238E27FC236}">
                <a16:creationId xmlns:a16="http://schemas.microsoft.com/office/drawing/2014/main" id="{4D602123-DF88-527B-97BF-C355A64B9C09}"/>
              </a:ext>
            </a:extLst>
          </p:cNvPr>
          <p:cNvSpPr/>
          <p:nvPr/>
        </p:nvSpPr>
        <p:spPr>
          <a:xfrm>
            <a:off x="6513681" y="4033896"/>
            <a:ext cx="1143000" cy="201168"/>
          </a:xfrm>
          <a:prstGeom prst="rect">
            <a:avLst/>
          </a:prstGeom>
          <a:noFill/>
          <a:ln/>
        </p:spPr>
        <p:txBody>
          <a:bodyPr wrap="square" lIns="0" tIns="0" rIns="0" bIns="0" rtlCol="0" anchor="ctr"/>
          <a:lstStyle/>
          <a:p>
            <a:pPr marL="0" indent="0">
              <a:buNone/>
            </a:pPr>
            <a:r>
              <a:rPr lang="en-US" sz="750" dirty="0">
                <a:solidFill>
                  <a:srgbClr val="B0BEC5"/>
                </a:solidFill>
                <a:latin typeface="Courier New" pitchFamily="34" charset="0"/>
                <a:ea typeface="Courier New" pitchFamily="34" charset="-122"/>
                <a:cs typeface="Courier New" pitchFamily="34" charset="-120"/>
              </a:rPr>
              <a:t>ai_generated_data</a:t>
            </a:r>
            <a:endParaRPr lang="en-US" sz="750" dirty="0"/>
          </a:p>
        </p:txBody>
      </p:sp>
      <p:sp>
        <p:nvSpPr>
          <p:cNvPr id="290" name="Shape 30">
            <a:extLst>
              <a:ext uri="{FF2B5EF4-FFF2-40B4-BE49-F238E27FC236}">
                <a16:creationId xmlns:a16="http://schemas.microsoft.com/office/drawing/2014/main" id="{CF1069D8-C2CE-9F61-A484-C35F3BFE60F3}"/>
              </a:ext>
            </a:extLst>
          </p:cNvPr>
          <p:cNvSpPr/>
          <p:nvPr/>
        </p:nvSpPr>
        <p:spPr>
          <a:xfrm>
            <a:off x="3326520" y="3472114"/>
            <a:ext cx="2633472" cy="901937"/>
          </a:xfrm>
          <a:prstGeom prst="roundRect">
            <a:avLst>
              <a:gd name="adj" fmla="val 13333"/>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292" name="Text 31">
            <a:extLst>
              <a:ext uri="{FF2B5EF4-FFF2-40B4-BE49-F238E27FC236}">
                <a16:creationId xmlns:a16="http://schemas.microsoft.com/office/drawing/2014/main" id="{4CEB97AE-0C7C-3D27-CA7E-6E5694A61222}"/>
              </a:ext>
            </a:extLst>
          </p:cNvPr>
          <p:cNvSpPr/>
          <p:nvPr/>
        </p:nvSpPr>
        <p:spPr>
          <a:xfrm>
            <a:off x="3454536" y="3520441"/>
            <a:ext cx="2377440" cy="237744"/>
          </a:xfrm>
          <a:prstGeom prst="rect">
            <a:avLst/>
          </a:prstGeom>
          <a:noFill/>
          <a:ln/>
        </p:spPr>
        <p:txBody>
          <a:bodyPr wrap="square" lIns="0" tIns="0" rIns="0" bIns="0" rtlCol="0" anchor="ctr"/>
          <a:lstStyle/>
          <a:p>
            <a:pPr marL="0" indent="0">
              <a:buNone/>
            </a:pPr>
            <a:r>
              <a:rPr lang="en-US" sz="1100" b="1" dirty="0">
                <a:solidFill>
                  <a:srgbClr val="FFC107"/>
                </a:solidFill>
              </a:rPr>
              <a:t>5 Date Dimension Tables</a:t>
            </a:r>
            <a:endParaRPr lang="en-US" sz="1100" dirty="0"/>
          </a:p>
        </p:txBody>
      </p:sp>
      <p:sp>
        <p:nvSpPr>
          <p:cNvPr id="296" name="Text 33">
            <a:extLst>
              <a:ext uri="{FF2B5EF4-FFF2-40B4-BE49-F238E27FC236}">
                <a16:creationId xmlns:a16="http://schemas.microsoft.com/office/drawing/2014/main" id="{E2E53F9D-913D-294C-5711-D0FC10E8A35F}"/>
              </a:ext>
            </a:extLst>
          </p:cNvPr>
          <p:cNvSpPr/>
          <p:nvPr/>
        </p:nvSpPr>
        <p:spPr>
          <a:xfrm>
            <a:off x="3675249" y="3856644"/>
            <a:ext cx="2331720" cy="479423"/>
          </a:xfrm>
          <a:prstGeom prst="rect">
            <a:avLst/>
          </a:prstGeom>
          <a:noFill/>
          <a:ln/>
        </p:spPr>
        <p:txBody>
          <a:bodyPr wrap="square" lIns="0" tIns="0" rIns="0" bIns="0" rtlCol="0" anchor="ctr"/>
          <a:lstStyle/>
          <a:p>
            <a:r>
              <a:rPr lang="en-US" sz="750" dirty="0">
                <a:solidFill>
                  <a:srgbClr val="B0BEC5"/>
                </a:solidFill>
                <a:latin typeface="Courier New" pitchFamily="34" charset="0"/>
                <a:ea typeface="Courier New" pitchFamily="34" charset="-122"/>
                <a:cs typeface="Courier New" pitchFamily="34" charset="-120"/>
              </a:rPr>
              <a:t>date_order_purchase</a:t>
            </a:r>
          </a:p>
          <a:p>
            <a:r>
              <a:rPr lang="en-US" sz="750" dirty="0">
                <a:solidFill>
                  <a:srgbClr val="B0BEC5"/>
                </a:solidFill>
                <a:latin typeface="Courier New" pitchFamily="34" charset="0"/>
                <a:ea typeface="Courier New" pitchFamily="34" charset="-122"/>
                <a:cs typeface="Courier New" pitchFamily="34" charset="-120"/>
              </a:rPr>
              <a:t>date_reviews</a:t>
            </a:r>
          </a:p>
          <a:p>
            <a:r>
              <a:rPr lang="en-US" sz="750" dirty="0">
                <a:solidFill>
                  <a:srgbClr val="B0BEC5"/>
                </a:solidFill>
                <a:latin typeface="Courier New" pitchFamily="34" charset="0"/>
                <a:ea typeface="Courier New" pitchFamily="34" charset="-122"/>
                <a:cs typeface="Courier New" pitchFamily="34" charset="-120"/>
              </a:rPr>
              <a:t>date_delivered_customer</a:t>
            </a:r>
          </a:p>
          <a:p>
            <a:r>
              <a:rPr lang="en-US" sz="750" dirty="0">
                <a:solidFill>
                  <a:srgbClr val="B0BEC5"/>
                </a:solidFill>
                <a:latin typeface="Courier New" pitchFamily="34" charset="0"/>
                <a:ea typeface="Courier New" pitchFamily="34" charset="-122"/>
                <a:cs typeface="Courier New" pitchFamily="34" charset="-120"/>
              </a:rPr>
              <a:t>date_shipping_limit</a:t>
            </a:r>
          </a:p>
          <a:p>
            <a:r>
              <a:rPr lang="en-US" sz="750" dirty="0">
                <a:solidFill>
                  <a:srgbClr val="B0BEC5"/>
                </a:solidFill>
                <a:latin typeface="Courier New" pitchFamily="34" charset="0"/>
                <a:ea typeface="Courier New" pitchFamily="34" charset="-122"/>
                <a:cs typeface="Courier New" pitchFamily="34" charset="-120"/>
              </a:rPr>
              <a:t>date_closed_deal_won</a:t>
            </a:r>
            <a:endParaRPr lang="en-US" sz="750" dirty="0"/>
          </a:p>
          <a:p>
            <a:pPr marL="171450" indent="-171450">
              <a:buFont typeface="Arial" panose="020B0604020202020204" pitchFamily="34" charset="0"/>
              <a:buChar char="•"/>
            </a:pPr>
            <a:endParaRPr lang="en-US" sz="750" dirty="0"/>
          </a:p>
        </p:txBody>
      </p:sp>
      <p:sp>
        <p:nvSpPr>
          <p:cNvPr id="300" name="Text 35">
            <a:extLst>
              <a:ext uri="{FF2B5EF4-FFF2-40B4-BE49-F238E27FC236}">
                <a16:creationId xmlns:a16="http://schemas.microsoft.com/office/drawing/2014/main" id="{AED3A688-EC8D-78FB-BD4C-018C2DB995E6}"/>
              </a:ext>
            </a:extLst>
          </p:cNvPr>
          <p:cNvSpPr/>
          <p:nvPr/>
        </p:nvSpPr>
        <p:spPr>
          <a:xfrm>
            <a:off x="3582552" y="3969825"/>
            <a:ext cx="2331720" cy="137160"/>
          </a:xfrm>
          <a:prstGeom prst="rect">
            <a:avLst/>
          </a:prstGeom>
          <a:noFill/>
          <a:ln/>
        </p:spPr>
        <p:txBody>
          <a:bodyPr wrap="square" lIns="0" tIns="0" rIns="0" bIns="0" rtlCol="0" anchor="ctr"/>
          <a:lstStyle/>
          <a:p>
            <a:pPr marL="0" indent="0">
              <a:buNone/>
            </a:pPr>
            <a:endParaRPr lang="en-US" sz="750" dirty="0"/>
          </a:p>
        </p:txBody>
      </p:sp>
      <p:sp>
        <p:nvSpPr>
          <p:cNvPr id="304" name="Text 37">
            <a:extLst>
              <a:ext uri="{FF2B5EF4-FFF2-40B4-BE49-F238E27FC236}">
                <a16:creationId xmlns:a16="http://schemas.microsoft.com/office/drawing/2014/main" id="{FDEC90CF-EB4D-708D-B35F-5232031039C5}"/>
              </a:ext>
            </a:extLst>
          </p:cNvPr>
          <p:cNvSpPr/>
          <p:nvPr/>
        </p:nvSpPr>
        <p:spPr>
          <a:xfrm>
            <a:off x="3582552" y="4125273"/>
            <a:ext cx="2331720" cy="137160"/>
          </a:xfrm>
          <a:prstGeom prst="rect">
            <a:avLst/>
          </a:prstGeom>
          <a:noFill/>
          <a:ln/>
        </p:spPr>
        <p:txBody>
          <a:bodyPr wrap="square" lIns="0" tIns="0" rIns="0" bIns="0" rtlCol="0" anchor="ctr"/>
          <a:lstStyle/>
          <a:p>
            <a:pPr marL="0" indent="0">
              <a:buNone/>
            </a:pPr>
            <a:endParaRPr lang="en-US" sz="750" dirty="0"/>
          </a:p>
        </p:txBody>
      </p:sp>
      <p:sp>
        <p:nvSpPr>
          <p:cNvPr id="308" name="Shape 6">
            <a:extLst>
              <a:ext uri="{FF2B5EF4-FFF2-40B4-BE49-F238E27FC236}">
                <a16:creationId xmlns:a16="http://schemas.microsoft.com/office/drawing/2014/main" id="{4153876A-E772-687D-D3ED-1292EEC6AAEC}"/>
              </a:ext>
            </a:extLst>
          </p:cNvPr>
          <p:cNvSpPr/>
          <p:nvPr/>
        </p:nvSpPr>
        <p:spPr>
          <a:xfrm>
            <a:off x="3542756" y="3774623"/>
            <a:ext cx="73847" cy="73392"/>
          </a:xfrm>
          <a:prstGeom prst="ellipse">
            <a:avLst/>
          </a:prstGeom>
          <a:solidFill>
            <a:srgbClr val="FFC107"/>
          </a:solidFill>
          <a:ln/>
        </p:spPr>
        <p:txBody>
          <a:bodyPr/>
          <a:lstStyle/>
          <a:p>
            <a:endParaRPr lang="en-MY"/>
          </a:p>
        </p:txBody>
      </p:sp>
      <p:sp>
        <p:nvSpPr>
          <p:cNvPr id="310" name="Shape 6">
            <a:extLst>
              <a:ext uri="{FF2B5EF4-FFF2-40B4-BE49-F238E27FC236}">
                <a16:creationId xmlns:a16="http://schemas.microsoft.com/office/drawing/2014/main" id="{9A2A5575-A8C6-11E2-3A2F-26296B141823}"/>
              </a:ext>
            </a:extLst>
          </p:cNvPr>
          <p:cNvSpPr/>
          <p:nvPr/>
        </p:nvSpPr>
        <p:spPr>
          <a:xfrm>
            <a:off x="3542756" y="3893735"/>
            <a:ext cx="73847" cy="73392"/>
          </a:xfrm>
          <a:prstGeom prst="ellipse">
            <a:avLst/>
          </a:prstGeom>
          <a:solidFill>
            <a:srgbClr val="FFC107"/>
          </a:solidFill>
          <a:ln/>
        </p:spPr>
        <p:txBody>
          <a:bodyPr/>
          <a:lstStyle/>
          <a:p>
            <a:endParaRPr lang="en-MY"/>
          </a:p>
        </p:txBody>
      </p:sp>
      <p:sp>
        <p:nvSpPr>
          <p:cNvPr id="312" name="Shape 6">
            <a:extLst>
              <a:ext uri="{FF2B5EF4-FFF2-40B4-BE49-F238E27FC236}">
                <a16:creationId xmlns:a16="http://schemas.microsoft.com/office/drawing/2014/main" id="{827C4A50-B135-1907-000A-776BE52C0DAC}"/>
              </a:ext>
            </a:extLst>
          </p:cNvPr>
          <p:cNvSpPr/>
          <p:nvPr/>
        </p:nvSpPr>
        <p:spPr>
          <a:xfrm>
            <a:off x="3542756" y="4003703"/>
            <a:ext cx="73847" cy="73392"/>
          </a:xfrm>
          <a:prstGeom prst="ellipse">
            <a:avLst/>
          </a:prstGeom>
          <a:solidFill>
            <a:srgbClr val="FFC107"/>
          </a:solidFill>
          <a:ln/>
        </p:spPr>
        <p:txBody>
          <a:bodyPr/>
          <a:lstStyle/>
          <a:p>
            <a:endParaRPr lang="en-MY"/>
          </a:p>
        </p:txBody>
      </p:sp>
      <p:sp>
        <p:nvSpPr>
          <p:cNvPr id="314" name="Shape 6">
            <a:extLst>
              <a:ext uri="{FF2B5EF4-FFF2-40B4-BE49-F238E27FC236}">
                <a16:creationId xmlns:a16="http://schemas.microsoft.com/office/drawing/2014/main" id="{C3957997-E3F0-C673-4255-F5D0DF630895}"/>
              </a:ext>
            </a:extLst>
          </p:cNvPr>
          <p:cNvSpPr/>
          <p:nvPr/>
        </p:nvSpPr>
        <p:spPr>
          <a:xfrm>
            <a:off x="3542756" y="4118856"/>
            <a:ext cx="73847" cy="73392"/>
          </a:xfrm>
          <a:prstGeom prst="ellipse">
            <a:avLst/>
          </a:prstGeom>
          <a:solidFill>
            <a:srgbClr val="FFC107"/>
          </a:solidFill>
          <a:ln/>
        </p:spPr>
        <p:txBody>
          <a:bodyPr/>
          <a:lstStyle/>
          <a:p>
            <a:endParaRPr lang="en-MY"/>
          </a:p>
        </p:txBody>
      </p:sp>
      <p:sp>
        <p:nvSpPr>
          <p:cNvPr id="316" name="Shape 6">
            <a:extLst>
              <a:ext uri="{FF2B5EF4-FFF2-40B4-BE49-F238E27FC236}">
                <a16:creationId xmlns:a16="http://schemas.microsoft.com/office/drawing/2014/main" id="{32DD981C-45CD-85B1-971C-FBAFF0D8A131}"/>
              </a:ext>
            </a:extLst>
          </p:cNvPr>
          <p:cNvSpPr/>
          <p:nvPr/>
        </p:nvSpPr>
        <p:spPr>
          <a:xfrm>
            <a:off x="3544851" y="4232183"/>
            <a:ext cx="73847" cy="73392"/>
          </a:xfrm>
          <a:prstGeom prst="ellipse">
            <a:avLst/>
          </a:prstGeom>
          <a:solidFill>
            <a:srgbClr val="FFC107"/>
          </a:solidFill>
          <a:ln/>
        </p:spPr>
        <p:txBody>
          <a:bodyPr/>
          <a:lstStyle/>
          <a:p>
            <a:endParaRPr lang="en-MY"/>
          </a:p>
        </p:txBody>
      </p:sp>
    </p:spTree>
    <p:extLst>
      <p:ext uri="{BB962C8B-B14F-4D97-AF65-F5344CB8AC3E}">
        <p14:creationId xmlns:p14="http://schemas.microsoft.com/office/powerpoint/2010/main" val="2320819606"/>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a:extLst>
            <a:ext uri="{FF2B5EF4-FFF2-40B4-BE49-F238E27FC236}">
              <a16:creationId xmlns:a16="http://schemas.microsoft.com/office/drawing/2014/main" id="{E4C511C4-5AA2-D94D-CE47-58538D22305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FE0609-2EDB-7220-D955-F8503200EB77}"/>
              </a:ext>
            </a:extLst>
          </p:cNvPr>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a:extLst>
              <a:ext uri="{FF2B5EF4-FFF2-40B4-BE49-F238E27FC236}">
                <a16:creationId xmlns:a16="http://schemas.microsoft.com/office/drawing/2014/main" id="{2013E94C-7725-1054-256F-919E6C49A66F}"/>
              </a:ext>
            </a:extLst>
          </p:cNvPr>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7" name="Text 5">
            <a:extLst>
              <a:ext uri="{FF2B5EF4-FFF2-40B4-BE49-F238E27FC236}">
                <a16:creationId xmlns:a16="http://schemas.microsoft.com/office/drawing/2014/main" id="{EFB2798C-3660-EA9C-C052-84702BAEB1D9}"/>
              </a:ext>
            </a:extLst>
          </p:cNvPr>
          <p:cNvSpPr/>
          <p:nvPr/>
        </p:nvSpPr>
        <p:spPr>
          <a:xfrm>
            <a:off x="1023366" y="219456"/>
            <a:ext cx="5760720" cy="438912"/>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Data, Model &amp; ETL/ELT</a:t>
            </a:r>
          </a:p>
        </p:txBody>
      </p:sp>
      <p:sp>
        <p:nvSpPr>
          <p:cNvPr id="35" name="Shape 33">
            <a:extLst>
              <a:ext uri="{FF2B5EF4-FFF2-40B4-BE49-F238E27FC236}">
                <a16:creationId xmlns:a16="http://schemas.microsoft.com/office/drawing/2014/main" id="{49F3AF11-5A77-A02A-B880-34385537B3C0}"/>
              </a:ext>
            </a:extLst>
          </p:cNvPr>
          <p:cNvSpPr/>
          <p:nvPr/>
        </p:nvSpPr>
        <p:spPr>
          <a:xfrm>
            <a:off x="228600" y="1030435"/>
            <a:ext cx="8686800" cy="631566"/>
          </a:xfrm>
          <a:prstGeom prst="roundRect">
            <a:avLst>
              <a:gd name="adj" fmla="val 12000"/>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36" name="Text 34">
            <a:extLst>
              <a:ext uri="{FF2B5EF4-FFF2-40B4-BE49-F238E27FC236}">
                <a16:creationId xmlns:a16="http://schemas.microsoft.com/office/drawing/2014/main" id="{20938ECF-ED82-FF4F-3BA6-151C6C3FBE2B}"/>
              </a:ext>
            </a:extLst>
          </p:cNvPr>
          <p:cNvSpPr/>
          <p:nvPr/>
        </p:nvSpPr>
        <p:spPr>
          <a:xfrm>
            <a:off x="411480" y="1076155"/>
            <a:ext cx="5029200" cy="237744"/>
          </a:xfrm>
          <a:prstGeom prst="rect">
            <a:avLst/>
          </a:prstGeom>
          <a:noFill/>
          <a:ln/>
        </p:spPr>
        <p:txBody>
          <a:bodyPr wrap="square" lIns="0" tIns="0" rIns="0" bIns="0" rtlCol="0" anchor="ctr"/>
          <a:lstStyle/>
          <a:p>
            <a:pPr marL="0" indent="0">
              <a:buNone/>
            </a:pPr>
            <a:r>
              <a:rPr lang="en-US" sz="1000" b="1" dirty="0">
                <a:solidFill>
                  <a:srgbClr val="00C4B4"/>
                </a:solidFill>
                <a:latin typeface="Calibri" pitchFamily="34" charset="0"/>
                <a:ea typeface="Calibri" pitchFamily="34" charset="-122"/>
                <a:cs typeface="Calibri" pitchFamily="34" charset="-120"/>
              </a:rPr>
              <a:t>Hybrid ETL / ELT Pipeline — Why Hybrid?</a:t>
            </a:r>
            <a:endParaRPr lang="en-US" sz="1000" dirty="0"/>
          </a:p>
        </p:txBody>
      </p:sp>
      <p:sp>
        <p:nvSpPr>
          <p:cNvPr id="37" name="Text 35">
            <a:extLst>
              <a:ext uri="{FF2B5EF4-FFF2-40B4-BE49-F238E27FC236}">
                <a16:creationId xmlns:a16="http://schemas.microsoft.com/office/drawing/2014/main" id="{3401ED40-D0A7-B76F-7892-F33DBFEC0199}"/>
              </a:ext>
            </a:extLst>
          </p:cNvPr>
          <p:cNvSpPr/>
          <p:nvPr/>
        </p:nvSpPr>
        <p:spPr>
          <a:xfrm>
            <a:off x="411480" y="1159081"/>
            <a:ext cx="8503920" cy="502920"/>
          </a:xfrm>
          <a:prstGeom prst="rect">
            <a:avLst/>
          </a:prstGeom>
          <a:noFill/>
          <a:ln/>
        </p:spPr>
        <p:txBody>
          <a:bodyPr wrap="square" lIns="0" tIns="0" rIns="0" bIns="0" rtlCol="0" anchor="ctr"/>
          <a:lstStyle/>
          <a:p>
            <a:pPr marL="0" indent="0">
              <a:buNone/>
            </a:pPr>
            <a:r>
              <a:rPr lang="en-US" sz="900" i="1" dirty="0">
                <a:solidFill>
                  <a:srgbClr val="E8EDF2"/>
                </a:solidFill>
                <a:latin typeface="Calibri" pitchFamily="34" charset="0"/>
                <a:ea typeface="Calibri" pitchFamily="34" charset="-122"/>
                <a:cs typeface="Calibri" pitchFamily="34" charset="-120"/>
              </a:rPr>
              <a:t>Python handled pre-load quality control (ETL). DAX measures transform data inside the model (ELT). We chose hybrid because at this scale we needed both data quality assurance and in-model analytical flexibility.</a:t>
            </a:r>
            <a:endParaRPr lang="en-US" sz="900" dirty="0"/>
          </a:p>
        </p:txBody>
      </p:sp>
      <p:pic>
        <p:nvPicPr>
          <p:cNvPr id="87" name="Picture 86">
            <a:extLst>
              <a:ext uri="{FF2B5EF4-FFF2-40B4-BE49-F238E27FC236}">
                <a16:creationId xmlns:a16="http://schemas.microsoft.com/office/drawing/2014/main" id="{E24171E0-00AE-E3FD-EDB3-E8E994844EC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sp>
        <p:nvSpPr>
          <p:cNvPr id="5" name="Shape 3">
            <a:extLst>
              <a:ext uri="{FF2B5EF4-FFF2-40B4-BE49-F238E27FC236}">
                <a16:creationId xmlns:a16="http://schemas.microsoft.com/office/drawing/2014/main" id="{1DB95091-5512-AE73-E493-315675678906}"/>
              </a:ext>
            </a:extLst>
          </p:cNvPr>
          <p:cNvSpPr/>
          <p:nvPr/>
        </p:nvSpPr>
        <p:spPr>
          <a:xfrm>
            <a:off x="135898" y="2969429"/>
            <a:ext cx="1572768" cy="1783080"/>
          </a:xfrm>
          <a:prstGeom prst="roundRect">
            <a:avLst>
              <a:gd name="adj" fmla="val 697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8" name="Shape 4">
            <a:extLst>
              <a:ext uri="{FF2B5EF4-FFF2-40B4-BE49-F238E27FC236}">
                <a16:creationId xmlns:a16="http://schemas.microsoft.com/office/drawing/2014/main" id="{88EB01EE-DEDC-DC0A-B91F-4BA9C2492668}"/>
              </a:ext>
            </a:extLst>
          </p:cNvPr>
          <p:cNvSpPr/>
          <p:nvPr/>
        </p:nvSpPr>
        <p:spPr>
          <a:xfrm>
            <a:off x="227338" y="3060869"/>
            <a:ext cx="1389888" cy="274320"/>
          </a:xfrm>
          <a:prstGeom prst="roundRect">
            <a:avLst>
              <a:gd name="adj" fmla="val 20000"/>
            </a:avLst>
          </a:prstGeom>
          <a:solidFill>
            <a:srgbClr val="00BCD4"/>
          </a:solidFill>
          <a:ln/>
        </p:spPr>
        <p:txBody>
          <a:bodyPr/>
          <a:lstStyle/>
          <a:p>
            <a:endParaRPr lang="en-MY"/>
          </a:p>
        </p:txBody>
      </p:sp>
      <p:sp>
        <p:nvSpPr>
          <p:cNvPr id="10" name="Text 5">
            <a:extLst>
              <a:ext uri="{FF2B5EF4-FFF2-40B4-BE49-F238E27FC236}">
                <a16:creationId xmlns:a16="http://schemas.microsoft.com/office/drawing/2014/main" id="{30E90781-B0F0-0DCA-41BD-CFA357406A45}"/>
              </a:ext>
            </a:extLst>
          </p:cNvPr>
          <p:cNvSpPr/>
          <p:nvPr/>
        </p:nvSpPr>
        <p:spPr>
          <a:xfrm>
            <a:off x="227338" y="3060869"/>
            <a:ext cx="1389888" cy="274320"/>
          </a:xfrm>
          <a:prstGeom prst="rect">
            <a:avLst/>
          </a:prstGeom>
          <a:noFill/>
          <a:ln/>
        </p:spPr>
        <p:txBody>
          <a:bodyPr wrap="square" lIns="0" tIns="0" rIns="0" bIns="0" rtlCol="0" anchor="ctr"/>
          <a:lstStyle/>
          <a:p>
            <a:pPr marL="0" indent="0" algn="ctr">
              <a:buNone/>
            </a:pPr>
            <a:r>
              <a:rPr lang="en-US" sz="800" b="1" dirty="0">
                <a:solidFill>
                  <a:srgbClr val="0A1628"/>
                </a:solidFill>
              </a:rPr>
              <a:t>EXTRACT</a:t>
            </a:r>
            <a:endParaRPr lang="en-US" sz="800" dirty="0"/>
          </a:p>
        </p:txBody>
      </p:sp>
      <p:sp>
        <p:nvSpPr>
          <p:cNvPr id="89" name="Text 6">
            <a:extLst>
              <a:ext uri="{FF2B5EF4-FFF2-40B4-BE49-F238E27FC236}">
                <a16:creationId xmlns:a16="http://schemas.microsoft.com/office/drawing/2014/main" id="{22F8E24D-CCC1-736D-E8E1-155A7C1F23F9}"/>
              </a:ext>
            </a:extLst>
          </p:cNvPr>
          <p:cNvSpPr/>
          <p:nvPr/>
        </p:nvSpPr>
        <p:spPr>
          <a:xfrm>
            <a:off x="245626" y="3390053"/>
            <a:ext cx="1353312" cy="1280160"/>
          </a:xfrm>
          <a:prstGeom prst="rect">
            <a:avLst/>
          </a:prstGeom>
          <a:noFill/>
          <a:ln/>
        </p:spPr>
        <p:txBody>
          <a:bodyPr wrap="square" lIns="0" tIns="0" rIns="0" bIns="0" rtlCol="0" anchor="t"/>
          <a:lstStyle/>
          <a:p>
            <a:pPr marL="0" indent="0" algn="l">
              <a:buNone/>
            </a:pPr>
            <a:r>
              <a:rPr lang="en-US" sz="850" dirty="0">
                <a:solidFill>
                  <a:srgbClr val="B0BEC5"/>
                </a:solidFill>
              </a:rPr>
              <a:t>3 source datasets</a:t>
            </a:r>
            <a:endParaRPr lang="en-US" sz="850" dirty="0"/>
          </a:p>
          <a:p>
            <a:pPr marL="0" indent="0" algn="l">
              <a:buNone/>
            </a:pPr>
            <a:r>
              <a:rPr lang="en-US" sz="850" dirty="0">
                <a:solidFill>
                  <a:srgbClr val="B0BEC5"/>
                </a:solidFill>
              </a:rPr>
              <a:t>DS1, DS2, DS3</a:t>
            </a:r>
            <a:endParaRPr lang="en-US" sz="850" dirty="0"/>
          </a:p>
        </p:txBody>
      </p:sp>
      <p:sp>
        <p:nvSpPr>
          <p:cNvPr id="91" name="Shape 7">
            <a:extLst>
              <a:ext uri="{FF2B5EF4-FFF2-40B4-BE49-F238E27FC236}">
                <a16:creationId xmlns:a16="http://schemas.microsoft.com/office/drawing/2014/main" id="{A8F2C0A4-D9CC-FCA9-7DDB-48D873401935}"/>
              </a:ext>
            </a:extLst>
          </p:cNvPr>
          <p:cNvSpPr/>
          <p:nvPr/>
        </p:nvSpPr>
        <p:spPr>
          <a:xfrm>
            <a:off x="1745242" y="3728381"/>
            <a:ext cx="182880" cy="0"/>
          </a:xfrm>
          <a:prstGeom prst="line">
            <a:avLst/>
          </a:prstGeom>
          <a:noFill/>
          <a:ln w="19050">
            <a:solidFill>
              <a:srgbClr val="B0BEC5"/>
            </a:solidFill>
            <a:prstDash val="solid"/>
          </a:ln>
        </p:spPr>
        <p:txBody>
          <a:bodyPr/>
          <a:lstStyle/>
          <a:p>
            <a:endParaRPr lang="en-MY"/>
          </a:p>
        </p:txBody>
      </p:sp>
      <p:sp>
        <p:nvSpPr>
          <p:cNvPr id="93" name="Text 8">
            <a:extLst>
              <a:ext uri="{FF2B5EF4-FFF2-40B4-BE49-F238E27FC236}">
                <a16:creationId xmlns:a16="http://schemas.microsoft.com/office/drawing/2014/main" id="{F62FCD41-8B99-5C42-769A-CD50262A7423}"/>
              </a:ext>
            </a:extLst>
          </p:cNvPr>
          <p:cNvSpPr/>
          <p:nvPr/>
        </p:nvSpPr>
        <p:spPr>
          <a:xfrm>
            <a:off x="1854970" y="3618653"/>
            <a:ext cx="182880" cy="219456"/>
          </a:xfrm>
          <a:prstGeom prst="rect">
            <a:avLst/>
          </a:prstGeom>
          <a:noFill/>
          <a:ln/>
        </p:spPr>
        <p:txBody>
          <a:bodyPr wrap="square" lIns="0" tIns="0" rIns="0" bIns="0" rtlCol="0" anchor="ctr"/>
          <a:lstStyle/>
          <a:p>
            <a:pPr marL="0" indent="0" algn="ctr">
              <a:buNone/>
            </a:pPr>
            <a:r>
              <a:rPr lang="en-US" sz="1000" dirty="0">
                <a:solidFill>
                  <a:srgbClr val="B0BEC5"/>
                </a:solidFill>
              </a:rPr>
              <a:t>▶</a:t>
            </a:r>
            <a:endParaRPr lang="en-US" sz="1000" dirty="0"/>
          </a:p>
        </p:txBody>
      </p:sp>
      <p:sp>
        <p:nvSpPr>
          <p:cNvPr id="95" name="Shape 9">
            <a:extLst>
              <a:ext uri="{FF2B5EF4-FFF2-40B4-BE49-F238E27FC236}">
                <a16:creationId xmlns:a16="http://schemas.microsoft.com/office/drawing/2014/main" id="{2339BEC1-8390-4E88-0951-4E608D926423}"/>
              </a:ext>
            </a:extLst>
          </p:cNvPr>
          <p:cNvSpPr/>
          <p:nvPr/>
        </p:nvSpPr>
        <p:spPr>
          <a:xfrm>
            <a:off x="1964698" y="2969429"/>
            <a:ext cx="1572768" cy="1783080"/>
          </a:xfrm>
          <a:prstGeom prst="roundRect">
            <a:avLst>
              <a:gd name="adj" fmla="val 697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97" name="Shape 10">
            <a:extLst>
              <a:ext uri="{FF2B5EF4-FFF2-40B4-BE49-F238E27FC236}">
                <a16:creationId xmlns:a16="http://schemas.microsoft.com/office/drawing/2014/main" id="{B86F0D69-7CB0-A994-7FF6-E1E5892CC9AC}"/>
              </a:ext>
            </a:extLst>
          </p:cNvPr>
          <p:cNvSpPr/>
          <p:nvPr/>
        </p:nvSpPr>
        <p:spPr>
          <a:xfrm>
            <a:off x="2056138" y="3060869"/>
            <a:ext cx="1389888" cy="274320"/>
          </a:xfrm>
          <a:prstGeom prst="roundRect">
            <a:avLst>
              <a:gd name="adj" fmla="val 20000"/>
            </a:avLst>
          </a:prstGeom>
          <a:solidFill>
            <a:srgbClr val="FF6B35"/>
          </a:solidFill>
          <a:ln/>
        </p:spPr>
        <p:txBody>
          <a:bodyPr/>
          <a:lstStyle/>
          <a:p>
            <a:endParaRPr lang="en-MY"/>
          </a:p>
        </p:txBody>
      </p:sp>
      <p:sp>
        <p:nvSpPr>
          <p:cNvPr id="99" name="Text 11">
            <a:extLst>
              <a:ext uri="{FF2B5EF4-FFF2-40B4-BE49-F238E27FC236}">
                <a16:creationId xmlns:a16="http://schemas.microsoft.com/office/drawing/2014/main" id="{D0D7AB5E-CFF0-2B9D-020B-333FC2F7EED4}"/>
              </a:ext>
            </a:extLst>
          </p:cNvPr>
          <p:cNvSpPr/>
          <p:nvPr/>
        </p:nvSpPr>
        <p:spPr>
          <a:xfrm>
            <a:off x="2056138" y="3060869"/>
            <a:ext cx="1389888" cy="274320"/>
          </a:xfrm>
          <a:prstGeom prst="rect">
            <a:avLst/>
          </a:prstGeom>
          <a:noFill/>
          <a:ln/>
        </p:spPr>
        <p:txBody>
          <a:bodyPr wrap="square" lIns="0" tIns="0" rIns="0" bIns="0" rtlCol="0" anchor="ctr"/>
          <a:lstStyle/>
          <a:p>
            <a:pPr marL="0" indent="0" algn="ctr">
              <a:buNone/>
            </a:pPr>
            <a:r>
              <a:rPr lang="en-US" sz="800" b="1" dirty="0">
                <a:solidFill>
                  <a:srgbClr val="0A1628"/>
                </a:solidFill>
              </a:rPr>
              <a:t>TRANSFORM</a:t>
            </a:r>
            <a:endParaRPr lang="en-US" sz="800" dirty="0"/>
          </a:p>
          <a:p>
            <a:pPr marL="0" indent="0" algn="ctr">
              <a:buNone/>
            </a:pPr>
            <a:r>
              <a:rPr lang="en-US" sz="800" b="1" dirty="0">
                <a:solidFill>
                  <a:srgbClr val="0A1628"/>
                </a:solidFill>
              </a:rPr>
              <a:t>(Python ETL)</a:t>
            </a:r>
            <a:endParaRPr lang="en-US" sz="800" dirty="0"/>
          </a:p>
        </p:txBody>
      </p:sp>
      <p:sp>
        <p:nvSpPr>
          <p:cNvPr id="101" name="Text 12">
            <a:extLst>
              <a:ext uri="{FF2B5EF4-FFF2-40B4-BE49-F238E27FC236}">
                <a16:creationId xmlns:a16="http://schemas.microsoft.com/office/drawing/2014/main" id="{0C8BABB2-4CDF-50D0-BFE0-0FD4549ABB7F}"/>
              </a:ext>
            </a:extLst>
          </p:cNvPr>
          <p:cNvSpPr/>
          <p:nvPr/>
        </p:nvSpPr>
        <p:spPr>
          <a:xfrm>
            <a:off x="2074426" y="3390053"/>
            <a:ext cx="1353312" cy="1280160"/>
          </a:xfrm>
          <a:prstGeom prst="rect">
            <a:avLst/>
          </a:prstGeom>
          <a:noFill/>
          <a:ln/>
        </p:spPr>
        <p:txBody>
          <a:bodyPr wrap="square" lIns="0" tIns="0" rIns="0" bIns="0" rtlCol="0" anchor="t"/>
          <a:lstStyle/>
          <a:p>
            <a:pPr marL="0" indent="0" algn="l">
              <a:buNone/>
            </a:pPr>
            <a:r>
              <a:rPr lang="en-US" sz="850" dirty="0">
                <a:solidFill>
                  <a:srgbClr val="B0BEC5"/>
                </a:solidFill>
              </a:rPr>
              <a:t>Median imputation</a:t>
            </a:r>
            <a:endParaRPr lang="en-US" sz="850" dirty="0"/>
          </a:p>
          <a:p>
            <a:pPr marL="0" indent="0" algn="l">
              <a:buNone/>
            </a:pPr>
            <a:r>
              <a:rPr lang="en-US" sz="850" dirty="0">
                <a:solidFill>
                  <a:srgbClr val="B0BEC5"/>
                </a:solidFill>
              </a:rPr>
              <a:t>City standardisation</a:t>
            </a:r>
            <a:endParaRPr lang="en-US" sz="850" dirty="0"/>
          </a:p>
          <a:p>
            <a:pPr marL="0" indent="0" algn="l">
              <a:buNone/>
            </a:pPr>
            <a:r>
              <a:rPr lang="en-US" sz="850" dirty="0">
                <a:solidFill>
                  <a:srgbClr val="B0BEC5"/>
                </a:solidFill>
              </a:rPr>
              <a:t>Review categorisation</a:t>
            </a:r>
            <a:endParaRPr lang="en-US" sz="850" dirty="0"/>
          </a:p>
          <a:p>
            <a:pPr marL="0" indent="0" algn="l">
              <a:buNone/>
            </a:pPr>
            <a:r>
              <a:rPr lang="en-US" sz="850" dirty="0">
                <a:solidFill>
                  <a:srgbClr val="B0BEC5"/>
                </a:solidFill>
              </a:rPr>
              <a:t>Outlier handling</a:t>
            </a:r>
            <a:endParaRPr lang="en-US" sz="850" dirty="0"/>
          </a:p>
        </p:txBody>
      </p:sp>
      <p:sp>
        <p:nvSpPr>
          <p:cNvPr id="103" name="Shape 13">
            <a:extLst>
              <a:ext uri="{FF2B5EF4-FFF2-40B4-BE49-F238E27FC236}">
                <a16:creationId xmlns:a16="http://schemas.microsoft.com/office/drawing/2014/main" id="{AE1944C2-25DB-1719-B6AF-6D17E776540E}"/>
              </a:ext>
            </a:extLst>
          </p:cNvPr>
          <p:cNvSpPr/>
          <p:nvPr/>
        </p:nvSpPr>
        <p:spPr>
          <a:xfrm>
            <a:off x="3574042" y="3728381"/>
            <a:ext cx="182880" cy="0"/>
          </a:xfrm>
          <a:prstGeom prst="line">
            <a:avLst/>
          </a:prstGeom>
          <a:noFill/>
          <a:ln w="19050">
            <a:solidFill>
              <a:srgbClr val="B0BEC5"/>
            </a:solidFill>
            <a:prstDash val="solid"/>
          </a:ln>
        </p:spPr>
        <p:txBody>
          <a:bodyPr/>
          <a:lstStyle/>
          <a:p>
            <a:endParaRPr lang="en-MY"/>
          </a:p>
        </p:txBody>
      </p:sp>
      <p:sp>
        <p:nvSpPr>
          <p:cNvPr id="105" name="Text 14">
            <a:extLst>
              <a:ext uri="{FF2B5EF4-FFF2-40B4-BE49-F238E27FC236}">
                <a16:creationId xmlns:a16="http://schemas.microsoft.com/office/drawing/2014/main" id="{D6B64858-E366-2077-D62F-2FA5AFEE42A6}"/>
              </a:ext>
            </a:extLst>
          </p:cNvPr>
          <p:cNvSpPr/>
          <p:nvPr/>
        </p:nvSpPr>
        <p:spPr>
          <a:xfrm>
            <a:off x="3683770" y="3618653"/>
            <a:ext cx="182880" cy="219456"/>
          </a:xfrm>
          <a:prstGeom prst="rect">
            <a:avLst/>
          </a:prstGeom>
          <a:noFill/>
          <a:ln/>
        </p:spPr>
        <p:txBody>
          <a:bodyPr wrap="square" lIns="0" tIns="0" rIns="0" bIns="0" rtlCol="0" anchor="ctr"/>
          <a:lstStyle/>
          <a:p>
            <a:pPr marL="0" indent="0" algn="ctr">
              <a:buNone/>
            </a:pPr>
            <a:r>
              <a:rPr lang="en-US" sz="1000" dirty="0">
                <a:solidFill>
                  <a:srgbClr val="B0BEC5"/>
                </a:solidFill>
              </a:rPr>
              <a:t>▶</a:t>
            </a:r>
            <a:endParaRPr lang="en-US" sz="1000" dirty="0"/>
          </a:p>
        </p:txBody>
      </p:sp>
      <p:sp>
        <p:nvSpPr>
          <p:cNvPr id="107" name="Shape 15">
            <a:extLst>
              <a:ext uri="{FF2B5EF4-FFF2-40B4-BE49-F238E27FC236}">
                <a16:creationId xmlns:a16="http://schemas.microsoft.com/office/drawing/2014/main" id="{5F5B338F-8CF8-0671-EBFB-0A70204D96A7}"/>
              </a:ext>
            </a:extLst>
          </p:cNvPr>
          <p:cNvSpPr/>
          <p:nvPr/>
        </p:nvSpPr>
        <p:spPr>
          <a:xfrm>
            <a:off x="3793498" y="2969429"/>
            <a:ext cx="1572768" cy="1783080"/>
          </a:xfrm>
          <a:prstGeom prst="roundRect">
            <a:avLst>
              <a:gd name="adj" fmla="val 697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09" name="Shape 16">
            <a:extLst>
              <a:ext uri="{FF2B5EF4-FFF2-40B4-BE49-F238E27FC236}">
                <a16:creationId xmlns:a16="http://schemas.microsoft.com/office/drawing/2014/main" id="{F0AFA034-411A-3958-1970-9FC217C220B2}"/>
              </a:ext>
            </a:extLst>
          </p:cNvPr>
          <p:cNvSpPr/>
          <p:nvPr/>
        </p:nvSpPr>
        <p:spPr>
          <a:xfrm>
            <a:off x="3884938" y="3060869"/>
            <a:ext cx="1389888" cy="274320"/>
          </a:xfrm>
          <a:prstGeom prst="roundRect">
            <a:avLst>
              <a:gd name="adj" fmla="val 20000"/>
            </a:avLst>
          </a:prstGeom>
          <a:solidFill>
            <a:srgbClr val="4CAF50"/>
          </a:solidFill>
          <a:ln/>
        </p:spPr>
        <p:txBody>
          <a:bodyPr/>
          <a:lstStyle/>
          <a:p>
            <a:endParaRPr lang="en-MY"/>
          </a:p>
        </p:txBody>
      </p:sp>
      <p:sp>
        <p:nvSpPr>
          <p:cNvPr id="111" name="Text 17">
            <a:extLst>
              <a:ext uri="{FF2B5EF4-FFF2-40B4-BE49-F238E27FC236}">
                <a16:creationId xmlns:a16="http://schemas.microsoft.com/office/drawing/2014/main" id="{BC689FEB-B857-D65E-E892-5D60C07A513F}"/>
              </a:ext>
            </a:extLst>
          </p:cNvPr>
          <p:cNvSpPr/>
          <p:nvPr/>
        </p:nvSpPr>
        <p:spPr>
          <a:xfrm>
            <a:off x="3884938" y="3060869"/>
            <a:ext cx="1389888" cy="274320"/>
          </a:xfrm>
          <a:prstGeom prst="rect">
            <a:avLst/>
          </a:prstGeom>
          <a:noFill/>
          <a:ln/>
        </p:spPr>
        <p:txBody>
          <a:bodyPr wrap="square" lIns="0" tIns="0" rIns="0" bIns="0" rtlCol="0" anchor="ctr"/>
          <a:lstStyle/>
          <a:p>
            <a:pPr marL="0" indent="0" algn="ctr">
              <a:buNone/>
            </a:pPr>
            <a:r>
              <a:rPr lang="en-US" sz="800" b="1" dirty="0">
                <a:solidFill>
                  <a:srgbClr val="0A1628"/>
                </a:solidFill>
              </a:rPr>
              <a:t>LOAD</a:t>
            </a:r>
            <a:endParaRPr lang="en-US" sz="800" dirty="0"/>
          </a:p>
          <a:p>
            <a:pPr marL="0" indent="0" algn="ctr">
              <a:buNone/>
            </a:pPr>
            <a:r>
              <a:rPr lang="en-US" sz="800" b="1" dirty="0">
                <a:solidFill>
                  <a:srgbClr val="0A1628"/>
                </a:solidFill>
              </a:rPr>
              <a:t>CSV → Power BI</a:t>
            </a:r>
            <a:endParaRPr lang="en-US" sz="800" dirty="0"/>
          </a:p>
        </p:txBody>
      </p:sp>
      <p:sp>
        <p:nvSpPr>
          <p:cNvPr id="113" name="Text 18">
            <a:extLst>
              <a:ext uri="{FF2B5EF4-FFF2-40B4-BE49-F238E27FC236}">
                <a16:creationId xmlns:a16="http://schemas.microsoft.com/office/drawing/2014/main" id="{9134C9EB-A8E2-BBD7-C65B-D860A07EEF77}"/>
              </a:ext>
            </a:extLst>
          </p:cNvPr>
          <p:cNvSpPr/>
          <p:nvPr/>
        </p:nvSpPr>
        <p:spPr>
          <a:xfrm>
            <a:off x="3903226" y="3390053"/>
            <a:ext cx="1353312" cy="1280160"/>
          </a:xfrm>
          <a:prstGeom prst="rect">
            <a:avLst/>
          </a:prstGeom>
          <a:noFill/>
          <a:ln/>
        </p:spPr>
        <p:txBody>
          <a:bodyPr wrap="square" lIns="0" tIns="0" rIns="0" bIns="0" rtlCol="0" anchor="t"/>
          <a:lstStyle/>
          <a:p>
            <a:pPr marL="0" indent="0" algn="l">
              <a:buNone/>
            </a:pPr>
            <a:r>
              <a:rPr lang="en-US" sz="850" dirty="0">
                <a:solidFill>
                  <a:srgbClr val="B0BEC5"/>
                </a:solidFill>
              </a:rPr>
              <a:t>Validated CSV export</a:t>
            </a:r>
            <a:endParaRPr lang="en-US" sz="850" dirty="0"/>
          </a:p>
          <a:p>
            <a:pPr marL="0" indent="0" algn="l">
              <a:buNone/>
            </a:pPr>
            <a:r>
              <a:rPr lang="en-US" sz="850" dirty="0">
                <a:solidFill>
                  <a:srgbClr val="B0BEC5"/>
                </a:solidFill>
              </a:rPr>
              <a:t>Power Query final checks</a:t>
            </a:r>
            <a:endParaRPr lang="en-US" sz="850" dirty="0"/>
          </a:p>
          <a:p>
            <a:pPr marL="0" indent="0" algn="l">
              <a:buNone/>
            </a:pPr>
            <a:r>
              <a:rPr lang="en-US" sz="850" dirty="0">
                <a:solidFill>
                  <a:srgbClr val="B0BEC5"/>
                </a:solidFill>
              </a:rPr>
              <a:t>Date Dimension Tables</a:t>
            </a:r>
            <a:endParaRPr lang="en-US" sz="850" dirty="0"/>
          </a:p>
        </p:txBody>
      </p:sp>
      <p:sp>
        <p:nvSpPr>
          <p:cNvPr id="115" name="Shape 19">
            <a:extLst>
              <a:ext uri="{FF2B5EF4-FFF2-40B4-BE49-F238E27FC236}">
                <a16:creationId xmlns:a16="http://schemas.microsoft.com/office/drawing/2014/main" id="{09305C5D-4CE5-0335-898B-A2D145AC5DE0}"/>
              </a:ext>
            </a:extLst>
          </p:cNvPr>
          <p:cNvSpPr/>
          <p:nvPr/>
        </p:nvSpPr>
        <p:spPr>
          <a:xfrm>
            <a:off x="5402842" y="3728381"/>
            <a:ext cx="182880" cy="0"/>
          </a:xfrm>
          <a:prstGeom prst="line">
            <a:avLst/>
          </a:prstGeom>
          <a:noFill/>
          <a:ln w="19050">
            <a:solidFill>
              <a:srgbClr val="B0BEC5"/>
            </a:solidFill>
            <a:prstDash val="solid"/>
          </a:ln>
        </p:spPr>
        <p:txBody>
          <a:bodyPr/>
          <a:lstStyle/>
          <a:p>
            <a:endParaRPr lang="en-MY"/>
          </a:p>
        </p:txBody>
      </p:sp>
      <p:sp>
        <p:nvSpPr>
          <p:cNvPr id="117" name="Text 20">
            <a:extLst>
              <a:ext uri="{FF2B5EF4-FFF2-40B4-BE49-F238E27FC236}">
                <a16:creationId xmlns:a16="http://schemas.microsoft.com/office/drawing/2014/main" id="{972CA024-EE3E-E344-9BF7-765A6DC1CE5E}"/>
              </a:ext>
            </a:extLst>
          </p:cNvPr>
          <p:cNvSpPr/>
          <p:nvPr/>
        </p:nvSpPr>
        <p:spPr>
          <a:xfrm>
            <a:off x="5512570" y="3618653"/>
            <a:ext cx="182880" cy="219456"/>
          </a:xfrm>
          <a:prstGeom prst="rect">
            <a:avLst/>
          </a:prstGeom>
          <a:noFill/>
          <a:ln/>
        </p:spPr>
        <p:txBody>
          <a:bodyPr wrap="square" lIns="0" tIns="0" rIns="0" bIns="0" rtlCol="0" anchor="ctr"/>
          <a:lstStyle/>
          <a:p>
            <a:pPr marL="0" indent="0" algn="ctr">
              <a:buNone/>
            </a:pPr>
            <a:r>
              <a:rPr lang="en-US" sz="1000" dirty="0">
                <a:solidFill>
                  <a:srgbClr val="B0BEC5"/>
                </a:solidFill>
              </a:rPr>
              <a:t>▶</a:t>
            </a:r>
            <a:endParaRPr lang="en-US" sz="1000" dirty="0"/>
          </a:p>
        </p:txBody>
      </p:sp>
      <p:sp>
        <p:nvSpPr>
          <p:cNvPr id="119" name="Shape 21">
            <a:extLst>
              <a:ext uri="{FF2B5EF4-FFF2-40B4-BE49-F238E27FC236}">
                <a16:creationId xmlns:a16="http://schemas.microsoft.com/office/drawing/2014/main" id="{5D20FB17-0544-6447-297E-E6CEB2A8538D}"/>
              </a:ext>
            </a:extLst>
          </p:cNvPr>
          <p:cNvSpPr/>
          <p:nvPr/>
        </p:nvSpPr>
        <p:spPr>
          <a:xfrm>
            <a:off x="5622298" y="2969429"/>
            <a:ext cx="1572768" cy="1783080"/>
          </a:xfrm>
          <a:prstGeom prst="roundRect">
            <a:avLst>
              <a:gd name="adj" fmla="val 697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21" name="Shape 22">
            <a:extLst>
              <a:ext uri="{FF2B5EF4-FFF2-40B4-BE49-F238E27FC236}">
                <a16:creationId xmlns:a16="http://schemas.microsoft.com/office/drawing/2014/main" id="{1000FCEA-6167-22E1-69EC-8C35C753A4C9}"/>
              </a:ext>
            </a:extLst>
          </p:cNvPr>
          <p:cNvSpPr/>
          <p:nvPr/>
        </p:nvSpPr>
        <p:spPr>
          <a:xfrm>
            <a:off x="5713738" y="3060869"/>
            <a:ext cx="1389888" cy="274320"/>
          </a:xfrm>
          <a:prstGeom prst="roundRect">
            <a:avLst>
              <a:gd name="adj" fmla="val 20000"/>
            </a:avLst>
          </a:prstGeom>
          <a:solidFill>
            <a:srgbClr val="9C27B0"/>
          </a:solidFill>
          <a:ln/>
        </p:spPr>
        <p:txBody>
          <a:bodyPr/>
          <a:lstStyle/>
          <a:p>
            <a:endParaRPr lang="en-MY"/>
          </a:p>
        </p:txBody>
      </p:sp>
      <p:sp>
        <p:nvSpPr>
          <p:cNvPr id="123" name="Text 23">
            <a:extLst>
              <a:ext uri="{FF2B5EF4-FFF2-40B4-BE49-F238E27FC236}">
                <a16:creationId xmlns:a16="http://schemas.microsoft.com/office/drawing/2014/main" id="{13106E66-E77C-E31F-222F-C2008653F614}"/>
              </a:ext>
            </a:extLst>
          </p:cNvPr>
          <p:cNvSpPr/>
          <p:nvPr/>
        </p:nvSpPr>
        <p:spPr>
          <a:xfrm>
            <a:off x="5713738" y="3060869"/>
            <a:ext cx="1389888" cy="274320"/>
          </a:xfrm>
          <a:prstGeom prst="rect">
            <a:avLst/>
          </a:prstGeom>
          <a:noFill/>
          <a:ln/>
        </p:spPr>
        <p:txBody>
          <a:bodyPr wrap="square" lIns="0" tIns="0" rIns="0" bIns="0" rtlCol="0" anchor="ctr"/>
          <a:lstStyle/>
          <a:p>
            <a:pPr marL="0" indent="0" algn="ctr">
              <a:buNone/>
            </a:pPr>
            <a:r>
              <a:rPr lang="en-US" sz="800" b="1" dirty="0">
                <a:solidFill>
                  <a:srgbClr val="0A1628"/>
                </a:solidFill>
              </a:rPr>
              <a:t>TRANSFORM</a:t>
            </a:r>
            <a:endParaRPr lang="en-US" sz="800" dirty="0"/>
          </a:p>
          <a:p>
            <a:pPr marL="0" indent="0" algn="ctr">
              <a:buNone/>
            </a:pPr>
            <a:r>
              <a:rPr lang="en-US" sz="800" b="1" dirty="0">
                <a:solidFill>
                  <a:srgbClr val="0A1628"/>
                </a:solidFill>
              </a:rPr>
              <a:t>(ELT in PBI)</a:t>
            </a:r>
            <a:endParaRPr lang="en-US" sz="800" dirty="0"/>
          </a:p>
        </p:txBody>
      </p:sp>
      <p:sp>
        <p:nvSpPr>
          <p:cNvPr id="125" name="Text 24">
            <a:extLst>
              <a:ext uri="{FF2B5EF4-FFF2-40B4-BE49-F238E27FC236}">
                <a16:creationId xmlns:a16="http://schemas.microsoft.com/office/drawing/2014/main" id="{79E94018-6807-19C3-28B6-CC17BA774B6B}"/>
              </a:ext>
            </a:extLst>
          </p:cNvPr>
          <p:cNvSpPr/>
          <p:nvPr/>
        </p:nvSpPr>
        <p:spPr>
          <a:xfrm>
            <a:off x="5732026" y="3390053"/>
            <a:ext cx="1353312" cy="1280160"/>
          </a:xfrm>
          <a:prstGeom prst="rect">
            <a:avLst/>
          </a:prstGeom>
          <a:noFill/>
          <a:ln/>
        </p:spPr>
        <p:txBody>
          <a:bodyPr wrap="square" lIns="0" tIns="0" rIns="0" bIns="0" rtlCol="0" anchor="t"/>
          <a:lstStyle/>
          <a:p>
            <a:pPr marL="0" indent="0" algn="l">
              <a:buNone/>
            </a:pPr>
            <a:r>
              <a:rPr lang="en-US" sz="850" dirty="0">
                <a:solidFill>
                  <a:srgbClr val="B0BEC5"/>
                </a:solidFill>
              </a:rPr>
              <a:t>Calculated columns</a:t>
            </a:r>
            <a:endParaRPr lang="en-US" sz="850" dirty="0"/>
          </a:p>
          <a:p>
            <a:pPr marL="0" indent="0" algn="l">
              <a:buNone/>
            </a:pPr>
            <a:r>
              <a:rPr lang="en-US" sz="850" dirty="0">
                <a:solidFill>
                  <a:srgbClr val="B0BEC5"/>
                </a:solidFill>
              </a:rPr>
              <a:t>DAX measures</a:t>
            </a:r>
            <a:endParaRPr lang="en-US" sz="850" dirty="0"/>
          </a:p>
          <a:p>
            <a:pPr marL="0" indent="0" algn="l">
              <a:buNone/>
            </a:pPr>
            <a:r>
              <a:rPr lang="en-US" sz="850" dirty="0">
                <a:solidFill>
                  <a:srgbClr val="B0BEC5"/>
                </a:solidFill>
              </a:rPr>
              <a:t>KPI computation</a:t>
            </a:r>
            <a:endParaRPr lang="en-US" sz="850" dirty="0"/>
          </a:p>
        </p:txBody>
      </p:sp>
      <p:sp>
        <p:nvSpPr>
          <p:cNvPr id="127" name="Shape 25">
            <a:extLst>
              <a:ext uri="{FF2B5EF4-FFF2-40B4-BE49-F238E27FC236}">
                <a16:creationId xmlns:a16="http://schemas.microsoft.com/office/drawing/2014/main" id="{5974AABD-FC3E-44CA-CF2F-A7614325D49D}"/>
              </a:ext>
            </a:extLst>
          </p:cNvPr>
          <p:cNvSpPr/>
          <p:nvPr/>
        </p:nvSpPr>
        <p:spPr>
          <a:xfrm>
            <a:off x="7231642" y="3728381"/>
            <a:ext cx="182880" cy="0"/>
          </a:xfrm>
          <a:prstGeom prst="line">
            <a:avLst/>
          </a:prstGeom>
          <a:noFill/>
          <a:ln w="19050">
            <a:solidFill>
              <a:srgbClr val="B0BEC5"/>
            </a:solidFill>
            <a:prstDash val="solid"/>
          </a:ln>
        </p:spPr>
        <p:txBody>
          <a:bodyPr/>
          <a:lstStyle/>
          <a:p>
            <a:endParaRPr lang="en-MY"/>
          </a:p>
        </p:txBody>
      </p:sp>
      <p:sp>
        <p:nvSpPr>
          <p:cNvPr id="129" name="Text 26">
            <a:extLst>
              <a:ext uri="{FF2B5EF4-FFF2-40B4-BE49-F238E27FC236}">
                <a16:creationId xmlns:a16="http://schemas.microsoft.com/office/drawing/2014/main" id="{60560E18-22A5-F7D1-F22A-350558BE1299}"/>
              </a:ext>
            </a:extLst>
          </p:cNvPr>
          <p:cNvSpPr/>
          <p:nvPr/>
        </p:nvSpPr>
        <p:spPr>
          <a:xfrm>
            <a:off x="7341370" y="3618653"/>
            <a:ext cx="182880" cy="219456"/>
          </a:xfrm>
          <a:prstGeom prst="rect">
            <a:avLst/>
          </a:prstGeom>
          <a:noFill/>
          <a:ln/>
        </p:spPr>
        <p:txBody>
          <a:bodyPr wrap="square" lIns="0" tIns="0" rIns="0" bIns="0" rtlCol="0" anchor="ctr"/>
          <a:lstStyle/>
          <a:p>
            <a:pPr marL="0" indent="0" algn="ctr">
              <a:buNone/>
            </a:pPr>
            <a:r>
              <a:rPr lang="en-US" sz="1000" dirty="0">
                <a:solidFill>
                  <a:srgbClr val="B0BEC5"/>
                </a:solidFill>
              </a:rPr>
              <a:t>▶</a:t>
            </a:r>
            <a:endParaRPr lang="en-US" sz="1000" dirty="0"/>
          </a:p>
        </p:txBody>
      </p:sp>
      <p:sp>
        <p:nvSpPr>
          <p:cNvPr id="131" name="Shape 27">
            <a:extLst>
              <a:ext uri="{FF2B5EF4-FFF2-40B4-BE49-F238E27FC236}">
                <a16:creationId xmlns:a16="http://schemas.microsoft.com/office/drawing/2014/main" id="{77A8C329-8B15-1D6E-63FB-92874C7399EB}"/>
              </a:ext>
            </a:extLst>
          </p:cNvPr>
          <p:cNvSpPr/>
          <p:nvPr/>
        </p:nvSpPr>
        <p:spPr>
          <a:xfrm>
            <a:off x="7451098" y="2969429"/>
            <a:ext cx="1572768" cy="1783080"/>
          </a:xfrm>
          <a:prstGeom prst="roundRect">
            <a:avLst>
              <a:gd name="adj" fmla="val 697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33" name="Shape 28">
            <a:extLst>
              <a:ext uri="{FF2B5EF4-FFF2-40B4-BE49-F238E27FC236}">
                <a16:creationId xmlns:a16="http://schemas.microsoft.com/office/drawing/2014/main" id="{FC440265-0848-6BEF-2C5C-AC1F71FD05BA}"/>
              </a:ext>
            </a:extLst>
          </p:cNvPr>
          <p:cNvSpPr/>
          <p:nvPr/>
        </p:nvSpPr>
        <p:spPr>
          <a:xfrm>
            <a:off x="7542538" y="3060869"/>
            <a:ext cx="1389888" cy="274320"/>
          </a:xfrm>
          <a:prstGeom prst="roundRect">
            <a:avLst>
              <a:gd name="adj" fmla="val 20000"/>
            </a:avLst>
          </a:prstGeom>
          <a:solidFill>
            <a:srgbClr val="FFC107"/>
          </a:solidFill>
          <a:ln/>
        </p:spPr>
        <p:txBody>
          <a:bodyPr/>
          <a:lstStyle/>
          <a:p>
            <a:endParaRPr lang="en-MY"/>
          </a:p>
        </p:txBody>
      </p:sp>
      <p:sp>
        <p:nvSpPr>
          <p:cNvPr id="135" name="Text 29">
            <a:extLst>
              <a:ext uri="{FF2B5EF4-FFF2-40B4-BE49-F238E27FC236}">
                <a16:creationId xmlns:a16="http://schemas.microsoft.com/office/drawing/2014/main" id="{CB74C915-B7FF-615F-BCD2-54DAD92072B9}"/>
              </a:ext>
            </a:extLst>
          </p:cNvPr>
          <p:cNvSpPr/>
          <p:nvPr/>
        </p:nvSpPr>
        <p:spPr>
          <a:xfrm>
            <a:off x="7542538" y="3060869"/>
            <a:ext cx="1389888" cy="274320"/>
          </a:xfrm>
          <a:prstGeom prst="rect">
            <a:avLst/>
          </a:prstGeom>
          <a:noFill/>
          <a:ln/>
        </p:spPr>
        <p:txBody>
          <a:bodyPr wrap="square" lIns="0" tIns="0" rIns="0" bIns="0" rtlCol="0" anchor="ctr"/>
          <a:lstStyle/>
          <a:p>
            <a:pPr marL="0" indent="0" algn="ctr">
              <a:buNone/>
            </a:pPr>
            <a:r>
              <a:rPr lang="en-US" sz="800" b="1" dirty="0">
                <a:solidFill>
                  <a:srgbClr val="0A1628"/>
                </a:solidFill>
              </a:rPr>
              <a:t>DASHBOARDS</a:t>
            </a:r>
            <a:endParaRPr lang="en-US" sz="800" dirty="0"/>
          </a:p>
        </p:txBody>
      </p:sp>
      <p:sp>
        <p:nvSpPr>
          <p:cNvPr id="137" name="Text 30">
            <a:extLst>
              <a:ext uri="{FF2B5EF4-FFF2-40B4-BE49-F238E27FC236}">
                <a16:creationId xmlns:a16="http://schemas.microsoft.com/office/drawing/2014/main" id="{3E6220F9-377A-8873-0E8F-B0FA2888E4F1}"/>
              </a:ext>
            </a:extLst>
          </p:cNvPr>
          <p:cNvSpPr/>
          <p:nvPr/>
        </p:nvSpPr>
        <p:spPr>
          <a:xfrm>
            <a:off x="7560826" y="3390053"/>
            <a:ext cx="1353312" cy="1280160"/>
          </a:xfrm>
          <a:prstGeom prst="rect">
            <a:avLst/>
          </a:prstGeom>
          <a:noFill/>
          <a:ln/>
        </p:spPr>
        <p:txBody>
          <a:bodyPr wrap="square" lIns="0" tIns="0" rIns="0" bIns="0" rtlCol="0" anchor="t"/>
          <a:lstStyle/>
          <a:p>
            <a:pPr marL="0" indent="0" algn="l">
              <a:buNone/>
            </a:pPr>
            <a:r>
              <a:rPr lang="en-US" sz="850" dirty="0">
                <a:solidFill>
                  <a:srgbClr val="B0BEC5"/>
                </a:solidFill>
              </a:rPr>
              <a:t>4 interactive</a:t>
            </a:r>
            <a:r>
              <a:rPr lang="en-US" sz="850" dirty="0"/>
              <a:t> </a:t>
            </a:r>
            <a:r>
              <a:rPr lang="en-US" sz="850" dirty="0">
                <a:solidFill>
                  <a:srgbClr val="B0BEC5"/>
                </a:solidFill>
              </a:rPr>
              <a:t>reports</a:t>
            </a:r>
            <a:endParaRPr lang="en-US" sz="850" dirty="0"/>
          </a:p>
        </p:txBody>
      </p:sp>
      <p:sp>
        <p:nvSpPr>
          <p:cNvPr id="155" name="Shape 31">
            <a:extLst>
              <a:ext uri="{FF2B5EF4-FFF2-40B4-BE49-F238E27FC236}">
                <a16:creationId xmlns:a16="http://schemas.microsoft.com/office/drawing/2014/main" id="{365ED916-8953-506C-5919-C659C8E7B471}"/>
              </a:ext>
            </a:extLst>
          </p:cNvPr>
          <p:cNvSpPr/>
          <p:nvPr/>
        </p:nvSpPr>
        <p:spPr>
          <a:xfrm>
            <a:off x="226392" y="1820283"/>
            <a:ext cx="8689008" cy="982820"/>
          </a:xfrm>
          <a:prstGeom prst="roundRect">
            <a:avLst>
              <a:gd name="adj" fmla="val 7895"/>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59" name="Text 33">
            <a:extLst>
              <a:ext uri="{FF2B5EF4-FFF2-40B4-BE49-F238E27FC236}">
                <a16:creationId xmlns:a16="http://schemas.microsoft.com/office/drawing/2014/main" id="{D53CEE17-1F6D-DC04-C2B6-47EADDDA53BA}"/>
              </a:ext>
            </a:extLst>
          </p:cNvPr>
          <p:cNvSpPr/>
          <p:nvPr/>
        </p:nvSpPr>
        <p:spPr>
          <a:xfrm>
            <a:off x="477696" y="1933488"/>
            <a:ext cx="2651760" cy="256032"/>
          </a:xfrm>
          <a:prstGeom prst="rect">
            <a:avLst/>
          </a:prstGeom>
          <a:noFill/>
          <a:ln/>
        </p:spPr>
        <p:txBody>
          <a:bodyPr wrap="square" lIns="0" tIns="0" rIns="0" bIns="0" rtlCol="0" anchor="ctr"/>
          <a:lstStyle/>
          <a:p>
            <a:pPr marL="0" indent="0">
              <a:buNone/>
            </a:pPr>
            <a:r>
              <a:rPr lang="en-US" sz="950" b="1" dirty="0">
                <a:solidFill>
                  <a:srgbClr val="00BCD4"/>
                </a:solidFill>
              </a:rPr>
              <a:t>Data Quality (ETL): </a:t>
            </a:r>
            <a:endParaRPr lang="en-US" sz="950" dirty="0"/>
          </a:p>
        </p:txBody>
      </p:sp>
      <p:sp>
        <p:nvSpPr>
          <p:cNvPr id="161" name="Text 34">
            <a:extLst>
              <a:ext uri="{FF2B5EF4-FFF2-40B4-BE49-F238E27FC236}">
                <a16:creationId xmlns:a16="http://schemas.microsoft.com/office/drawing/2014/main" id="{F0D65504-ECE5-DACB-A605-A3A5615EACA5}"/>
              </a:ext>
            </a:extLst>
          </p:cNvPr>
          <p:cNvSpPr/>
          <p:nvPr/>
        </p:nvSpPr>
        <p:spPr>
          <a:xfrm>
            <a:off x="477696" y="2189520"/>
            <a:ext cx="2651760" cy="621792"/>
          </a:xfrm>
          <a:prstGeom prst="rect">
            <a:avLst/>
          </a:prstGeom>
          <a:noFill/>
          <a:ln/>
        </p:spPr>
        <p:txBody>
          <a:bodyPr wrap="square" lIns="0" tIns="0" rIns="0" bIns="0" rtlCol="0" anchor="t"/>
          <a:lstStyle/>
          <a:p>
            <a:pPr marL="0" indent="0">
              <a:buNone/>
            </a:pPr>
            <a:r>
              <a:rPr lang="en-US" sz="850" dirty="0">
                <a:solidFill>
                  <a:srgbClr val="B0BEC5"/>
                </a:solidFill>
              </a:rPr>
              <a:t>Python resolves missing values, inconsistencies and outliers before loading — ensuring KPIs are computed on clean data</a:t>
            </a:r>
            <a:endParaRPr lang="en-US" sz="850" dirty="0"/>
          </a:p>
        </p:txBody>
      </p:sp>
      <p:sp>
        <p:nvSpPr>
          <p:cNvPr id="163" name="Text 35">
            <a:extLst>
              <a:ext uri="{FF2B5EF4-FFF2-40B4-BE49-F238E27FC236}">
                <a16:creationId xmlns:a16="http://schemas.microsoft.com/office/drawing/2014/main" id="{37CDADA8-1D69-A487-B580-6FCC8742778F}"/>
              </a:ext>
            </a:extLst>
          </p:cNvPr>
          <p:cNvSpPr/>
          <p:nvPr/>
        </p:nvSpPr>
        <p:spPr>
          <a:xfrm>
            <a:off x="3312336" y="1933488"/>
            <a:ext cx="2651760" cy="256032"/>
          </a:xfrm>
          <a:prstGeom prst="rect">
            <a:avLst/>
          </a:prstGeom>
          <a:noFill/>
          <a:ln/>
        </p:spPr>
        <p:txBody>
          <a:bodyPr wrap="square" lIns="0" tIns="0" rIns="0" bIns="0" rtlCol="0" anchor="ctr"/>
          <a:lstStyle/>
          <a:p>
            <a:pPr marL="0" indent="0">
              <a:buNone/>
            </a:pPr>
            <a:r>
              <a:rPr lang="en-US" sz="950" b="1" dirty="0">
                <a:solidFill>
                  <a:srgbClr val="FF6B35"/>
                </a:solidFill>
              </a:rPr>
              <a:t>Flexibility (ELT): </a:t>
            </a:r>
            <a:endParaRPr lang="en-US" sz="950" dirty="0"/>
          </a:p>
        </p:txBody>
      </p:sp>
      <p:sp>
        <p:nvSpPr>
          <p:cNvPr id="165" name="Text 36">
            <a:extLst>
              <a:ext uri="{FF2B5EF4-FFF2-40B4-BE49-F238E27FC236}">
                <a16:creationId xmlns:a16="http://schemas.microsoft.com/office/drawing/2014/main" id="{B251E55B-DDC8-5F48-CA44-3AB833C3BA08}"/>
              </a:ext>
            </a:extLst>
          </p:cNvPr>
          <p:cNvSpPr/>
          <p:nvPr/>
        </p:nvSpPr>
        <p:spPr>
          <a:xfrm>
            <a:off x="3312336" y="2189520"/>
            <a:ext cx="2651760" cy="621792"/>
          </a:xfrm>
          <a:prstGeom prst="rect">
            <a:avLst/>
          </a:prstGeom>
          <a:noFill/>
          <a:ln/>
        </p:spPr>
        <p:txBody>
          <a:bodyPr wrap="square" lIns="0" tIns="0" rIns="0" bIns="0" rtlCol="0" anchor="t"/>
          <a:lstStyle/>
          <a:p>
            <a:pPr marL="0" indent="0">
              <a:buNone/>
            </a:pPr>
            <a:r>
              <a:rPr lang="en-US" sz="850" dirty="0">
                <a:solidFill>
                  <a:srgbClr val="B0BEC5"/>
                </a:solidFill>
              </a:rPr>
              <a:t>Power BI DAX measures recalculate dynamically when filters/slicers change — enabling exploratory analysis without re-running Python</a:t>
            </a:r>
            <a:endParaRPr lang="en-US" sz="850" dirty="0"/>
          </a:p>
        </p:txBody>
      </p:sp>
      <p:sp>
        <p:nvSpPr>
          <p:cNvPr id="167" name="Text 37">
            <a:extLst>
              <a:ext uri="{FF2B5EF4-FFF2-40B4-BE49-F238E27FC236}">
                <a16:creationId xmlns:a16="http://schemas.microsoft.com/office/drawing/2014/main" id="{A9F0AE7B-389D-E605-2D36-0CA059BCB103}"/>
              </a:ext>
            </a:extLst>
          </p:cNvPr>
          <p:cNvSpPr/>
          <p:nvPr/>
        </p:nvSpPr>
        <p:spPr>
          <a:xfrm>
            <a:off x="6146976" y="1933488"/>
            <a:ext cx="2651760" cy="256032"/>
          </a:xfrm>
          <a:prstGeom prst="rect">
            <a:avLst/>
          </a:prstGeom>
          <a:noFill/>
          <a:ln/>
        </p:spPr>
        <p:txBody>
          <a:bodyPr wrap="square" lIns="0" tIns="0" rIns="0" bIns="0" rtlCol="0" anchor="ctr"/>
          <a:lstStyle/>
          <a:p>
            <a:pPr marL="0" indent="0">
              <a:buNone/>
            </a:pPr>
            <a:r>
              <a:rPr lang="en-US" sz="950" b="1" dirty="0">
                <a:solidFill>
                  <a:srgbClr val="4CAF50"/>
                </a:solidFill>
              </a:rPr>
              <a:t>Best of Both: </a:t>
            </a:r>
            <a:endParaRPr lang="en-US" sz="950" dirty="0"/>
          </a:p>
        </p:txBody>
      </p:sp>
      <p:sp>
        <p:nvSpPr>
          <p:cNvPr id="169" name="Text 38">
            <a:extLst>
              <a:ext uri="{FF2B5EF4-FFF2-40B4-BE49-F238E27FC236}">
                <a16:creationId xmlns:a16="http://schemas.microsoft.com/office/drawing/2014/main" id="{7F562D72-6F9C-8D8B-8180-2130868C9BB0}"/>
              </a:ext>
            </a:extLst>
          </p:cNvPr>
          <p:cNvSpPr/>
          <p:nvPr/>
        </p:nvSpPr>
        <p:spPr>
          <a:xfrm>
            <a:off x="6146976" y="2189520"/>
            <a:ext cx="2651760" cy="621792"/>
          </a:xfrm>
          <a:prstGeom prst="rect">
            <a:avLst/>
          </a:prstGeom>
          <a:noFill/>
          <a:ln/>
        </p:spPr>
        <p:txBody>
          <a:bodyPr wrap="square" lIns="0" tIns="0" rIns="0" bIns="0" rtlCol="0" anchor="t"/>
          <a:lstStyle/>
          <a:p>
            <a:pPr marL="0" indent="0">
              <a:buNone/>
            </a:pPr>
            <a:r>
              <a:rPr lang="en-US" sz="850" dirty="0">
                <a:solidFill>
                  <a:srgbClr val="B0BEC5"/>
                </a:solidFill>
              </a:rPr>
              <a:t>Pure ETL = inflexible. Pure ELT = dirty data risk. Hybrid balances quality assurance with dashboard interactivity</a:t>
            </a:r>
            <a:endParaRPr lang="en-US" sz="850" dirty="0"/>
          </a:p>
        </p:txBody>
      </p:sp>
    </p:spTree>
    <p:extLst>
      <p:ext uri="{BB962C8B-B14F-4D97-AF65-F5344CB8AC3E}">
        <p14:creationId xmlns:p14="http://schemas.microsoft.com/office/powerpoint/2010/main" val="1318766157"/>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a:extLst>
            <a:ext uri="{FF2B5EF4-FFF2-40B4-BE49-F238E27FC236}">
              <a16:creationId xmlns:a16="http://schemas.microsoft.com/office/drawing/2014/main" id="{90453C99-A0B0-039D-33D0-4EEDE09FD38B}"/>
            </a:ext>
          </a:extLst>
        </p:cNvPr>
        <p:cNvGrpSpPr/>
        <p:nvPr/>
      </p:nvGrpSpPr>
      <p:grpSpPr>
        <a:xfrm>
          <a:off x="0" y="0"/>
          <a:ext cx="0" cy="0"/>
          <a:chOff x="0" y="0"/>
          <a:chExt cx="0" cy="0"/>
        </a:xfrm>
      </p:grpSpPr>
      <p:sp>
        <p:nvSpPr>
          <p:cNvPr id="87" name="Shape 28">
            <a:extLst>
              <a:ext uri="{FF2B5EF4-FFF2-40B4-BE49-F238E27FC236}">
                <a16:creationId xmlns:a16="http://schemas.microsoft.com/office/drawing/2014/main" id="{9CEF4B5B-983F-ACAC-CD7E-993A74892108}"/>
              </a:ext>
            </a:extLst>
          </p:cNvPr>
          <p:cNvSpPr/>
          <p:nvPr/>
        </p:nvSpPr>
        <p:spPr>
          <a:xfrm>
            <a:off x="7672901" y="3767374"/>
            <a:ext cx="1321405" cy="1234440"/>
          </a:xfrm>
          <a:prstGeom prst="roundRect">
            <a:avLst>
              <a:gd name="adj" fmla="val 8889"/>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dirty="0"/>
          </a:p>
        </p:txBody>
      </p:sp>
      <p:sp>
        <p:nvSpPr>
          <p:cNvPr id="83" name="Shape 28">
            <a:extLst>
              <a:ext uri="{FF2B5EF4-FFF2-40B4-BE49-F238E27FC236}">
                <a16:creationId xmlns:a16="http://schemas.microsoft.com/office/drawing/2014/main" id="{3C22E603-CDA5-651E-F307-C291741D59D0}"/>
              </a:ext>
            </a:extLst>
          </p:cNvPr>
          <p:cNvSpPr/>
          <p:nvPr/>
        </p:nvSpPr>
        <p:spPr>
          <a:xfrm>
            <a:off x="6246661" y="3767374"/>
            <a:ext cx="1321405" cy="1234440"/>
          </a:xfrm>
          <a:prstGeom prst="roundRect">
            <a:avLst>
              <a:gd name="adj" fmla="val 8889"/>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dirty="0"/>
          </a:p>
        </p:txBody>
      </p:sp>
      <p:sp>
        <p:nvSpPr>
          <p:cNvPr id="2" name="Shape 0">
            <a:extLst>
              <a:ext uri="{FF2B5EF4-FFF2-40B4-BE49-F238E27FC236}">
                <a16:creationId xmlns:a16="http://schemas.microsoft.com/office/drawing/2014/main" id="{703FAFB7-0545-EC8D-42D5-5825A12AF0F1}"/>
              </a:ext>
            </a:extLst>
          </p:cNvPr>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a:extLst>
              <a:ext uri="{FF2B5EF4-FFF2-40B4-BE49-F238E27FC236}">
                <a16:creationId xmlns:a16="http://schemas.microsoft.com/office/drawing/2014/main" id="{1133E3B0-CA00-7216-DF9A-515A686F8DF4}"/>
              </a:ext>
            </a:extLst>
          </p:cNvPr>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7" name="Text 5">
            <a:extLst>
              <a:ext uri="{FF2B5EF4-FFF2-40B4-BE49-F238E27FC236}">
                <a16:creationId xmlns:a16="http://schemas.microsoft.com/office/drawing/2014/main" id="{C6F450A9-F762-01FB-FDAD-9F34B96A1089}"/>
              </a:ext>
            </a:extLst>
          </p:cNvPr>
          <p:cNvSpPr/>
          <p:nvPr/>
        </p:nvSpPr>
        <p:spPr>
          <a:xfrm>
            <a:off x="1063767" y="219075"/>
            <a:ext cx="7360920" cy="438912"/>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Business Objective 1 – Sales &amp; Revenue</a:t>
            </a:r>
            <a:endParaRPr lang="en-US" sz="2800" dirty="0"/>
          </a:p>
        </p:txBody>
      </p:sp>
      <p:pic>
        <p:nvPicPr>
          <p:cNvPr id="54" name="Picture 53">
            <a:extLst>
              <a:ext uri="{FF2B5EF4-FFF2-40B4-BE49-F238E27FC236}">
                <a16:creationId xmlns:a16="http://schemas.microsoft.com/office/drawing/2014/main" id="{2352DB57-1B75-6223-50CD-F2902ABB8CC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ACB3A607-9C57-910C-9EB6-63A90B84DAC0}"/>
                  </a:ext>
                </a:extLst>
              </p:cNvPr>
              <p:cNvGraphicFramePr>
                <a:graphicFrameLocks noGrp="1"/>
              </p:cNvGraphicFramePr>
              <p:nvPr/>
            </p:nvGraphicFramePr>
            <p:xfrm>
              <a:off x="142778" y="1061085"/>
              <a:ext cx="4601449" cy="3885818"/>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5" name="Add-in 4">
                <a:extLst>
                  <a:ext uri="{FF2B5EF4-FFF2-40B4-BE49-F238E27FC236}">
                    <a16:creationId xmlns:a16="http://schemas.microsoft.com/office/drawing/2014/main" id="{ACB3A607-9C57-910C-9EB6-63A90B84DAC0}"/>
                  </a:ext>
                </a:extLst>
              </p:cNvPr>
              <p:cNvPicPr>
                <a:picLocks noGrp="1" noRot="1" noChangeAspect="1" noMove="1" noResize="1" noEditPoints="1" noAdjustHandles="1" noChangeArrowheads="1" noChangeShapeType="1"/>
              </p:cNvPicPr>
              <p:nvPr/>
            </p:nvPicPr>
            <p:blipFill>
              <a:blip r:embed="rId6"/>
              <a:stretch>
                <a:fillRect/>
              </a:stretch>
            </p:blipFill>
            <p:spPr>
              <a:xfrm>
                <a:off x="142778" y="1061085"/>
                <a:ext cx="4601449" cy="3885818"/>
              </a:xfrm>
              <a:prstGeom prst="rect">
                <a:avLst/>
              </a:prstGeom>
            </p:spPr>
          </p:pic>
        </mc:Fallback>
      </mc:AlternateContent>
      <p:grpSp>
        <p:nvGrpSpPr>
          <p:cNvPr id="128" name="Group 127">
            <a:extLst>
              <a:ext uri="{FF2B5EF4-FFF2-40B4-BE49-F238E27FC236}">
                <a16:creationId xmlns:a16="http://schemas.microsoft.com/office/drawing/2014/main" id="{C38ADE69-A743-3381-8455-3E1942E57123}"/>
              </a:ext>
            </a:extLst>
          </p:cNvPr>
          <p:cNvGrpSpPr/>
          <p:nvPr/>
        </p:nvGrpSpPr>
        <p:grpSpPr>
          <a:xfrm>
            <a:off x="4853174" y="1004649"/>
            <a:ext cx="4142796" cy="982042"/>
            <a:chOff x="4696405" y="960120"/>
            <a:chExt cx="4343400" cy="1083371"/>
          </a:xfrm>
        </p:grpSpPr>
        <p:sp>
          <p:nvSpPr>
            <p:cNvPr id="98" name="Shape 26">
              <a:extLst>
                <a:ext uri="{FF2B5EF4-FFF2-40B4-BE49-F238E27FC236}">
                  <a16:creationId xmlns:a16="http://schemas.microsoft.com/office/drawing/2014/main" id="{98827BB7-38DD-CFA2-47E6-D95BD34D5061}"/>
                </a:ext>
              </a:extLst>
            </p:cNvPr>
            <p:cNvSpPr/>
            <p:nvPr/>
          </p:nvSpPr>
          <p:spPr>
            <a:xfrm>
              <a:off x="4696405" y="1025271"/>
              <a:ext cx="4343400" cy="1018220"/>
            </a:xfrm>
            <a:prstGeom prst="roundRect">
              <a:avLst>
                <a:gd name="adj" fmla="val 3333"/>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100" name="Shape 27">
              <a:extLst>
                <a:ext uri="{FF2B5EF4-FFF2-40B4-BE49-F238E27FC236}">
                  <a16:creationId xmlns:a16="http://schemas.microsoft.com/office/drawing/2014/main" id="{A9FE0C65-84DF-80BA-06AF-1B5495332DF4}"/>
                </a:ext>
              </a:extLst>
            </p:cNvPr>
            <p:cNvSpPr/>
            <p:nvPr/>
          </p:nvSpPr>
          <p:spPr>
            <a:xfrm>
              <a:off x="4696405" y="960120"/>
              <a:ext cx="4343400" cy="310896"/>
            </a:xfrm>
            <a:prstGeom prst="roundRect">
              <a:avLst>
                <a:gd name="adj" fmla="val 35294"/>
              </a:avLst>
            </a:prstGeom>
            <a:solidFill>
              <a:srgbClr val="00BDD4"/>
            </a:solidFill>
            <a:ln w="12700">
              <a:solidFill>
                <a:srgbClr val="00BDD4"/>
              </a:solidFill>
              <a:prstDash val="solid"/>
            </a:ln>
          </p:spPr>
          <p:txBody>
            <a:bodyPr/>
            <a:lstStyle/>
            <a:p>
              <a:endParaRPr lang="en-MY" dirty="0">
                <a:effectLst>
                  <a:outerShdw blurRad="50800" dist="38100" dir="2700000" algn="tl" rotWithShape="0">
                    <a:prstClr val="black">
                      <a:alpha val="40000"/>
                    </a:prstClr>
                  </a:outerShdw>
                </a:effectLst>
              </a:endParaRPr>
            </a:p>
          </p:txBody>
        </p:sp>
        <p:sp>
          <p:nvSpPr>
            <p:cNvPr id="102" name="Shape 28">
              <a:extLst>
                <a:ext uri="{FF2B5EF4-FFF2-40B4-BE49-F238E27FC236}">
                  <a16:creationId xmlns:a16="http://schemas.microsoft.com/office/drawing/2014/main" id="{74B45271-754C-41C2-9F7A-1E3E82311D10}"/>
                </a:ext>
              </a:extLst>
            </p:cNvPr>
            <p:cNvSpPr/>
            <p:nvPr/>
          </p:nvSpPr>
          <p:spPr>
            <a:xfrm>
              <a:off x="4696405" y="1143000"/>
              <a:ext cx="4343400" cy="128016"/>
            </a:xfrm>
            <a:prstGeom prst="rect">
              <a:avLst/>
            </a:prstGeom>
            <a:solidFill>
              <a:srgbClr val="00BDD4"/>
            </a:solidFill>
            <a:ln w="12700">
              <a:solidFill>
                <a:srgbClr val="00BDD4"/>
              </a:solidFill>
              <a:prstDash val="solid"/>
            </a:ln>
          </p:spPr>
          <p:txBody>
            <a:bodyPr/>
            <a:lstStyle/>
            <a:p>
              <a:endParaRPr lang="en-MY"/>
            </a:p>
          </p:txBody>
        </p:sp>
        <p:sp>
          <p:nvSpPr>
            <p:cNvPr id="104" name="Text 29">
              <a:extLst>
                <a:ext uri="{FF2B5EF4-FFF2-40B4-BE49-F238E27FC236}">
                  <a16:creationId xmlns:a16="http://schemas.microsoft.com/office/drawing/2014/main" id="{13F18455-D48C-EBA8-8815-797F61D37610}"/>
                </a:ext>
              </a:extLst>
            </p:cNvPr>
            <p:cNvSpPr/>
            <p:nvPr/>
          </p:nvSpPr>
          <p:spPr>
            <a:xfrm>
              <a:off x="4815277" y="969264"/>
              <a:ext cx="4160520" cy="292608"/>
            </a:xfrm>
            <a:prstGeom prst="rect">
              <a:avLst/>
            </a:prstGeom>
            <a:noFill/>
            <a:ln/>
          </p:spPr>
          <p:txBody>
            <a:bodyPr wrap="square" lIns="0" tIns="0" rIns="0" bIns="0" rtlCol="0" anchor="ctr"/>
            <a:lstStyle/>
            <a:p>
              <a:pPr marL="0" indent="0">
                <a:buNone/>
              </a:pPr>
              <a:r>
                <a:rPr lang="en-US" sz="11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Business Objectives 1</a:t>
              </a:r>
              <a:endParaRPr lang="en-US" sz="1100" dirty="0">
                <a:effectLst>
                  <a:outerShdw blurRad="50800" dist="38100" dir="2700000" algn="tl" rotWithShape="0">
                    <a:prstClr val="black">
                      <a:alpha val="40000"/>
                    </a:prstClr>
                  </a:outerShdw>
                </a:effectLst>
              </a:endParaRPr>
            </a:p>
          </p:txBody>
        </p:sp>
        <p:sp>
          <p:nvSpPr>
            <p:cNvPr id="106" name="Shape 30">
              <a:extLst>
                <a:ext uri="{FF2B5EF4-FFF2-40B4-BE49-F238E27FC236}">
                  <a16:creationId xmlns:a16="http://schemas.microsoft.com/office/drawing/2014/main" id="{F7FD29B3-C9BE-88AC-F298-A85D2F922D6E}"/>
                </a:ext>
              </a:extLst>
            </p:cNvPr>
            <p:cNvSpPr/>
            <p:nvPr/>
          </p:nvSpPr>
          <p:spPr>
            <a:xfrm>
              <a:off x="4842709" y="1432843"/>
              <a:ext cx="452706" cy="457201"/>
            </a:xfrm>
            <a:prstGeom prst="roundRect">
              <a:avLst>
                <a:gd name="adj" fmla="val 12000"/>
              </a:avLst>
            </a:prstGeom>
            <a:solidFill>
              <a:srgbClr val="00BDD4"/>
            </a:solidFill>
            <a:ln w="12700">
              <a:solidFill>
                <a:srgbClr val="00BDD4"/>
              </a:solidFill>
              <a:prstDash val="solid"/>
            </a:ln>
          </p:spPr>
          <p:txBody>
            <a:bodyPr/>
            <a:lstStyle/>
            <a:p>
              <a:endParaRPr lang="en-MY"/>
            </a:p>
          </p:txBody>
        </p:sp>
        <p:sp>
          <p:nvSpPr>
            <p:cNvPr id="108" name="Text 31">
              <a:extLst>
                <a:ext uri="{FF2B5EF4-FFF2-40B4-BE49-F238E27FC236}">
                  <a16:creationId xmlns:a16="http://schemas.microsoft.com/office/drawing/2014/main" id="{59F082DF-385E-48DF-888D-292175FA56DE}"/>
                </a:ext>
              </a:extLst>
            </p:cNvPr>
            <p:cNvSpPr/>
            <p:nvPr/>
          </p:nvSpPr>
          <p:spPr>
            <a:xfrm>
              <a:off x="4842709" y="1432843"/>
              <a:ext cx="452706" cy="457201"/>
            </a:xfrm>
            <a:prstGeom prst="rect">
              <a:avLst/>
            </a:prstGeom>
            <a:noFill/>
            <a:ln/>
          </p:spPr>
          <p:txBody>
            <a:bodyPr wrap="square" lIns="0" tIns="0" rIns="0" bIns="0" rtlCol="0" anchor="ctr"/>
            <a:lstStyle/>
            <a:p>
              <a:pPr marL="0" indent="0" algn="ctr">
                <a:buNone/>
              </a:pPr>
              <a:r>
                <a:rPr lang="en-US" sz="9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BO1</a:t>
              </a:r>
              <a:endParaRPr lang="en-US" sz="900" dirty="0">
                <a:effectLst>
                  <a:outerShdw blurRad="50800" dist="38100" dir="2700000" algn="tl" rotWithShape="0">
                    <a:prstClr val="black">
                      <a:alpha val="40000"/>
                    </a:prstClr>
                  </a:outerShdw>
                </a:effectLst>
              </a:endParaRPr>
            </a:p>
          </p:txBody>
        </p:sp>
        <p:sp>
          <p:nvSpPr>
            <p:cNvPr id="110" name="Text 32">
              <a:extLst>
                <a:ext uri="{FF2B5EF4-FFF2-40B4-BE49-F238E27FC236}">
                  <a16:creationId xmlns:a16="http://schemas.microsoft.com/office/drawing/2014/main" id="{6D2F3B04-6898-F7A8-756E-24CAC2BB7F9F}"/>
                </a:ext>
              </a:extLst>
            </p:cNvPr>
            <p:cNvSpPr/>
            <p:nvPr/>
          </p:nvSpPr>
          <p:spPr>
            <a:xfrm>
              <a:off x="5409637" y="1345830"/>
              <a:ext cx="3474720" cy="201169"/>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Sales &amp; Revenue</a:t>
              </a:r>
              <a:endParaRPr lang="en-US" sz="950" dirty="0"/>
            </a:p>
          </p:txBody>
        </p:sp>
        <p:sp>
          <p:nvSpPr>
            <p:cNvPr id="112" name="Text 33">
              <a:extLst>
                <a:ext uri="{FF2B5EF4-FFF2-40B4-BE49-F238E27FC236}">
                  <a16:creationId xmlns:a16="http://schemas.microsoft.com/office/drawing/2014/main" id="{408E4886-0758-FDF6-D721-5DBBB81C4934}"/>
                </a:ext>
              </a:extLst>
            </p:cNvPr>
            <p:cNvSpPr/>
            <p:nvPr/>
          </p:nvSpPr>
          <p:spPr>
            <a:xfrm>
              <a:off x="5409637" y="1586289"/>
              <a:ext cx="3474720" cy="457202"/>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To track overall business success. To find development prospects. T o assist with revenue trends, financial planning, preferred payment methods,  and product category contributions.</a:t>
              </a:r>
            </a:p>
            <a:p>
              <a:pPr marL="0" indent="0">
                <a:buNone/>
              </a:pPr>
              <a:r>
                <a:rPr lang="en-US" sz="800" dirty="0">
                  <a:solidFill>
                    <a:srgbClr val="8BA5C0"/>
                  </a:solidFill>
                  <a:latin typeface="Calibri" pitchFamily="34" charset="0"/>
                  <a:ea typeface="Calibri" pitchFamily="34" charset="-122"/>
                  <a:cs typeface="Calibri" pitchFamily="34" charset="-120"/>
                </a:rPr>
                <a:t> </a:t>
              </a:r>
              <a:endParaRPr lang="en-US" sz="800" dirty="0"/>
            </a:p>
          </p:txBody>
        </p:sp>
      </p:grpSp>
      <p:grpSp>
        <p:nvGrpSpPr>
          <p:cNvPr id="127" name="Group 126">
            <a:extLst>
              <a:ext uri="{FF2B5EF4-FFF2-40B4-BE49-F238E27FC236}">
                <a16:creationId xmlns:a16="http://schemas.microsoft.com/office/drawing/2014/main" id="{ECD075D8-5308-C9B7-B758-5FDAF4031497}"/>
              </a:ext>
            </a:extLst>
          </p:cNvPr>
          <p:cNvGrpSpPr/>
          <p:nvPr/>
        </p:nvGrpSpPr>
        <p:grpSpPr>
          <a:xfrm>
            <a:off x="4853174" y="2054507"/>
            <a:ext cx="4142796" cy="1612955"/>
            <a:chOff x="4696405" y="2206377"/>
            <a:chExt cx="4343400" cy="1612955"/>
          </a:xfrm>
        </p:grpSpPr>
        <p:sp>
          <p:nvSpPr>
            <p:cNvPr id="86" name="Shape 21">
              <a:extLst>
                <a:ext uri="{FF2B5EF4-FFF2-40B4-BE49-F238E27FC236}">
                  <a16:creationId xmlns:a16="http://schemas.microsoft.com/office/drawing/2014/main" id="{23A53D0D-0B26-062F-15BC-B9185B3178B4}"/>
                </a:ext>
              </a:extLst>
            </p:cNvPr>
            <p:cNvSpPr/>
            <p:nvPr/>
          </p:nvSpPr>
          <p:spPr>
            <a:xfrm>
              <a:off x="4696405" y="2918667"/>
              <a:ext cx="4343400" cy="399116"/>
            </a:xfrm>
            <a:prstGeom prst="rect">
              <a:avLst/>
            </a:prstGeom>
            <a:solidFill>
              <a:srgbClr val="0B1E34"/>
            </a:solidFill>
            <a:ln w="3810">
              <a:solidFill>
                <a:srgbClr val="1A3055"/>
              </a:solidFill>
              <a:prstDash val="solid"/>
            </a:ln>
          </p:spPr>
          <p:txBody>
            <a:bodyPr/>
            <a:lstStyle/>
            <a:p>
              <a:endParaRPr lang="en-MY"/>
            </a:p>
          </p:txBody>
        </p:sp>
        <p:sp>
          <p:nvSpPr>
            <p:cNvPr id="8" name="Shape 4">
              <a:extLst>
                <a:ext uri="{FF2B5EF4-FFF2-40B4-BE49-F238E27FC236}">
                  <a16:creationId xmlns:a16="http://schemas.microsoft.com/office/drawing/2014/main" id="{D3FF0420-7493-F795-E952-2912B5AAAC8B}"/>
                </a:ext>
              </a:extLst>
            </p:cNvPr>
            <p:cNvSpPr/>
            <p:nvPr/>
          </p:nvSpPr>
          <p:spPr>
            <a:xfrm>
              <a:off x="4696405" y="2217385"/>
              <a:ext cx="4343400" cy="451281"/>
            </a:xfrm>
            <a:prstGeom prst="rect">
              <a:avLst/>
            </a:prstGeom>
            <a:solidFill>
              <a:srgbClr val="0F2646"/>
            </a:solidFill>
            <a:ln w="6350">
              <a:solidFill>
                <a:srgbClr val="1A3055"/>
              </a:solidFill>
              <a:prstDash val="solid"/>
            </a:ln>
          </p:spPr>
          <p:txBody>
            <a:bodyPr/>
            <a:lstStyle/>
            <a:p>
              <a:endParaRPr lang="en-MY"/>
            </a:p>
          </p:txBody>
        </p:sp>
        <p:sp>
          <p:nvSpPr>
            <p:cNvPr id="12" name="Text 6">
              <a:extLst>
                <a:ext uri="{FF2B5EF4-FFF2-40B4-BE49-F238E27FC236}">
                  <a16:creationId xmlns:a16="http://schemas.microsoft.com/office/drawing/2014/main" id="{2BE5E340-3C50-96FF-87EF-230A2E8A6D06}"/>
                </a:ext>
              </a:extLst>
            </p:cNvPr>
            <p:cNvSpPr/>
            <p:nvPr/>
          </p:nvSpPr>
          <p:spPr>
            <a:xfrm>
              <a:off x="5363662" y="2210088"/>
              <a:ext cx="936909" cy="237744"/>
            </a:xfrm>
            <a:prstGeom prst="rect">
              <a:avLst/>
            </a:prstGeom>
            <a:noFill/>
            <a:ln/>
          </p:spPr>
          <p:txBody>
            <a:bodyPr wrap="square" lIns="0" tIns="0" rIns="0" bIns="0" rtlCol="0" anchor="ctr"/>
            <a:lstStyle/>
            <a:p>
              <a:pPr marL="0" indent="0">
                <a:buNone/>
              </a:pPr>
              <a:r>
                <a:rPr lang="en-US" sz="750" b="1" dirty="0">
                  <a:solidFill>
                    <a:srgbClr val="00BCD4"/>
                  </a:solidFill>
                </a:rPr>
                <a:t>MEASURE</a:t>
              </a:r>
              <a:endParaRPr lang="en-US" sz="750" dirty="0"/>
            </a:p>
          </p:txBody>
        </p:sp>
        <p:sp>
          <p:nvSpPr>
            <p:cNvPr id="52" name="Text 7">
              <a:extLst>
                <a:ext uri="{FF2B5EF4-FFF2-40B4-BE49-F238E27FC236}">
                  <a16:creationId xmlns:a16="http://schemas.microsoft.com/office/drawing/2014/main" id="{46901647-E487-24A9-6EAE-3ABEE5462DE3}"/>
                </a:ext>
              </a:extLst>
            </p:cNvPr>
            <p:cNvSpPr/>
            <p:nvPr/>
          </p:nvSpPr>
          <p:spPr>
            <a:xfrm>
              <a:off x="6058315" y="2214618"/>
              <a:ext cx="1950079" cy="237744"/>
            </a:xfrm>
            <a:prstGeom prst="rect">
              <a:avLst/>
            </a:prstGeom>
            <a:noFill/>
            <a:ln/>
          </p:spPr>
          <p:txBody>
            <a:bodyPr wrap="square" lIns="0" tIns="0" rIns="0" bIns="0" rtlCol="0" anchor="ctr"/>
            <a:lstStyle/>
            <a:p>
              <a:pPr marL="0" indent="0">
                <a:buNone/>
              </a:pPr>
              <a:r>
                <a:rPr lang="en-US" sz="750" b="1" dirty="0">
                  <a:solidFill>
                    <a:srgbClr val="00BCD4"/>
                  </a:solidFill>
                </a:rPr>
                <a:t>DAX FORMULA</a:t>
              </a:r>
              <a:endParaRPr lang="en-US" sz="750" dirty="0"/>
            </a:p>
          </p:txBody>
        </p:sp>
        <p:sp>
          <p:nvSpPr>
            <p:cNvPr id="55" name="Text 8">
              <a:extLst>
                <a:ext uri="{FF2B5EF4-FFF2-40B4-BE49-F238E27FC236}">
                  <a16:creationId xmlns:a16="http://schemas.microsoft.com/office/drawing/2014/main" id="{EE9F94EC-BCC2-E565-1E28-D8B4C206808D}"/>
                </a:ext>
              </a:extLst>
            </p:cNvPr>
            <p:cNvSpPr/>
            <p:nvPr/>
          </p:nvSpPr>
          <p:spPr>
            <a:xfrm>
              <a:off x="7424404" y="2210061"/>
              <a:ext cx="1587174" cy="237744"/>
            </a:xfrm>
            <a:prstGeom prst="rect">
              <a:avLst/>
            </a:prstGeom>
            <a:noFill/>
            <a:ln/>
          </p:spPr>
          <p:txBody>
            <a:bodyPr wrap="square" lIns="0" tIns="0" rIns="0" bIns="0" rtlCol="0" anchor="ctr"/>
            <a:lstStyle/>
            <a:p>
              <a:pPr marL="0" indent="0">
                <a:buNone/>
              </a:pPr>
              <a:r>
                <a:rPr lang="en-US" sz="750" b="1" dirty="0">
                  <a:solidFill>
                    <a:srgbClr val="00BCD4"/>
                  </a:solidFill>
                </a:rPr>
                <a:t>BUSINESS IMPORTANCE</a:t>
              </a:r>
              <a:endParaRPr lang="en-US" sz="750" dirty="0"/>
            </a:p>
          </p:txBody>
        </p:sp>
        <p:sp>
          <p:nvSpPr>
            <p:cNvPr id="62" name="Shape 9">
              <a:extLst>
                <a:ext uri="{FF2B5EF4-FFF2-40B4-BE49-F238E27FC236}">
                  <a16:creationId xmlns:a16="http://schemas.microsoft.com/office/drawing/2014/main" id="{E8D997D8-EED2-FADB-9A7A-1D4EF9CC4C9C}"/>
                </a:ext>
              </a:extLst>
            </p:cNvPr>
            <p:cNvSpPr/>
            <p:nvPr/>
          </p:nvSpPr>
          <p:spPr>
            <a:xfrm>
              <a:off x="4696405" y="2407514"/>
              <a:ext cx="4343400" cy="516194"/>
            </a:xfrm>
            <a:prstGeom prst="rect">
              <a:avLst/>
            </a:prstGeom>
            <a:solidFill>
              <a:srgbClr val="0B1E34"/>
            </a:solidFill>
            <a:ln w="3810">
              <a:solidFill>
                <a:srgbClr val="1A3055"/>
              </a:solidFill>
              <a:prstDash val="solid"/>
            </a:ln>
          </p:spPr>
          <p:txBody>
            <a:bodyPr/>
            <a:lstStyle/>
            <a:p>
              <a:endParaRPr lang="en-MY"/>
            </a:p>
          </p:txBody>
        </p:sp>
        <p:sp>
          <p:nvSpPr>
            <p:cNvPr id="68" name="Text 12">
              <a:extLst>
                <a:ext uri="{FF2B5EF4-FFF2-40B4-BE49-F238E27FC236}">
                  <a16:creationId xmlns:a16="http://schemas.microsoft.com/office/drawing/2014/main" id="{E663F54B-7FA2-0F93-7B66-ECA9DD398D3A}"/>
                </a:ext>
              </a:extLst>
            </p:cNvPr>
            <p:cNvSpPr/>
            <p:nvPr/>
          </p:nvSpPr>
          <p:spPr>
            <a:xfrm>
              <a:off x="5304474" y="2501847"/>
              <a:ext cx="893332" cy="223114"/>
            </a:xfrm>
            <a:prstGeom prst="rect">
              <a:avLst/>
            </a:prstGeom>
            <a:noFill/>
            <a:ln/>
          </p:spPr>
          <p:txBody>
            <a:bodyPr wrap="square" lIns="0" tIns="0" rIns="0" bIns="0" rtlCol="0" anchor="ctr"/>
            <a:lstStyle/>
            <a:p>
              <a:pPr marL="0" indent="0">
                <a:buNone/>
              </a:pPr>
              <a:r>
                <a:rPr lang="en-US" sz="850" b="1" dirty="0">
                  <a:solidFill>
                    <a:srgbClr val="FFFFFF"/>
                  </a:solidFill>
                </a:rPr>
                <a:t>Total GMV</a:t>
              </a:r>
              <a:endParaRPr lang="en-US" sz="850" dirty="0"/>
            </a:p>
          </p:txBody>
        </p:sp>
        <p:sp>
          <p:nvSpPr>
            <p:cNvPr id="70" name="Text 13">
              <a:extLst>
                <a:ext uri="{FF2B5EF4-FFF2-40B4-BE49-F238E27FC236}">
                  <a16:creationId xmlns:a16="http://schemas.microsoft.com/office/drawing/2014/main" id="{3873DC89-9729-695A-2CB0-973F9A310ED5}"/>
                </a:ext>
              </a:extLst>
            </p:cNvPr>
            <p:cNvSpPr/>
            <p:nvPr/>
          </p:nvSpPr>
          <p:spPr>
            <a:xfrm>
              <a:off x="6058315" y="2454061"/>
              <a:ext cx="1191662" cy="451225"/>
            </a:xfrm>
            <a:prstGeom prst="rect">
              <a:avLst/>
            </a:prstGeom>
            <a:noFill/>
            <a:ln/>
          </p:spPr>
          <p:txBody>
            <a:bodyPr wrap="square" lIns="0" tIns="0" rIns="0" bIns="0" rtlCol="0" anchor="ctr"/>
            <a:lstStyle/>
            <a:p>
              <a:pPr marL="0" indent="0">
                <a:lnSpc>
                  <a:spcPct val="100000"/>
                </a:lnSpc>
                <a:buNone/>
              </a:pPr>
              <a:r>
                <a:rPr lang="en-US" sz="620" dirty="0">
                  <a:solidFill>
                    <a:srgbClr val="00BCD4"/>
                  </a:solidFill>
                  <a:latin typeface="Courier New" pitchFamily="34" charset="0"/>
                  <a:ea typeface="Courier New" pitchFamily="34" charset="-122"/>
                  <a:cs typeface="Courier New" pitchFamily="34" charset="-120"/>
                </a:rPr>
                <a:t>SUM(olist_order_items_dataset[price])+ SUM(olist_order_items_dataset[freight_value])</a:t>
              </a:r>
              <a:endParaRPr lang="en-US" sz="620" dirty="0"/>
            </a:p>
          </p:txBody>
        </p:sp>
        <p:sp>
          <p:nvSpPr>
            <p:cNvPr id="72" name="Text 14">
              <a:extLst>
                <a:ext uri="{FF2B5EF4-FFF2-40B4-BE49-F238E27FC236}">
                  <a16:creationId xmlns:a16="http://schemas.microsoft.com/office/drawing/2014/main" id="{5666F304-550E-2C9D-19C3-7CF705A4F7D3}"/>
                </a:ext>
              </a:extLst>
            </p:cNvPr>
            <p:cNvSpPr/>
            <p:nvPr/>
          </p:nvSpPr>
          <p:spPr>
            <a:xfrm>
              <a:off x="7424404" y="2530558"/>
              <a:ext cx="1459953" cy="241402"/>
            </a:xfrm>
            <a:prstGeom prst="rect">
              <a:avLst/>
            </a:prstGeom>
            <a:noFill/>
            <a:ln/>
          </p:spPr>
          <p:txBody>
            <a:bodyPr wrap="square" lIns="0" tIns="0" rIns="0" bIns="0" rtlCol="0" anchor="ctr"/>
            <a:lstStyle/>
            <a:p>
              <a:pPr marL="0" indent="0">
                <a:buNone/>
              </a:pPr>
              <a:r>
                <a:rPr lang="en-US" sz="720" dirty="0">
                  <a:solidFill>
                    <a:srgbClr val="B0BEC5"/>
                  </a:solidFill>
                </a:rPr>
                <a:t>Core revenue KPI. Drives YTD GMV, YoY Growth, and all revenue trend visuals.</a:t>
              </a:r>
              <a:endParaRPr lang="en-US" sz="720" dirty="0"/>
            </a:p>
          </p:txBody>
        </p:sp>
        <p:sp>
          <p:nvSpPr>
            <p:cNvPr id="74" name="Shape 15">
              <a:extLst>
                <a:ext uri="{FF2B5EF4-FFF2-40B4-BE49-F238E27FC236}">
                  <a16:creationId xmlns:a16="http://schemas.microsoft.com/office/drawing/2014/main" id="{D72EBF36-7A96-03ED-3974-4491F85EF7A6}"/>
                </a:ext>
              </a:extLst>
            </p:cNvPr>
            <p:cNvSpPr/>
            <p:nvPr/>
          </p:nvSpPr>
          <p:spPr>
            <a:xfrm>
              <a:off x="4696405" y="3320576"/>
              <a:ext cx="4343400" cy="498756"/>
            </a:xfrm>
            <a:prstGeom prst="rect">
              <a:avLst/>
            </a:prstGeom>
            <a:solidFill>
              <a:srgbClr val="0D1F35"/>
            </a:solidFill>
            <a:ln w="3810">
              <a:solidFill>
                <a:srgbClr val="1A3055"/>
              </a:solidFill>
              <a:prstDash val="solid"/>
            </a:ln>
          </p:spPr>
          <p:txBody>
            <a:bodyPr/>
            <a:lstStyle/>
            <a:p>
              <a:endParaRPr lang="en-MY" dirty="0"/>
            </a:p>
          </p:txBody>
        </p:sp>
        <p:sp>
          <p:nvSpPr>
            <p:cNvPr id="80" name="Text 18">
              <a:extLst>
                <a:ext uri="{FF2B5EF4-FFF2-40B4-BE49-F238E27FC236}">
                  <a16:creationId xmlns:a16="http://schemas.microsoft.com/office/drawing/2014/main" id="{86D091F1-BBF5-5618-4B77-81EA47E1AEEC}"/>
                </a:ext>
              </a:extLst>
            </p:cNvPr>
            <p:cNvSpPr/>
            <p:nvPr/>
          </p:nvSpPr>
          <p:spPr>
            <a:xfrm>
              <a:off x="5315800" y="2997236"/>
              <a:ext cx="893332" cy="223114"/>
            </a:xfrm>
            <a:prstGeom prst="rect">
              <a:avLst/>
            </a:prstGeom>
            <a:noFill/>
            <a:ln/>
          </p:spPr>
          <p:txBody>
            <a:bodyPr wrap="square" lIns="0" tIns="0" rIns="0" bIns="0" rtlCol="0" anchor="ctr"/>
            <a:lstStyle/>
            <a:p>
              <a:pPr marL="0" indent="0">
                <a:buNone/>
              </a:pPr>
              <a:r>
                <a:rPr lang="en-US" sz="850" b="1" dirty="0">
                  <a:solidFill>
                    <a:srgbClr val="FFFFFF"/>
                  </a:solidFill>
                </a:rPr>
                <a:t>YoY Growth %</a:t>
              </a:r>
              <a:endParaRPr lang="en-US" sz="850" dirty="0"/>
            </a:p>
          </p:txBody>
        </p:sp>
        <p:sp>
          <p:nvSpPr>
            <p:cNvPr id="82" name="Text 19">
              <a:extLst>
                <a:ext uri="{FF2B5EF4-FFF2-40B4-BE49-F238E27FC236}">
                  <a16:creationId xmlns:a16="http://schemas.microsoft.com/office/drawing/2014/main" id="{D1E349B6-024A-6F0F-F86F-A20630077C11}"/>
                </a:ext>
              </a:extLst>
            </p:cNvPr>
            <p:cNvSpPr/>
            <p:nvPr/>
          </p:nvSpPr>
          <p:spPr>
            <a:xfrm>
              <a:off x="6058315" y="2986863"/>
              <a:ext cx="1179183" cy="274816"/>
            </a:xfrm>
            <a:prstGeom prst="rect">
              <a:avLst/>
            </a:prstGeom>
            <a:noFill/>
            <a:ln/>
          </p:spPr>
          <p:txBody>
            <a:bodyPr wrap="square" lIns="0" tIns="0" rIns="0" bIns="0" rtlCol="0" anchor="ctr"/>
            <a:lstStyle/>
            <a:p>
              <a:pPr marL="0" indent="0">
                <a:lnSpc>
                  <a:spcPct val="100000"/>
                </a:lnSpc>
                <a:buNone/>
              </a:pPr>
              <a:r>
                <a:rPr lang="en-US" sz="620" dirty="0">
                  <a:solidFill>
                    <a:srgbClr val="00BCD4"/>
                  </a:solidFill>
                  <a:latin typeface="Courier New" pitchFamily="34" charset="0"/>
                  <a:ea typeface="Courier New" pitchFamily="34" charset="-122"/>
                  <a:cs typeface="Courier New" pitchFamily="34" charset="-120"/>
                </a:rPr>
                <a:t>DIVIDE(  [Total GMV] - [GMV Prior Year],  [GMV Prior Year])</a:t>
              </a:r>
              <a:endParaRPr lang="en-US" sz="620" dirty="0"/>
            </a:p>
          </p:txBody>
        </p:sp>
        <p:sp>
          <p:nvSpPr>
            <p:cNvPr id="84" name="Text 20">
              <a:extLst>
                <a:ext uri="{FF2B5EF4-FFF2-40B4-BE49-F238E27FC236}">
                  <a16:creationId xmlns:a16="http://schemas.microsoft.com/office/drawing/2014/main" id="{14CAAC4F-6C50-1FE4-EE85-1C739A7313B6}"/>
                </a:ext>
              </a:extLst>
            </p:cNvPr>
            <p:cNvSpPr/>
            <p:nvPr/>
          </p:nvSpPr>
          <p:spPr>
            <a:xfrm>
              <a:off x="7420892" y="2967630"/>
              <a:ext cx="1175004" cy="241402"/>
            </a:xfrm>
            <a:prstGeom prst="rect">
              <a:avLst/>
            </a:prstGeom>
            <a:noFill/>
            <a:ln/>
          </p:spPr>
          <p:txBody>
            <a:bodyPr wrap="square" lIns="0" tIns="0" rIns="0" bIns="0" rtlCol="0" anchor="ctr"/>
            <a:lstStyle/>
            <a:p>
              <a:pPr marL="0" indent="0">
                <a:buNone/>
              </a:pPr>
              <a:r>
                <a:rPr lang="en-US" sz="720" dirty="0">
                  <a:solidFill>
                    <a:srgbClr val="B0BEC5"/>
                  </a:solidFill>
                </a:rPr>
                <a:t>Measures year-on-year revenue expansion. </a:t>
              </a:r>
              <a:endParaRPr lang="en-US" sz="720" dirty="0"/>
            </a:p>
          </p:txBody>
        </p:sp>
        <p:sp>
          <p:nvSpPr>
            <p:cNvPr id="92" name="Text 24">
              <a:extLst>
                <a:ext uri="{FF2B5EF4-FFF2-40B4-BE49-F238E27FC236}">
                  <a16:creationId xmlns:a16="http://schemas.microsoft.com/office/drawing/2014/main" id="{BB28F228-E717-945E-3B9D-D084C3AB5FE6}"/>
                </a:ext>
              </a:extLst>
            </p:cNvPr>
            <p:cNvSpPr/>
            <p:nvPr/>
          </p:nvSpPr>
          <p:spPr>
            <a:xfrm>
              <a:off x="5304474" y="3442282"/>
              <a:ext cx="893332" cy="223114"/>
            </a:xfrm>
            <a:prstGeom prst="rect">
              <a:avLst/>
            </a:prstGeom>
            <a:noFill/>
            <a:ln/>
          </p:spPr>
          <p:txBody>
            <a:bodyPr wrap="square" lIns="0" tIns="0" rIns="0" bIns="0" rtlCol="0" anchor="ctr"/>
            <a:lstStyle/>
            <a:p>
              <a:pPr marL="0" indent="0">
                <a:buNone/>
              </a:pPr>
              <a:r>
                <a:rPr lang="en-US" sz="850" b="1" dirty="0">
                  <a:solidFill>
                    <a:srgbClr val="FFFFFF"/>
                  </a:solidFill>
                </a:rPr>
                <a:t>YTD GMV</a:t>
              </a:r>
              <a:endParaRPr lang="en-US" sz="850" dirty="0"/>
            </a:p>
          </p:txBody>
        </p:sp>
        <p:sp>
          <p:nvSpPr>
            <p:cNvPr id="94" name="Text 25">
              <a:extLst>
                <a:ext uri="{FF2B5EF4-FFF2-40B4-BE49-F238E27FC236}">
                  <a16:creationId xmlns:a16="http://schemas.microsoft.com/office/drawing/2014/main" id="{81AF9007-D925-722D-F905-2DAD20840B57}"/>
                </a:ext>
              </a:extLst>
            </p:cNvPr>
            <p:cNvSpPr/>
            <p:nvPr/>
          </p:nvSpPr>
          <p:spPr>
            <a:xfrm>
              <a:off x="5999127" y="3437668"/>
              <a:ext cx="1238371" cy="241402"/>
            </a:xfrm>
            <a:prstGeom prst="rect">
              <a:avLst/>
            </a:prstGeom>
            <a:noFill/>
            <a:ln/>
          </p:spPr>
          <p:txBody>
            <a:bodyPr wrap="square" lIns="0" tIns="0" rIns="0" bIns="0" rtlCol="0" anchor="ctr"/>
            <a:lstStyle/>
            <a:p>
              <a:pPr marL="0" indent="0">
                <a:lnSpc>
                  <a:spcPct val="100000"/>
                </a:lnSpc>
                <a:buNone/>
              </a:pPr>
              <a:r>
                <a:rPr lang="en-US" sz="620" dirty="0">
                  <a:solidFill>
                    <a:srgbClr val="00BCD4"/>
                  </a:solidFill>
                  <a:latin typeface="Courier New" pitchFamily="34" charset="0"/>
                  <a:ea typeface="Courier New" pitchFamily="34" charset="-122"/>
                  <a:cs typeface="Courier New" pitchFamily="34" charset="-120"/>
                </a:rPr>
                <a:t>TOTALYTD(  [Total GMV],  date_order_purchase[Date])</a:t>
              </a:r>
              <a:endParaRPr lang="en-US" sz="620" dirty="0"/>
            </a:p>
          </p:txBody>
        </p:sp>
        <p:sp>
          <p:nvSpPr>
            <p:cNvPr id="96" name="Text 26">
              <a:extLst>
                <a:ext uri="{FF2B5EF4-FFF2-40B4-BE49-F238E27FC236}">
                  <a16:creationId xmlns:a16="http://schemas.microsoft.com/office/drawing/2014/main" id="{7301BC4F-1CD5-9B46-2DBE-ED50797430C8}"/>
                </a:ext>
              </a:extLst>
            </p:cNvPr>
            <p:cNvSpPr/>
            <p:nvPr/>
          </p:nvSpPr>
          <p:spPr>
            <a:xfrm>
              <a:off x="7424404" y="3447083"/>
              <a:ext cx="1414796" cy="241402"/>
            </a:xfrm>
            <a:prstGeom prst="rect">
              <a:avLst/>
            </a:prstGeom>
            <a:noFill/>
            <a:ln/>
          </p:spPr>
          <p:txBody>
            <a:bodyPr wrap="square" lIns="0" tIns="0" rIns="0" bIns="0" rtlCol="0" anchor="ctr"/>
            <a:lstStyle/>
            <a:p>
              <a:pPr marL="0" indent="0">
                <a:buNone/>
              </a:pPr>
              <a:r>
                <a:rPr lang="en-US" sz="720" dirty="0">
                  <a:solidFill>
                    <a:srgbClr val="B0BEC5"/>
                  </a:solidFill>
                </a:rPr>
                <a:t>Used on the Executive Dashboard KPI card to show year-to-date performance against prior year.</a:t>
              </a:r>
              <a:endParaRPr lang="en-US" sz="720" dirty="0"/>
            </a:p>
          </p:txBody>
        </p:sp>
        <p:sp>
          <p:nvSpPr>
            <p:cNvPr id="114" name="Text 5">
              <a:extLst>
                <a:ext uri="{FF2B5EF4-FFF2-40B4-BE49-F238E27FC236}">
                  <a16:creationId xmlns:a16="http://schemas.microsoft.com/office/drawing/2014/main" id="{5ADCF252-1844-04F8-73CB-A44A83569CD2}"/>
                </a:ext>
              </a:extLst>
            </p:cNvPr>
            <p:cNvSpPr/>
            <p:nvPr/>
          </p:nvSpPr>
          <p:spPr>
            <a:xfrm>
              <a:off x="4870533" y="2206377"/>
              <a:ext cx="337723" cy="237744"/>
            </a:xfrm>
            <a:prstGeom prst="rect">
              <a:avLst/>
            </a:prstGeom>
            <a:noFill/>
            <a:ln/>
          </p:spPr>
          <p:txBody>
            <a:bodyPr wrap="square" lIns="0" tIns="0" rIns="0" bIns="0" rtlCol="0" anchor="ctr"/>
            <a:lstStyle/>
            <a:p>
              <a:pPr marL="0" indent="0">
                <a:buNone/>
              </a:pPr>
              <a:r>
                <a:rPr lang="en-US" sz="750" b="1" dirty="0">
                  <a:solidFill>
                    <a:srgbClr val="00BCD4"/>
                  </a:solidFill>
                </a:rPr>
                <a:t>BO</a:t>
              </a:r>
              <a:endParaRPr lang="en-US" sz="750" dirty="0"/>
            </a:p>
          </p:txBody>
        </p:sp>
        <p:sp>
          <p:nvSpPr>
            <p:cNvPr id="116" name="Shape 10">
              <a:extLst>
                <a:ext uri="{FF2B5EF4-FFF2-40B4-BE49-F238E27FC236}">
                  <a16:creationId xmlns:a16="http://schemas.microsoft.com/office/drawing/2014/main" id="{7B8062F4-2A24-45E3-3BAA-A7652A6DD0CA}"/>
                </a:ext>
              </a:extLst>
            </p:cNvPr>
            <p:cNvSpPr/>
            <p:nvPr/>
          </p:nvSpPr>
          <p:spPr>
            <a:xfrm>
              <a:off x="4803951" y="2530140"/>
              <a:ext cx="283252" cy="160020"/>
            </a:xfrm>
            <a:prstGeom prst="roundRect">
              <a:avLst>
                <a:gd name="adj" fmla="val 45714"/>
              </a:avLst>
            </a:prstGeom>
            <a:solidFill>
              <a:srgbClr val="00BCD4"/>
            </a:solidFill>
            <a:ln w="12700">
              <a:solidFill>
                <a:srgbClr val="00BCD4"/>
              </a:solidFill>
              <a:prstDash val="solid"/>
            </a:ln>
          </p:spPr>
          <p:txBody>
            <a:bodyPr/>
            <a:lstStyle/>
            <a:p>
              <a:endParaRPr lang="en-MY"/>
            </a:p>
          </p:txBody>
        </p:sp>
        <p:sp>
          <p:nvSpPr>
            <p:cNvPr id="118" name="Text 11">
              <a:extLst>
                <a:ext uri="{FF2B5EF4-FFF2-40B4-BE49-F238E27FC236}">
                  <a16:creationId xmlns:a16="http://schemas.microsoft.com/office/drawing/2014/main" id="{81F3C639-E49C-2D78-6C09-896F5D38B03D}"/>
                </a:ext>
              </a:extLst>
            </p:cNvPr>
            <p:cNvSpPr/>
            <p:nvPr/>
          </p:nvSpPr>
          <p:spPr>
            <a:xfrm>
              <a:off x="4803951" y="2530140"/>
              <a:ext cx="283252" cy="160020"/>
            </a:xfrm>
            <a:prstGeom prst="rect">
              <a:avLst/>
            </a:prstGeom>
            <a:noFill/>
            <a:ln/>
          </p:spPr>
          <p:txBody>
            <a:bodyPr wrap="square" lIns="0" tIns="0" rIns="0" bIns="0" rtlCol="0" anchor="ctr"/>
            <a:lstStyle/>
            <a:p>
              <a:pPr marL="0" indent="0" algn="ctr">
                <a:buNone/>
              </a:pPr>
              <a:r>
                <a:rPr lang="en-US" sz="750" b="1" dirty="0">
                  <a:solidFill>
                    <a:srgbClr val="0A1628"/>
                  </a:solidFill>
                </a:rPr>
                <a:t>BO1</a:t>
              </a:r>
              <a:endParaRPr lang="en-US" sz="750" dirty="0"/>
            </a:p>
          </p:txBody>
        </p:sp>
        <p:sp>
          <p:nvSpPr>
            <p:cNvPr id="120" name="Shape 16">
              <a:extLst>
                <a:ext uri="{FF2B5EF4-FFF2-40B4-BE49-F238E27FC236}">
                  <a16:creationId xmlns:a16="http://schemas.microsoft.com/office/drawing/2014/main" id="{25741D99-DEAA-F5F8-3509-6234E93ADE53}"/>
                </a:ext>
              </a:extLst>
            </p:cNvPr>
            <p:cNvSpPr/>
            <p:nvPr/>
          </p:nvSpPr>
          <p:spPr>
            <a:xfrm>
              <a:off x="4815277" y="3025529"/>
              <a:ext cx="283252" cy="160020"/>
            </a:xfrm>
            <a:prstGeom prst="roundRect">
              <a:avLst>
                <a:gd name="adj" fmla="val 45714"/>
              </a:avLst>
            </a:prstGeom>
            <a:solidFill>
              <a:srgbClr val="00BCD4"/>
            </a:solidFill>
            <a:ln w="12700">
              <a:solidFill>
                <a:srgbClr val="00BCD4"/>
              </a:solidFill>
              <a:prstDash val="solid"/>
            </a:ln>
          </p:spPr>
          <p:txBody>
            <a:bodyPr/>
            <a:lstStyle/>
            <a:p>
              <a:endParaRPr lang="en-MY"/>
            </a:p>
          </p:txBody>
        </p:sp>
        <p:sp>
          <p:nvSpPr>
            <p:cNvPr id="122" name="Text 17">
              <a:extLst>
                <a:ext uri="{FF2B5EF4-FFF2-40B4-BE49-F238E27FC236}">
                  <a16:creationId xmlns:a16="http://schemas.microsoft.com/office/drawing/2014/main" id="{A12E8EF2-F689-D264-A52C-6D571A33DB26}"/>
                </a:ext>
              </a:extLst>
            </p:cNvPr>
            <p:cNvSpPr/>
            <p:nvPr/>
          </p:nvSpPr>
          <p:spPr>
            <a:xfrm>
              <a:off x="4815277" y="3025529"/>
              <a:ext cx="283252" cy="160020"/>
            </a:xfrm>
            <a:prstGeom prst="rect">
              <a:avLst/>
            </a:prstGeom>
            <a:noFill/>
            <a:ln/>
          </p:spPr>
          <p:txBody>
            <a:bodyPr wrap="square" lIns="0" tIns="0" rIns="0" bIns="0" rtlCol="0" anchor="ctr"/>
            <a:lstStyle/>
            <a:p>
              <a:pPr marL="0" indent="0" algn="ctr">
                <a:buNone/>
              </a:pPr>
              <a:r>
                <a:rPr lang="en-US" sz="750" b="1" dirty="0">
                  <a:solidFill>
                    <a:srgbClr val="0A1628"/>
                  </a:solidFill>
                </a:rPr>
                <a:t>BO1</a:t>
              </a:r>
              <a:endParaRPr lang="en-US" sz="750" dirty="0"/>
            </a:p>
          </p:txBody>
        </p:sp>
        <p:sp>
          <p:nvSpPr>
            <p:cNvPr id="124" name="Shape 22">
              <a:extLst>
                <a:ext uri="{FF2B5EF4-FFF2-40B4-BE49-F238E27FC236}">
                  <a16:creationId xmlns:a16="http://schemas.microsoft.com/office/drawing/2014/main" id="{A7078AB8-927C-47AF-EC60-B381746BBFB5}"/>
                </a:ext>
              </a:extLst>
            </p:cNvPr>
            <p:cNvSpPr/>
            <p:nvPr/>
          </p:nvSpPr>
          <p:spPr>
            <a:xfrm>
              <a:off x="4803951" y="3470575"/>
              <a:ext cx="283252" cy="160020"/>
            </a:xfrm>
            <a:prstGeom prst="roundRect">
              <a:avLst>
                <a:gd name="adj" fmla="val 45714"/>
              </a:avLst>
            </a:prstGeom>
            <a:solidFill>
              <a:srgbClr val="00BCD4"/>
            </a:solidFill>
            <a:ln w="12700">
              <a:solidFill>
                <a:srgbClr val="00BCD4"/>
              </a:solidFill>
              <a:prstDash val="solid"/>
            </a:ln>
          </p:spPr>
          <p:txBody>
            <a:bodyPr/>
            <a:lstStyle/>
            <a:p>
              <a:endParaRPr lang="en-MY"/>
            </a:p>
          </p:txBody>
        </p:sp>
        <p:sp>
          <p:nvSpPr>
            <p:cNvPr id="126" name="Text 23">
              <a:extLst>
                <a:ext uri="{FF2B5EF4-FFF2-40B4-BE49-F238E27FC236}">
                  <a16:creationId xmlns:a16="http://schemas.microsoft.com/office/drawing/2014/main" id="{244117D6-C524-5902-F6CB-93F40291F84F}"/>
                </a:ext>
              </a:extLst>
            </p:cNvPr>
            <p:cNvSpPr/>
            <p:nvPr/>
          </p:nvSpPr>
          <p:spPr>
            <a:xfrm>
              <a:off x="4803951" y="3470575"/>
              <a:ext cx="283252" cy="160020"/>
            </a:xfrm>
            <a:prstGeom prst="rect">
              <a:avLst/>
            </a:prstGeom>
            <a:noFill/>
            <a:ln/>
          </p:spPr>
          <p:txBody>
            <a:bodyPr wrap="square" lIns="0" tIns="0" rIns="0" bIns="0" rtlCol="0" anchor="ctr"/>
            <a:lstStyle/>
            <a:p>
              <a:pPr marL="0" indent="0" algn="ctr">
                <a:buNone/>
              </a:pPr>
              <a:r>
                <a:rPr lang="en-US" sz="750" b="1" dirty="0">
                  <a:solidFill>
                    <a:srgbClr val="0A1628"/>
                  </a:solidFill>
                </a:rPr>
                <a:t>BO1</a:t>
              </a:r>
              <a:endParaRPr lang="en-US" sz="750" dirty="0"/>
            </a:p>
          </p:txBody>
        </p:sp>
      </p:grpSp>
      <p:sp>
        <p:nvSpPr>
          <p:cNvPr id="49" name="Shape 28">
            <a:extLst>
              <a:ext uri="{FF2B5EF4-FFF2-40B4-BE49-F238E27FC236}">
                <a16:creationId xmlns:a16="http://schemas.microsoft.com/office/drawing/2014/main" id="{7BFD32AC-765A-DF00-64D1-1E631C460668}"/>
              </a:ext>
            </a:extLst>
          </p:cNvPr>
          <p:cNvSpPr/>
          <p:nvPr/>
        </p:nvSpPr>
        <p:spPr>
          <a:xfrm>
            <a:off x="4853174" y="3767374"/>
            <a:ext cx="1321405" cy="1234440"/>
          </a:xfrm>
          <a:prstGeom prst="roundRect">
            <a:avLst>
              <a:gd name="adj" fmla="val 8889"/>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dirty="0"/>
          </a:p>
        </p:txBody>
      </p:sp>
      <p:sp>
        <p:nvSpPr>
          <p:cNvPr id="56" name="Text 30">
            <a:extLst>
              <a:ext uri="{FF2B5EF4-FFF2-40B4-BE49-F238E27FC236}">
                <a16:creationId xmlns:a16="http://schemas.microsoft.com/office/drawing/2014/main" id="{6538009A-2EE3-993A-8644-0656615D6C8F}"/>
              </a:ext>
            </a:extLst>
          </p:cNvPr>
          <p:cNvSpPr/>
          <p:nvPr/>
        </p:nvSpPr>
        <p:spPr>
          <a:xfrm>
            <a:off x="7764916" y="3831982"/>
            <a:ext cx="1083955" cy="274320"/>
          </a:xfrm>
          <a:prstGeom prst="rect">
            <a:avLst/>
          </a:prstGeom>
          <a:noFill/>
          <a:ln/>
        </p:spPr>
        <p:txBody>
          <a:bodyPr wrap="square" lIns="0" tIns="0" rIns="0" bIns="0" rtlCol="0" anchor="ctr"/>
          <a:lstStyle/>
          <a:p>
            <a:pPr marL="0" indent="0">
              <a:buNone/>
            </a:pPr>
            <a:r>
              <a:rPr lang="en-US" sz="1000" b="1" dirty="0">
                <a:solidFill>
                  <a:srgbClr val="00BDD4"/>
                </a:solidFill>
              </a:rPr>
              <a:t>Payment Risk</a:t>
            </a:r>
            <a:endParaRPr lang="en-US" sz="1000" dirty="0">
              <a:solidFill>
                <a:srgbClr val="00BDD4"/>
              </a:solidFill>
            </a:endParaRPr>
          </a:p>
        </p:txBody>
      </p:sp>
      <p:sp>
        <p:nvSpPr>
          <p:cNvPr id="58" name="Text 31">
            <a:extLst>
              <a:ext uri="{FF2B5EF4-FFF2-40B4-BE49-F238E27FC236}">
                <a16:creationId xmlns:a16="http://schemas.microsoft.com/office/drawing/2014/main" id="{17EBFAAB-9320-37FC-3B14-D0930440BED6}"/>
              </a:ext>
            </a:extLst>
          </p:cNvPr>
          <p:cNvSpPr/>
          <p:nvPr/>
        </p:nvSpPr>
        <p:spPr>
          <a:xfrm>
            <a:off x="7763985" y="4105345"/>
            <a:ext cx="1170934" cy="713232"/>
          </a:xfrm>
          <a:prstGeom prst="rect">
            <a:avLst/>
          </a:prstGeom>
          <a:noFill/>
          <a:ln/>
        </p:spPr>
        <p:txBody>
          <a:bodyPr wrap="square" lIns="0" tIns="0" rIns="0" bIns="0" rtlCol="0" anchor="t"/>
          <a:lstStyle/>
          <a:p>
            <a:pPr marL="0" indent="0">
              <a:buNone/>
            </a:pPr>
            <a:r>
              <a:rPr lang="en-US" sz="700" dirty="0">
                <a:solidFill>
                  <a:srgbClr val="B0BEC5"/>
                </a:solidFill>
              </a:rPr>
              <a:t>Credit card: 78.09% of payments. Boleto: 17.51%. Debit + voucher: 4.58%. </a:t>
            </a:r>
          </a:p>
          <a:p>
            <a:pPr marL="0" indent="0">
              <a:buNone/>
            </a:pPr>
            <a:endParaRPr lang="en-US" sz="700" dirty="0">
              <a:solidFill>
                <a:srgbClr val="B0BEC5"/>
              </a:solidFill>
            </a:endParaRPr>
          </a:p>
          <a:p>
            <a:pPr marL="0" indent="0">
              <a:buNone/>
            </a:pPr>
            <a:r>
              <a:rPr lang="en-US" sz="700" dirty="0">
                <a:solidFill>
                  <a:srgbClr val="B0BEC5"/>
                </a:solidFill>
              </a:rPr>
              <a:t>High concentration = regulatory disruption risk.</a:t>
            </a:r>
            <a:endParaRPr lang="en-US" sz="700" dirty="0"/>
          </a:p>
        </p:txBody>
      </p:sp>
      <p:sp>
        <p:nvSpPr>
          <p:cNvPr id="65" name="Text 34">
            <a:extLst>
              <a:ext uri="{FF2B5EF4-FFF2-40B4-BE49-F238E27FC236}">
                <a16:creationId xmlns:a16="http://schemas.microsoft.com/office/drawing/2014/main" id="{34FE0416-A4A2-D668-47AA-0008419A7995}"/>
              </a:ext>
            </a:extLst>
          </p:cNvPr>
          <p:cNvSpPr/>
          <p:nvPr/>
        </p:nvSpPr>
        <p:spPr>
          <a:xfrm>
            <a:off x="6350459" y="3831025"/>
            <a:ext cx="1151651" cy="274320"/>
          </a:xfrm>
          <a:prstGeom prst="rect">
            <a:avLst/>
          </a:prstGeom>
          <a:noFill/>
          <a:ln/>
        </p:spPr>
        <p:txBody>
          <a:bodyPr wrap="square" lIns="0" tIns="0" rIns="0" bIns="0" rtlCol="0" anchor="ctr"/>
          <a:lstStyle/>
          <a:p>
            <a:pPr marL="0" indent="0">
              <a:buNone/>
            </a:pPr>
            <a:r>
              <a:rPr lang="en-US" sz="1000" b="1" dirty="0">
                <a:solidFill>
                  <a:srgbClr val="00BDD4"/>
                </a:solidFill>
              </a:rPr>
              <a:t>Category Leaders</a:t>
            </a:r>
            <a:endParaRPr lang="en-US" sz="1000" dirty="0">
              <a:solidFill>
                <a:srgbClr val="00BDD4"/>
              </a:solidFill>
            </a:endParaRPr>
          </a:p>
        </p:txBody>
      </p:sp>
      <p:sp>
        <p:nvSpPr>
          <p:cNvPr id="67" name="Text 35">
            <a:extLst>
              <a:ext uri="{FF2B5EF4-FFF2-40B4-BE49-F238E27FC236}">
                <a16:creationId xmlns:a16="http://schemas.microsoft.com/office/drawing/2014/main" id="{E74D02ED-81CC-FDB9-BC9D-E43AE11614A1}"/>
              </a:ext>
            </a:extLst>
          </p:cNvPr>
          <p:cNvSpPr/>
          <p:nvPr/>
        </p:nvSpPr>
        <p:spPr>
          <a:xfrm>
            <a:off x="6361919" y="4130562"/>
            <a:ext cx="1156760" cy="713232"/>
          </a:xfrm>
          <a:prstGeom prst="rect">
            <a:avLst/>
          </a:prstGeom>
          <a:noFill/>
          <a:ln/>
        </p:spPr>
        <p:txBody>
          <a:bodyPr wrap="square" lIns="0" tIns="0" rIns="0" bIns="0" rtlCol="0" anchor="t"/>
          <a:lstStyle/>
          <a:p>
            <a:pPr marL="0" indent="0">
              <a:buNone/>
            </a:pPr>
            <a:r>
              <a:rPr lang="en-US" sz="700" dirty="0">
                <a:solidFill>
                  <a:srgbClr val="B0BEC5"/>
                </a:solidFill>
              </a:rPr>
              <a:t>Top GMV: Health &amp; Beauty ($1.44M), Watches &amp; Gifts ($1.31M), Bed Bath Table ($1.24M). </a:t>
            </a:r>
          </a:p>
          <a:p>
            <a:pPr marL="0" indent="0">
              <a:buNone/>
            </a:pPr>
            <a:r>
              <a:rPr lang="en-US" sz="700" dirty="0">
                <a:solidFill>
                  <a:srgbClr val="B0BEC5"/>
                </a:solidFill>
              </a:rPr>
              <a:t>But Small Appliances leads in avg CLV.</a:t>
            </a:r>
            <a:endParaRPr lang="en-US" sz="700" dirty="0"/>
          </a:p>
        </p:txBody>
      </p:sp>
      <p:sp>
        <p:nvSpPr>
          <p:cNvPr id="45" name="Text 26">
            <a:extLst>
              <a:ext uri="{FF2B5EF4-FFF2-40B4-BE49-F238E27FC236}">
                <a16:creationId xmlns:a16="http://schemas.microsoft.com/office/drawing/2014/main" id="{32440153-A30F-8506-AF33-C0B2151F7041}"/>
              </a:ext>
            </a:extLst>
          </p:cNvPr>
          <p:cNvSpPr/>
          <p:nvPr/>
        </p:nvSpPr>
        <p:spPr>
          <a:xfrm>
            <a:off x="4940398" y="3840667"/>
            <a:ext cx="1103770" cy="274320"/>
          </a:xfrm>
          <a:prstGeom prst="rect">
            <a:avLst/>
          </a:prstGeom>
          <a:noFill/>
          <a:ln/>
        </p:spPr>
        <p:txBody>
          <a:bodyPr wrap="square" lIns="0" tIns="0" rIns="0" bIns="0" rtlCol="0" anchor="ctr"/>
          <a:lstStyle/>
          <a:p>
            <a:pPr marL="0" indent="0">
              <a:buNone/>
            </a:pPr>
            <a:r>
              <a:rPr lang="en-US" sz="1000" b="1" dirty="0">
                <a:solidFill>
                  <a:srgbClr val="00BDD4"/>
                </a:solidFill>
              </a:rPr>
              <a:t>Revenue Growth</a:t>
            </a:r>
            <a:endParaRPr lang="en-US" sz="1000" dirty="0">
              <a:solidFill>
                <a:srgbClr val="00BDD4"/>
              </a:solidFill>
            </a:endParaRPr>
          </a:p>
        </p:txBody>
      </p:sp>
      <p:sp>
        <p:nvSpPr>
          <p:cNvPr id="47" name="Text 27">
            <a:extLst>
              <a:ext uri="{FF2B5EF4-FFF2-40B4-BE49-F238E27FC236}">
                <a16:creationId xmlns:a16="http://schemas.microsoft.com/office/drawing/2014/main" id="{A816752E-008F-566C-3703-5489C25FA540}"/>
              </a:ext>
            </a:extLst>
          </p:cNvPr>
          <p:cNvSpPr/>
          <p:nvPr/>
        </p:nvSpPr>
        <p:spPr>
          <a:xfrm>
            <a:off x="4935057" y="4122589"/>
            <a:ext cx="1109111" cy="713232"/>
          </a:xfrm>
          <a:prstGeom prst="rect">
            <a:avLst/>
          </a:prstGeom>
          <a:noFill/>
          <a:ln/>
        </p:spPr>
        <p:txBody>
          <a:bodyPr wrap="square" lIns="0" tIns="0" rIns="0" bIns="0" rtlCol="0" anchor="t"/>
          <a:lstStyle/>
          <a:p>
            <a:pPr marL="0" indent="0">
              <a:buNone/>
            </a:pPr>
            <a:r>
              <a:rPr lang="en-US" sz="700" dirty="0">
                <a:solidFill>
                  <a:srgbClr val="B0BEC5"/>
                </a:solidFill>
              </a:rPr>
              <a:t>GMV peaked in Nov 2017 (Black Friday effect). Growth trajectory shows expansion driven by transaction volume, not higher order values.</a:t>
            </a:r>
            <a:endParaRPr lang="en-US" sz="700" dirty="0"/>
          </a:p>
        </p:txBody>
      </p:sp>
    </p:spTree>
    <p:extLst>
      <p:ext uri="{BB962C8B-B14F-4D97-AF65-F5344CB8AC3E}">
        <p14:creationId xmlns:p14="http://schemas.microsoft.com/office/powerpoint/2010/main" val="1422199939"/>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a:extLst>
            <a:ext uri="{FF2B5EF4-FFF2-40B4-BE49-F238E27FC236}">
              <a16:creationId xmlns:a16="http://schemas.microsoft.com/office/drawing/2014/main" id="{7464A6A3-536F-2029-1C5D-767F55BFA7EA}"/>
            </a:ext>
          </a:extLst>
        </p:cNvPr>
        <p:cNvGrpSpPr/>
        <p:nvPr/>
      </p:nvGrpSpPr>
      <p:grpSpPr>
        <a:xfrm>
          <a:off x="0" y="0"/>
          <a:ext cx="0" cy="0"/>
          <a:chOff x="0" y="0"/>
          <a:chExt cx="0" cy="0"/>
        </a:xfrm>
      </p:grpSpPr>
      <p:sp>
        <p:nvSpPr>
          <p:cNvPr id="136" name="Shape 31">
            <a:extLst>
              <a:ext uri="{FF2B5EF4-FFF2-40B4-BE49-F238E27FC236}">
                <a16:creationId xmlns:a16="http://schemas.microsoft.com/office/drawing/2014/main" id="{26F83C09-52BB-6901-FE18-64F15F536D53}"/>
              </a:ext>
            </a:extLst>
          </p:cNvPr>
          <p:cNvSpPr/>
          <p:nvPr/>
        </p:nvSpPr>
        <p:spPr>
          <a:xfrm>
            <a:off x="6942847" y="4428926"/>
            <a:ext cx="2022022" cy="526884"/>
          </a:xfrm>
          <a:prstGeom prst="roundRect">
            <a:avLst>
              <a:gd name="adj" fmla="val 685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34" name="Shape 31">
            <a:extLst>
              <a:ext uri="{FF2B5EF4-FFF2-40B4-BE49-F238E27FC236}">
                <a16:creationId xmlns:a16="http://schemas.microsoft.com/office/drawing/2014/main" id="{F3740ED3-D26F-E6A4-CE8B-E8A3F265AE89}"/>
              </a:ext>
            </a:extLst>
          </p:cNvPr>
          <p:cNvSpPr/>
          <p:nvPr/>
        </p:nvSpPr>
        <p:spPr>
          <a:xfrm>
            <a:off x="6942847" y="3811418"/>
            <a:ext cx="2022021" cy="526884"/>
          </a:xfrm>
          <a:prstGeom prst="roundRect">
            <a:avLst>
              <a:gd name="adj" fmla="val 685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32" name="Shape 31">
            <a:extLst>
              <a:ext uri="{FF2B5EF4-FFF2-40B4-BE49-F238E27FC236}">
                <a16:creationId xmlns:a16="http://schemas.microsoft.com/office/drawing/2014/main" id="{81F5901A-4CF0-102A-D7D1-D11CC5B4386E}"/>
              </a:ext>
            </a:extLst>
          </p:cNvPr>
          <p:cNvSpPr/>
          <p:nvPr/>
        </p:nvSpPr>
        <p:spPr>
          <a:xfrm>
            <a:off x="4853174" y="4428926"/>
            <a:ext cx="2022021" cy="526884"/>
          </a:xfrm>
          <a:prstGeom prst="roundRect">
            <a:avLst>
              <a:gd name="adj" fmla="val 685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2" name="Shape 0">
            <a:extLst>
              <a:ext uri="{FF2B5EF4-FFF2-40B4-BE49-F238E27FC236}">
                <a16:creationId xmlns:a16="http://schemas.microsoft.com/office/drawing/2014/main" id="{96ADC10B-7FF9-1BEE-0741-4D7C2505AC3B}"/>
              </a:ext>
            </a:extLst>
          </p:cNvPr>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a:extLst>
              <a:ext uri="{FF2B5EF4-FFF2-40B4-BE49-F238E27FC236}">
                <a16:creationId xmlns:a16="http://schemas.microsoft.com/office/drawing/2014/main" id="{FC7C2CE2-6BF8-0AC6-05F6-A7C4D35F4AE1}"/>
              </a:ext>
            </a:extLst>
          </p:cNvPr>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7" name="Text 5">
            <a:extLst>
              <a:ext uri="{FF2B5EF4-FFF2-40B4-BE49-F238E27FC236}">
                <a16:creationId xmlns:a16="http://schemas.microsoft.com/office/drawing/2014/main" id="{2819AD98-B819-A658-ADF3-1D9D1A816A3A}"/>
              </a:ext>
            </a:extLst>
          </p:cNvPr>
          <p:cNvSpPr/>
          <p:nvPr/>
        </p:nvSpPr>
        <p:spPr>
          <a:xfrm>
            <a:off x="1063767" y="219075"/>
            <a:ext cx="7360920" cy="438912"/>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Business Objective 2 – Delivery &amp; Satisfaction</a:t>
            </a:r>
            <a:endParaRPr lang="en-US" sz="2800" dirty="0"/>
          </a:p>
        </p:txBody>
      </p:sp>
      <p:pic>
        <p:nvPicPr>
          <p:cNvPr id="54" name="Picture 53">
            <a:extLst>
              <a:ext uri="{FF2B5EF4-FFF2-40B4-BE49-F238E27FC236}">
                <a16:creationId xmlns:a16="http://schemas.microsoft.com/office/drawing/2014/main" id="{E36AD0F4-1EAB-4615-BA5E-E96C8E8128A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grpSp>
        <p:nvGrpSpPr>
          <p:cNvPr id="128" name="Group 127">
            <a:extLst>
              <a:ext uri="{FF2B5EF4-FFF2-40B4-BE49-F238E27FC236}">
                <a16:creationId xmlns:a16="http://schemas.microsoft.com/office/drawing/2014/main" id="{0E4C440B-7C34-92AC-25AF-C1C566C94C60}"/>
              </a:ext>
            </a:extLst>
          </p:cNvPr>
          <p:cNvGrpSpPr/>
          <p:nvPr/>
        </p:nvGrpSpPr>
        <p:grpSpPr>
          <a:xfrm>
            <a:off x="4853174" y="1004649"/>
            <a:ext cx="4142796" cy="982042"/>
            <a:chOff x="4696405" y="960120"/>
            <a:chExt cx="4343400" cy="1083371"/>
          </a:xfrm>
        </p:grpSpPr>
        <p:sp>
          <p:nvSpPr>
            <p:cNvPr id="98" name="Shape 26">
              <a:extLst>
                <a:ext uri="{FF2B5EF4-FFF2-40B4-BE49-F238E27FC236}">
                  <a16:creationId xmlns:a16="http://schemas.microsoft.com/office/drawing/2014/main" id="{5FD8A861-D062-6686-953B-ECCEFA1F873A}"/>
                </a:ext>
              </a:extLst>
            </p:cNvPr>
            <p:cNvSpPr/>
            <p:nvPr/>
          </p:nvSpPr>
          <p:spPr>
            <a:xfrm>
              <a:off x="4696405" y="1025271"/>
              <a:ext cx="4343400" cy="1018220"/>
            </a:xfrm>
            <a:prstGeom prst="roundRect">
              <a:avLst>
                <a:gd name="adj" fmla="val 3333"/>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100" name="Shape 27">
              <a:extLst>
                <a:ext uri="{FF2B5EF4-FFF2-40B4-BE49-F238E27FC236}">
                  <a16:creationId xmlns:a16="http://schemas.microsoft.com/office/drawing/2014/main" id="{D758A93F-2583-816C-9996-9B2BD281983D}"/>
                </a:ext>
              </a:extLst>
            </p:cNvPr>
            <p:cNvSpPr/>
            <p:nvPr/>
          </p:nvSpPr>
          <p:spPr>
            <a:xfrm>
              <a:off x="4696405" y="960120"/>
              <a:ext cx="4343400" cy="310896"/>
            </a:xfrm>
            <a:prstGeom prst="roundRect">
              <a:avLst>
                <a:gd name="adj" fmla="val 35294"/>
              </a:avLst>
            </a:prstGeom>
            <a:solidFill>
              <a:srgbClr val="4CAF50"/>
            </a:solidFill>
            <a:ln w="12700">
              <a:solidFill>
                <a:srgbClr val="4CAF50"/>
              </a:solidFill>
              <a:prstDash val="solid"/>
            </a:ln>
          </p:spPr>
          <p:txBody>
            <a:bodyPr/>
            <a:lstStyle/>
            <a:p>
              <a:endParaRPr lang="en-MY">
                <a:solidFill>
                  <a:srgbClr val="4CAF50"/>
                </a:solidFill>
                <a:effectLst>
                  <a:outerShdw blurRad="50800" dist="38100" dir="2700000" algn="tl" rotWithShape="0">
                    <a:prstClr val="black">
                      <a:alpha val="40000"/>
                    </a:prstClr>
                  </a:outerShdw>
                </a:effectLst>
              </a:endParaRPr>
            </a:p>
          </p:txBody>
        </p:sp>
        <p:sp>
          <p:nvSpPr>
            <p:cNvPr id="102" name="Shape 28">
              <a:extLst>
                <a:ext uri="{FF2B5EF4-FFF2-40B4-BE49-F238E27FC236}">
                  <a16:creationId xmlns:a16="http://schemas.microsoft.com/office/drawing/2014/main" id="{CF353896-5D18-7A28-C0C6-8DDD07BE6617}"/>
                </a:ext>
              </a:extLst>
            </p:cNvPr>
            <p:cNvSpPr/>
            <p:nvPr/>
          </p:nvSpPr>
          <p:spPr>
            <a:xfrm>
              <a:off x="4696405" y="1143000"/>
              <a:ext cx="4343400" cy="128016"/>
            </a:xfrm>
            <a:prstGeom prst="rect">
              <a:avLst/>
            </a:prstGeom>
            <a:solidFill>
              <a:srgbClr val="4CAF50"/>
            </a:solidFill>
            <a:ln w="12700">
              <a:solidFill>
                <a:srgbClr val="4CAF50"/>
              </a:solidFill>
              <a:prstDash val="solid"/>
            </a:ln>
          </p:spPr>
          <p:txBody>
            <a:bodyPr/>
            <a:lstStyle/>
            <a:p>
              <a:endParaRPr lang="en-MY"/>
            </a:p>
          </p:txBody>
        </p:sp>
        <p:sp>
          <p:nvSpPr>
            <p:cNvPr id="104" name="Text 29">
              <a:extLst>
                <a:ext uri="{FF2B5EF4-FFF2-40B4-BE49-F238E27FC236}">
                  <a16:creationId xmlns:a16="http://schemas.microsoft.com/office/drawing/2014/main" id="{D05E294B-58CF-5ACF-F786-B1D5D391BDFA}"/>
                </a:ext>
              </a:extLst>
            </p:cNvPr>
            <p:cNvSpPr/>
            <p:nvPr/>
          </p:nvSpPr>
          <p:spPr>
            <a:xfrm>
              <a:off x="4815277" y="969264"/>
              <a:ext cx="4160520" cy="292608"/>
            </a:xfrm>
            <a:prstGeom prst="rect">
              <a:avLst/>
            </a:prstGeom>
            <a:noFill/>
            <a:ln/>
          </p:spPr>
          <p:txBody>
            <a:bodyPr wrap="square" lIns="0" tIns="0" rIns="0" bIns="0" rtlCol="0" anchor="ctr"/>
            <a:lstStyle/>
            <a:p>
              <a:pPr marL="0" indent="0">
                <a:buNone/>
              </a:pPr>
              <a:r>
                <a:rPr lang="en-US" sz="11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Business Objectives 2</a:t>
              </a:r>
              <a:endParaRPr lang="en-US" sz="1100" dirty="0">
                <a:effectLst>
                  <a:outerShdw blurRad="50800" dist="38100" dir="2700000" algn="tl" rotWithShape="0">
                    <a:prstClr val="black">
                      <a:alpha val="40000"/>
                    </a:prstClr>
                  </a:outerShdw>
                </a:effectLst>
              </a:endParaRPr>
            </a:p>
          </p:txBody>
        </p:sp>
        <p:sp>
          <p:nvSpPr>
            <p:cNvPr id="106" name="Shape 30">
              <a:extLst>
                <a:ext uri="{FF2B5EF4-FFF2-40B4-BE49-F238E27FC236}">
                  <a16:creationId xmlns:a16="http://schemas.microsoft.com/office/drawing/2014/main" id="{603D5874-0E45-4F98-EFA5-5DD0AA6A2097}"/>
                </a:ext>
              </a:extLst>
            </p:cNvPr>
            <p:cNvSpPr/>
            <p:nvPr/>
          </p:nvSpPr>
          <p:spPr>
            <a:xfrm>
              <a:off x="4842709" y="1432843"/>
              <a:ext cx="452706" cy="457201"/>
            </a:xfrm>
            <a:prstGeom prst="roundRect">
              <a:avLst>
                <a:gd name="adj" fmla="val 12000"/>
              </a:avLst>
            </a:prstGeom>
            <a:solidFill>
              <a:srgbClr val="4CAF50"/>
            </a:solidFill>
            <a:ln w="12700">
              <a:solidFill>
                <a:srgbClr val="4CAF50"/>
              </a:solidFill>
              <a:prstDash val="solid"/>
            </a:ln>
          </p:spPr>
          <p:txBody>
            <a:bodyPr/>
            <a:lstStyle/>
            <a:p>
              <a:endParaRPr lang="en-MY">
                <a:solidFill>
                  <a:srgbClr val="4CAF50"/>
                </a:solidFill>
              </a:endParaRPr>
            </a:p>
          </p:txBody>
        </p:sp>
        <p:sp>
          <p:nvSpPr>
            <p:cNvPr id="108" name="Text 31">
              <a:extLst>
                <a:ext uri="{FF2B5EF4-FFF2-40B4-BE49-F238E27FC236}">
                  <a16:creationId xmlns:a16="http://schemas.microsoft.com/office/drawing/2014/main" id="{A4DE41BA-28D3-13DA-47B4-50F1E2A6D869}"/>
                </a:ext>
              </a:extLst>
            </p:cNvPr>
            <p:cNvSpPr/>
            <p:nvPr/>
          </p:nvSpPr>
          <p:spPr>
            <a:xfrm>
              <a:off x="4842709" y="1432843"/>
              <a:ext cx="452706" cy="457201"/>
            </a:xfrm>
            <a:prstGeom prst="rect">
              <a:avLst/>
            </a:prstGeom>
            <a:noFill/>
            <a:ln/>
          </p:spPr>
          <p:txBody>
            <a:bodyPr wrap="square" lIns="0" tIns="0" rIns="0" bIns="0" rtlCol="0" anchor="ctr"/>
            <a:lstStyle/>
            <a:p>
              <a:pPr marL="0" indent="0" algn="ctr">
                <a:buNone/>
              </a:pPr>
              <a:r>
                <a:rPr lang="en-US" sz="9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BO2</a:t>
              </a:r>
              <a:endParaRPr lang="en-US" sz="900" dirty="0">
                <a:effectLst>
                  <a:outerShdw blurRad="50800" dist="38100" dir="2700000" algn="tl" rotWithShape="0">
                    <a:prstClr val="black">
                      <a:alpha val="40000"/>
                    </a:prstClr>
                  </a:outerShdw>
                </a:effectLst>
              </a:endParaRPr>
            </a:p>
          </p:txBody>
        </p:sp>
        <p:sp>
          <p:nvSpPr>
            <p:cNvPr id="110" name="Text 32">
              <a:extLst>
                <a:ext uri="{FF2B5EF4-FFF2-40B4-BE49-F238E27FC236}">
                  <a16:creationId xmlns:a16="http://schemas.microsoft.com/office/drawing/2014/main" id="{03472DAC-9900-8332-58BB-9A2CFA8D9D3B}"/>
                </a:ext>
              </a:extLst>
            </p:cNvPr>
            <p:cNvSpPr/>
            <p:nvPr/>
          </p:nvSpPr>
          <p:spPr>
            <a:xfrm>
              <a:off x="5409637" y="1345830"/>
              <a:ext cx="3474720" cy="201169"/>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Delivery &amp; Satisfaction</a:t>
              </a:r>
              <a:endParaRPr lang="en-US" sz="950" dirty="0"/>
            </a:p>
          </p:txBody>
        </p:sp>
        <p:sp>
          <p:nvSpPr>
            <p:cNvPr id="112" name="Text 33">
              <a:extLst>
                <a:ext uri="{FF2B5EF4-FFF2-40B4-BE49-F238E27FC236}">
                  <a16:creationId xmlns:a16="http://schemas.microsoft.com/office/drawing/2014/main" id="{8EB9C66F-BB64-B9D6-B79C-8395A6FC808E}"/>
                </a:ext>
              </a:extLst>
            </p:cNvPr>
            <p:cNvSpPr/>
            <p:nvPr/>
          </p:nvSpPr>
          <p:spPr>
            <a:xfrm>
              <a:off x="5409637" y="1586289"/>
              <a:ext cx="3474720" cy="457202"/>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To assess logistical performance along with customer satisfaction. To find possible operational problems, consumer happiness is further assessed utilizing review scores along with delivery performance trends.</a:t>
              </a:r>
            </a:p>
            <a:p>
              <a:pPr marL="0" indent="0">
                <a:buNone/>
              </a:pPr>
              <a:r>
                <a:rPr lang="en-US" sz="800" dirty="0">
                  <a:solidFill>
                    <a:srgbClr val="8BA5C0"/>
                  </a:solidFill>
                  <a:latin typeface="Calibri" pitchFamily="34" charset="0"/>
                  <a:ea typeface="Calibri" pitchFamily="34" charset="-122"/>
                  <a:cs typeface="Calibri" pitchFamily="34" charset="-120"/>
                </a:rPr>
                <a:t> </a:t>
              </a:r>
              <a:endParaRPr lang="en-US" sz="800" dirty="0"/>
            </a:p>
          </p:txBody>
        </p:sp>
      </p:grpSp>
      <p:grpSp>
        <p:nvGrpSpPr>
          <p:cNvPr id="127" name="Group 126">
            <a:extLst>
              <a:ext uri="{FF2B5EF4-FFF2-40B4-BE49-F238E27FC236}">
                <a16:creationId xmlns:a16="http://schemas.microsoft.com/office/drawing/2014/main" id="{74C4F4D0-9984-E1F3-F54E-97E880698ACF}"/>
              </a:ext>
            </a:extLst>
          </p:cNvPr>
          <p:cNvGrpSpPr/>
          <p:nvPr/>
        </p:nvGrpSpPr>
        <p:grpSpPr>
          <a:xfrm>
            <a:off x="4853174" y="2054507"/>
            <a:ext cx="4142796" cy="1612955"/>
            <a:chOff x="4696405" y="2206377"/>
            <a:chExt cx="4343400" cy="1612955"/>
          </a:xfrm>
        </p:grpSpPr>
        <p:sp>
          <p:nvSpPr>
            <p:cNvPr id="86" name="Shape 21">
              <a:extLst>
                <a:ext uri="{FF2B5EF4-FFF2-40B4-BE49-F238E27FC236}">
                  <a16:creationId xmlns:a16="http://schemas.microsoft.com/office/drawing/2014/main" id="{662A3F3D-EA85-DF41-C4D1-E7C18FE9ED54}"/>
                </a:ext>
              </a:extLst>
            </p:cNvPr>
            <p:cNvSpPr/>
            <p:nvPr/>
          </p:nvSpPr>
          <p:spPr>
            <a:xfrm>
              <a:off x="4696405" y="2918667"/>
              <a:ext cx="4343400" cy="399116"/>
            </a:xfrm>
            <a:prstGeom prst="rect">
              <a:avLst/>
            </a:prstGeom>
            <a:solidFill>
              <a:srgbClr val="0B1E34"/>
            </a:solidFill>
            <a:ln w="3810">
              <a:solidFill>
                <a:srgbClr val="1A3055"/>
              </a:solidFill>
              <a:prstDash val="solid"/>
            </a:ln>
          </p:spPr>
          <p:txBody>
            <a:bodyPr/>
            <a:lstStyle/>
            <a:p>
              <a:endParaRPr lang="en-MY">
                <a:solidFill>
                  <a:srgbClr val="4CAF50"/>
                </a:solidFill>
              </a:endParaRPr>
            </a:p>
          </p:txBody>
        </p:sp>
        <p:sp>
          <p:nvSpPr>
            <p:cNvPr id="8" name="Shape 4">
              <a:extLst>
                <a:ext uri="{FF2B5EF4-FFF2-40B4-BE49-F238E27FC236}">
                  <a16:creationId xmlns:a16="http://schemas.microsoft.com/office/drawing/2014/main" id="{D0D1FDC1-0605-F17B-FBF5-53A80FCD3431}"/>
                </a:ext>
              </a:extLst>
            </p:cNvPr>
            <p:cNvSpPr/>
            <p:nvPr/>
          </p:nvSpPr>
          <p:spPr>
            <a:xfrm>
              <a:off x="4696405" y="2217385"/>
              <a:ext cx="4343400" cy="451281"/>
            </a:xfrm>
            <a:prstGeom prst="rect">
              <a:avLst/>
            </a:prstGeom>
            <a:solidFill>
              <a:srgbClr val="0F2646"/>
            </a:solidFill>
            <a:ln w="6350">
              <a:solidFill>
                <a:srgbClr val="1A3055"/>
              </a:solidFill>
              <a:prstDash val="solid"/>
            </a:ln>
          </p:spPr>
          <p:txBody>
            <a:bodyPr/>
            <a:lstStyle/>
            <a:p>
              <a:endParaRPr lang="en-MY">
                <a:solidFill>
                  <a:srgbClr val="4CAF50"/>
                </a:solidFill>
              </a:endParaRPr>
            </a:p>
          </p:txBody>
        </p:sp>
        <p:sp>
          <p:nvSpPr>
            <p:cNvPr id="12" name="Text 6">
              <a:extLst>
                <a:ext uri="{FF2B5EF4-FFF2-40B4-BE49-F238E27FC236}">
                  <a16:creationId xmlns:a16="http://schemas.microsoft.com/office/drawing/2014/main" id="{34212F8F-A659-71A5-9415-7D11A8A34353}"/>
                </a:ext>
              </a:extLst>
            </p:cNvPr>
            <p:cNvSpPr/>
            <p:nvPr/>
          </p:nvSpPr>
          <p:spPr>
            <a:xfrm>
              <a:off x="5363662" y="2210088"/>
              <a:ext cx="936909" cy="237744"/>
            </a:xfrm>
            <a:prstGeom prst="rect">
              <a:avLst/>
            </a:prstGeom>
            <a:noFill/>
            <a:ln/>
          </p:spPr>
          <p:txBody>
            <a:bodyPr wrap="square" lIns="0" tIns="0" rIns="0" bIns="0" rtlCol="0" anchor="ctr"/>
            <a:lstStyle/>
            <a:p>
              <a:pPr marL="0" indent="0">
                <a:buNone/>
              </a:pPr>
              <a:r>
                <a:rPr lang="en-US" sz="750" b="1" dirty="0">
                  <a:solidFill>
                    <a:srgbClr val="4CAF50"/>
                  </a:solidFill>
                </a:rPr>
                <a:t>MEASURE</a:t>
              </a:r>
              <a:endParaRPr lang="en-US" sz="750" dirty="0">
                <a:solidFill>
                  <a:srgbClr val="4CAF50"/>
                </a:solidFill>
              </a:endParaRPr>
            </a:p>
          </p:txBody>
        </p:sp>
        <p:sp>
          <p:nvSpPr>
            <p:cNvPr id="52" name="Text 7">
              <a:extLst>
                <a:ext uri="{FF2B5EF4-FFF2-40B4-BE49-F238E27FC236}">
                  <a16:creationId xmlns:a16="http://schemas.microsoft.com/office/drawing/2014/main" id="{A206E993-F6EB-82DA-4890-2A3575186B21}"/>
                </a:ext>
              </a:extLst>
            </p:cNvPr>
            <p:cNvSpPr/>
            <p:nvPr/>
          </p:nvSpPr>
          <p:spPr>
            <a:xfrm>
              <a:off x="6058315" y="2214618"/>
              <a:ext cx="1950079" cy="237744"/>
            </a:xfrm>
            <a:prstGeom prst="rect">
              <a:avLst/>
            </a:prstGeom>
            <a:noFill/>
            <a:ln/>
          </p:spPr>
          <p:txBody>
            <a:bodyPr wrap="square" lIns="0" tIns="0" rIns="0" bIns="0" rtlCol="0" anchor="ctr"/>
            <a:lstStyle/>
            <a:p>
              <a:pPr marL="0" indent="0">
                <a:buNone/>
              </a:pPr>
              <a:r>
                <a:rPr lang="en-US" sz="750" b="1" dirty="0">
                  <a:solidFill>
                    <a:srgbClr val="4CAF50"/>
                  </a:solidFill>
                </a:rPr>
                <a:t>DAX FORMULA</a:t>
              </a:r>
              <a:endParaRPr lang="en-US" sz="750" dirty="0">
                <a:solidFill>
                  <a:srgbClr val="4CAF50"/>
                </a:solidFill>
              </a:endParaRPr>
            </a:p>
          </p:txBody>
        </p:sp>
        <p:sp>
          <p:nvSpPr>
            <p:cNvPr id="55" name="Text 8">
              <a:extLst>
                <a:ext uri="{FF2B5EF4-FFF2-40B4-BE49-F238E27FC236}">
                  <a16:creationId xmlns:a16="http://schemas.microsoft.com/office/drawing/2014/main" id="{443BFD6B-FE6D-00C1-8895-8007393E109F}"/>
                </a:ext>
              </a:extLst>
            </p:cNvPr>
            <p:cNvSpPr/>
            <p:nvPr/>
          </p:nvSpPr>
          <p:spPr>
            <a:xfrm>
              <a:off x="7424404" y="2210061"/>
              <a:ext cx="1587174" cy="237744"/>
            </a:xfrm>
            <a:prstGeom prst="rect">
              <a:avLst/>
            </a:prstGeom>
            <a:noFill/>
            <a:ln/>
          </p:spPr>
          <p:txBody>
            <a:bodyPr wrap="square" lIns="0" tIns="0" rIns="0" bIns="0" rtlCol="0" anchor="ctr"/>
            <a:lstStyle/>
            <a:p>
              <a:pPr marL="0" indent="0">
                <a:buNone/>
              </a:pPr>
              <a:r>
                <a:rPr lang="en-US" sz="750" b="1" dirty="0">
                  <a:solidFill>
                    <a:srgbClr val="4CAF50"/>
                  </a:solidFill>
                </a:rPr>
                <a:t>BUSINESS IMPORTANCE</a:t>
              </a:r>
              <a:endParaRPr lang="en-US" sz="750" dirty="0">
                <a:solidFill>
                  <a:srgbClr val="4CAF50"/>
                </a:solidFill>
              </a:endParaRPr>
            </a:p>
          </p:txBody>
        </p:sp>
        <p:sp>
          <p:nvSpPr>
            <p:cNvPr id="62" name="Shape 9">
              <a:extLst>
                <a:ext uri="{FF2B5EF4-FFF2-40B4-BE49-F238E27FC236}">
                  <a16:creationId xmlns:a16="http://schemas.microsoft.com/office/drawing/2014/main" id="{21B99176-DDE4-141B-2205-9AFA9A663557}"/>
                </a:ext>
              </a:extLst>
            </p:cNvPr>
            <p:cNvSpPr/>
            <p:nvPr/>
          </p:nvSpPr>
          <p:spPr>
            <a:xfrm>
              <a:off x="4696405" y="2407514"/>
              <a:ext cx="4343400" cy="516194"/>
            </a:xfrm>
            <a:prstGeom prst="rect">
              <a:avLst/>
            </a:prstGeom>
            <a:solidFill>
              <a:srgbClr val="0B1E34"/>
            </a:solidFill>
            <a:ln w="3810">
              <a:solidFill>
                <a:srgbClr val="1A3055"/>
              </a:solidFill>
              <a:prstDash val="solid"/>
            </a:ln>
          </p:spPr>
          <p:txBody>
            <a:bodyPr/>
            <a:lstStyle/>
            <a:p>
              <a:endParaRPr lang="en-MY">
                <a:solidFill>
                  <a:srgbClr val="4CAF50"/>
                </a:solidFill>
              </a:endParaRPr>
            </a:p>
          </p:txBody>
        </p:sp>
        <p:sp>
          <p:nvSpPr>
            <p:cNvPr id="74" name="Shape 15">
              <a:extLst>
                <a:ext uri="{FF2B5EF4-FFF2-40B4-BE49-F238E27FC236}">
                  <a16:creationId xmlns:a16="http://schemas.microsoft.com/office/drawing/2014/main" id="{5B5C8141-CB99-92A8-4A67-5AF9DE454109}"/>
                </a:ext>
              </a:extLst>
            </p:cNvPr>
            <p:cNvSpPr/>
            <p:nvPr/>
          </p:nvSpPr>
          <p:spPr>
            <a:xfrm>
              <a:off x="4696405" y="3317783"/>
              <a:ext cx="4343400" cy="501549"/>
            </a:xfrm>
            <a:prstGeom prst="rect">
              <a:avLst/>
            </a:prstGeom>
            <a:solidFill>
              <a:srgbClr val="0D1F35"/>
            </a:solidFill>
            <a:ln w="3810">
              <a:solidFill>
                <a:srgbClr val="1A3055"/>
              </a:solidFill>
              <a:prstDash val="solid"/>
            </a:ln>
          </p:spPr>
          <p:txBody>
            <a:bodyPr/>
            <a:lstStyle/>
            <a:p>
              <a:endParaRPr lang="en-MY" dirty="0">
                <a:solidFill>
                  <a:srgbClr val="4CAF50"/>
                </a:solidFill>
              </a:endParaRPr>
            </a:p>
          </p:txBody>
        </p:sp>
        <p:sp>
          <p:nvSpPr>
            <p:cNvPr id="114" name="Text 5">
              <a:extLst>
                <a:ext uri="{FF2B5EF4-FFF2-40B4-BE49-F238E27FC236}">
                  <a16:creationId xmlns:a16="http://schemas.microsoft.com/office/drawing/2014/main" id="{C0685CDA-D981-E802-929F-837CE7AF9840}"/>
                </a:ext>
              </a:extLst>
            </p:cNvPr>
            <p:cNvSpPr/>
            <p:nvPr/>
          </p:nvSpPr>
          <p:spPr>
            <a:xfrm>
              <a:off x="4870533" y="2206377"/>
              <a:ext cx="337723" cy="237744"/>
            </a:xfrm>
            <a:prstGeom prst="rect">
              <a:avLst/>
            </a:prstGeom>
            <a:noFill/>
            <a:ln/>
          </p:spPr>
          <p:txBody>
            <a:bodyPr wrap="square" lIns="0" tIns="0" rIns="0" bIns="0" rtlCol="0" anchor="ctr"/>
            <a:lstStyle/>
            <a:p>
              <a:pPr marL="0" indent="0">
                <a:buNone/>
              </a:pPr>
              <a:r>
                <a:rPr lang="en-US" sz="750" b="1" dirty="0">
                  <a:solidFill>
                    <a:srgbClr val="4CAF50"/>
                  </a:solidFill>
                </a:rPr>
                <a:t>BO</a:t>
              </a:r>
              <a:endParaRPr lang="en-US" sz="750" dirty="0">
                <a:solidFill>
                  <a:srgbClr val="4CAF50"/>
                </a:solidFill>
              </a:endParaRPr>
            </a:p>
          </p:txBody>
        </p:sp>
      </p:gr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F49A713C-AE62-5602-35A5-2520EF311FB0}"/>
                  </a:ext>
                </a:extLst>
              </p:cNvPr>
              <p:cNvGraphicFramePr>
                <a:graphicFrameLocks noGrp="1"/>
              </p:cNvGraphicFramePr>
              <p:nvPr>
                <p:extLst>
                  <p:ext uri="{D42A27DB-BD31-4B8C-83A1-F6EECF244321}">
                    <p14:modId xmlns:p14="http://schemas.microsoft.com/office/powerpoint/2010/main" val="3309656456"/>
                  </p:ext>
                </p:extLst>
              </p:nvPr>
            </p:nvGraphicFramePr>
            <p:xfrm>
              <a:off x="148620" y="1062244"/>
              <a:ext cx="4600936" cy="3849912"/>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6" name="Add-in 5">
                <a:extLst>
                  <a:ext uri="{FF2B5EF4-FFF2-40B4-BE49-F238E27FC236}">
                    <a16:creationId xmlns:a16="http://schemas.microsoft.com/office/drawing/2014/main" id="{F49A713C-AE62-5602-35A5-2520EF311FB0}"/>
                  </a:ext>
                </a:extLst>
              </p:cNvPr>
              <p:cNvPicPr>
                <a:picLocks noGrp="1" noRot="1" noChangeAspect="1" noMove="1" noResize="1" noEditPoints="1" noAdjustHandles="1" noChangeArrowheads="1" noChangeShapeType="1"/>
              </p:cNvPicPr>
              <p:nvPr/>
            </p:nvPicPr>
            <p:blipFill>
              <a:blip r:embed="rId6"/>
              <a:stretch>
                <a:fillRect/>
              </a:stretch>
            </p:blipFill>
            <p:spPr>
              <a:xfrm>
                <a:off x="148620" y="1062244"/>
                <a:ext cx="4600936" cy="3849912"/>
              </a:xfrm>
              <a:prstGeom prst="rect">
                <a:avLst/>
              </a:prstGeom>
            </p:spPr>
          </p:pic>
        </mc:Fallback>
      </mc:AlternateContent>
      <p:sp>
        <p:nvSpPr>
          <p:cNvPr id="37" name="Shape 28">
            <a:extLst>
              <a:ext uri="{FF2B5EF4-FFF2-40B4-BE49-F238E27FC236}">
                <a16:creationId xmlns:a16="http://schemas.microsoft.com/office/drawing/2014/main" id="{3D6EEB99-3C65-37C1-BE56-DA8696552FBA}"/>
              </a:ext>
            </a:extLst>
          </p:cNvPr>
          <p:cNvSpPr/>
          <p:nvPr/>
        </p:nvSpPr>
        <p:spPr>
          <a:xfrm>
            <a:off x="4922426" y="2423472"/>
            <a:ext cx="475488" cy="160020"/>
          </a:xfrm>
          <a:prstGeom prst="roundRect">
            <a:avLst>
              <a:gd name="adj" fmla="val 45714"/>
            </a:avLst>
          </a:prstGeom>
          <a:solidFill>
            <a:srgbClr val="4CAF50"/>
          </a:solidFill>
          <a:ln w="12700">
            <a:solidFill>
              <a:srgbClr val="4CAF50"/>
            </a:solidFill>
            <a:prstDash val="solid"/>
          </a:ln>
        </p:spPr>
        <p:txBody>
          <a:bodyPr/>
          <a:lstStyle/>
          <a:p>
            <a:endParaRPr lang="en-MY"/>
          </a:p>
        </p:txBody>
      </p:sp>
      <p:sp>
        <p:nvSpPr>
          <p:cNvPr id="39" name="Text 29">
            <a:extLst>
              <a:ext uri="{FF2B5EF4-FFF2-40B4-BE49-F238E27FC236}">
                <a16:creationId xmlns:a16="http://schemas.microsoft.com/office/drawing/2014/main" id="{CE0834D3-6843-9F86-4F67-03C749AD019E}"/>
              </a:ext>
            </a:extLst>
          </p:cNvPr>
          <p:cNvSpPr/>
          <p:nvPr/>
        </p:nvSpPr>
        <p:spPr>
          <a:xfrm>
            <a:off x="4922426" y="2423472"/>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BO2</a:t>
            </a:r>
            <a:endParaRPr lang="en-US" sz="750" dirty="0"/>
          </a:p>
        </p:txBody>
      </p:sp>
      <p:sp>
        <p:nvSpPr>
          <p:cNvPr id="41" name="Text 30">
            <a:extLst>
              <a:ext uri="{FF2B5EF4-FFF2-40B4-BE49-F238E27FC236}">
                <a16:creationId xmlns:a16="http://schemas.microsoft.com/office/drawing/2014/main" id="{D94635CD-FDF2-D0C9-99D7-C24C03B4B2F4}"/>
              </a:ext>
            </a:extLst>
          </p:cNvPr>
          <p:cNvSpPr/>
          <p:nvPr/>
        </p:nvSpPr>
        <p:spPr>
          <a:xfrm>
            <a:off x="5496361" y="2399605"/>
            <a:ext cx="597571" cy="223114"/>
          </a:xfrm>
          <a:prstGeom prst="rect">
            <a:avLst/>
          </a:prstGeom>
          <a:noFill/>
          <a:ln/>
        </p:spPr>
        <p:txBody>
          <a:bodyPr wrap="square" lIns="0" tIns="0" rIns="0" bIns="0" rtlCol="0" anchor="ctr"/>
          <a:lstStyle/>
          <a:p>
            <a:pPr marL="0" indent="0">
              <a:buNone/>
            </a:pPr>
            <a:r>
              <a:rPr lang="en-US" sz="850" b="1" dirty="0">
                <a:solidFill>
                  <a:srgbClr val="FFFFFF"/>
                </a:solidFill>
              </a:rPr>
              <a:t>Late Delivery %</a:t>
            </a:r>
            <a:endParaRPr lang="en-US" sz="850" dirty="0"/>
          </a:p>
        </p:txBody>
      </p:sp>
      <p:sp>
        <p:nvSpPr>
          <p:cNvPr id="43" name="Text 31">
            <a:extLst>
              <a:ext uri="{FF2B5EF4-FFF2-40B4-BE49-F238E27FC236}">
                <a16:creationId xmlns:a16="http://schemas.microsoft.com/office/drawing/2014/main" id="{0349934A-B6B2-77EF-B074-1F5EAF5ABFBF}"/>
              </a:ext>
            </a:extLst>
          </p:cNvPr>
          <p:cNvSpPr/>
          <p:nvPr/>
        </p:nvSpPr>
        <p:spPr>
          <a:xfrm>
            <a:off x="6214385" y="2400394"/>
            <a:ext cx="1018780" cy="241402"/>
          </a:xfrm>
          <a:prstGeom prst="rect">
            <a:avLst/>
          </a:prstGeom>
          <a:noFill/>
          <a:ln/>
        </p:spPr>
        <p:txBody>
          <a:bodyPr wrap="square" lIns="0" tIns="0" rIns="0" bIns="0" rtlCol="0" anchor="ctr"/>
          <a:lstStyle/>
          <a:p>
            <a:r>
              <a:rPr lang="en-MY" sz="620" dirty="0">
                <a:solidFill>
                  <a:srgbClr val="4CAF50"/>
                </a:solidFill>
                <a:latin typeface="Courier New" pitchFamily="34" charset="0"/>
                <a:cs typeface="Courier New" pitchFamily="34" charset="-120"/>
              </a:rPr>
              <a:t>DIVIDE([Late Deliveries],[Delivered Orders])</a:t>
            </a:r>
          </a:p>
        </p:txBody>
      </p:sp>
      <p:sp>
        <p:nvSpPr>
          <p:cNvPr id="46" name="Text 32">
            <a:extLst>
              <a:ext uri="{FF2B5EF4-FFF2-40B4-BE49-F238E27FC236}">
                <a16:creationId xmlns:a16="http://schemas.microsoft.com/office/drawing/2014/main" id="{4F7BFDB8-1870-1CC2-D678-00ED9933F55A}"/>
              </a:ext>
            </a:extLst>
          </p:cNvPr>
          <p:cNvSpPr/>
          <p:nvPr/>
        </p:nvSpPr>
        <p:spPr>
          <a:xfrm>
            <a:off x="7411638" y="2362944"/>
            <a:ext cx="1479740" cy="241402"/>
          </a:xfrm>
          <a:prstGeom prst="rect">
            <a:avLst/>
          </a:prstGeom>
          <a:noFill/>
          <a:ln/>
        </p:spPr>
        <p:txBody>
          <a:bodyPr wrap="square" lIns="0" tIns="0" rIns="0" bIns="0" rtlCol="0" anchor="ctr"/>
          <a:lstStyle/>
          <a:p>
            <a:pPr marL="0" indent="0">
              <a:buNone/>
            </a:pPr>
            <a:r>
              <a:rPr lang="en-US" sz="720" dirty="0">
                <a:solidFill>
                  <a:srgbClr val="B0BEC5"/>
                </a:solidFill>
              </a:rPr>
              <a:t>SLA breach rate on delivered orders only. Exposed regional variance. </a:t>
            </a:r>
            <a:endParaRPr lang="en-US" sz="720" dirty="0"/>
          </a:p>
        </p:txBody>
      </p:sp>
      <p:sp>
        <p:nvSpPr>
          <p:cNvPr id="50" name="Shape 34">
            <a:extLst>
              <a:ext uri="{FF2B5EF4-FFF2-40B4-BE49-F238E27FC236}">
                <a16:creationId xmlns:a16="http://schemas.microsoft.com/office/drawing/2014/main" id="{022AF1EE-B8D9-19D6-C54D-9D4A84955A2B}"/>
              </a:ext>
            </a:extLst>
          </p:cNvPr>
          <p:cNvSpPr/>
          <p:nvPr/>
        </p:nvSpPr>
        <p:spPr>
          <a:xfrm>
            <a:off x="4922426" y="2893256"/>
            <a:ext cx="475488" cy="160020"/>
          </a:xfrm>
          <a:prstGeom prst="roundRect">
            <a:avLst>
              <a:gd name="adj" fmla="val 45714"/>
            </a:avLst>
          </a:prstGeom>
          <a:solidFill>
            <a:srgbClr val="4CAF50"/>
          </a:solidFill>
          <a:ln w="12700">
            <a:solidFill>
              <a:srgbClr val="4CAF50"/>
            </a:solidFill>
            <a:prstDash val="solid"/>
          </a:ln>
        </p:spPr>
        <p:txBody>
          <a:bodyPr/>
          <a:lstStyle/>
          <a:p>
            <a:endParaRPr lang="en-MY"/>
          </a:p>
        </p:txBody>
      </p:sp>
      <p:sp>
        <p:nvSpPr>
          <p:cNvPr id="53" name="Text 35">
            <a:extLst>
              <a:ext uri="{FF2B5EF4-FFF2-40B4-BE49-F238E27FC236}">
                <a16:creationId xmlns:a16="http://schemas.microsoft.com/office/drawing/2014/main" id="{628FF5C2-2C5D-B60E-E897-B04E3D854855}"/>
              </a:ext>
            </a:extLst>
          </p:cNvPr>
          <p:cNvSpPr/>
          <p:nvPr/>
        </p:nvSpPr>
        <p:spPr>
          <a:xfrm>
            <a:off x="4922426" y="2893256"/>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BO2</a:t>
            </a:r>
            <a:endParaRPr lang="en-US" sz="750" dirty="0"/>
          </a:p>
        </p:txBody>
      </p:sp>
      <p:sp>
        <p:nvSpPr>
          <p:cNvPr id="59" name="Text 36">
            <a:extLst>
              <a:ext uri="{FF2B5EF4-FFF2-40B4-BE49-F238E27FC236}">
                <a16:creationId xmlns:a16="http://schemas.microsoft.com/office/drawing/2014/main" id="{ACE3D039-2D29-7D78-026E-84A671AD34CE}"/>
              </a:ext>
            </a:extLst>
          </p:cNvPr>
          <p:cNvSpPr/>
          <p:nvPr/>
        </p:nvSpPr>
        <p:spPr>
          <a:xfrm>
            <a:off x="5496361" y="2831913"/>
            <a:ext cx="705585" cy="223114"/>
          </a:xfrm>
          <a:prstGeom prst="rect">
            <a:avLst/>
          </a:prstGeom>
          <a:noFill/>
          <a:ln/>
        </p:spPr>
        <p:txBody>
          <a:bodyPr wrap="square" lIns="0" tIns="0" rIns="0" bIns="0" rtlCol="0" anchor="ctr"/>
          <a:lstStyle/>
          <a:p>
            <a:pPr marL="0" indent="0">
              <a:buNone/>
            </a:pPr>
            <a:r>
              <a:rPr lang="en-US" sz="850" b="1" dirty="0">
                <a:solidFill>
                  <a:srgbClr val="FFFFFF"/>
                </a:solidFill>
              </a:rPr>
              <a:t>On-Time Delivery %</a:t>
            </a:r>
            <a:endParaRPr lang="en-US" sz="850" dirty="0"/>
          </a:p>
        </p:txBody>
      </p:sp>
      <p:sp>
        <p:nvSpPr>
          <p:cNvPr id="61" name="Text 37">
            <a:extLst>
              <a:ext uri="{FF2B5EF4-FFF2-40B4-BE49-F238E27FC236}">
                <a16:creationId xmlns:a16="http://schemas.microsoft.com/office/drawing/2014/main" id="{6CCD1CC6-E4EC-BDE9-A43D-9C5D02E03992}"/>
              </a:ext>
            </a:extLst>
          </p:cNvPr>
          <p:cNvSpPr/>
          <p:nvPr/>
        </p:nvSpPr>
        <p:spPr>
          <a:xfrm>
            <a:off x="6214385" y="2850842"/>
            <a:ext cx="1018780" cy="241402"/>
          </a:xfrm>
          <a:prstGeom prst="rect">
            <a:avLst/>
          </a:prstGeom>
          <a:noFill/>
          <a:ln/>
        </p:spPr>
        <p:txBody>
          <a:bodyPr wrap="square" lIns="0" tIns="0" rIns="0" bIns="0" rtlCol="0" anchor="ctr"/>
          <a:lstStyle/>
          <a:p>
            <a:r>
              <a:rPr lang="en-MY" sz="620" dirty="0">
                <a:solidFill>
                  <a:srgbClr val="4CAF50"/>
                </a:solidFill>
                <a:latin typeface="Courier New" pitchFamily="34" charset="0"/>
                <a:cs typeface="Courier New" pitchFamily="34" charset="-120"/>
              </a:rPr>
              <a:t>DIVIDE([On Time Orders],COUNTROWS(olist_orders_dataset)</a:t>
            </a:r>
          </a:p>
        </p:txBody>
      </p:sp>
      <p:sp>
        <p:nvSpPr>
          <p:cNvPr id="64" name="Text 38">
            <a:extLst>
              <a:ext uri="{FF2B5EF4-FFF2-40B4-BE49-F238E27FC236}">
                <a16:creationId xmlns:a16="http://schemas.microsoft.com/office/drawing/2014/main" id="{9089F2A9-7375-FB4E-5783-51506CB19891}"/>
              </a:ext>
            </a:extLst>
          </p:cNvPr>
          <p:cNvSpPr/>
          <p:nvPr/>
        </p:nvSpPr>
        <p:spPr>
          <a:xfrm>
            <a:off x="7420070" y="2877709"/>
            <a:ext cx="1544799" cy="241402"/>
          </a:xfrm>
          <a:prstGeom prst="rect">
            <a:avLst/>
          </a:prstGeom>
          <a:noFill/>
          <a:ln/>
        </p:spPr>
        <p:txBody>
          <a:bodyPr wrap="square" lIns="0" tIns="0" rIns="0" bIns="0" rtlCol="0" anchor="ctr"/>
          <a:lstStyle/>
          <a:p>
            <a:pPr marL="0" indent="0">
              <a:buNone/>
            </a:pPr>
            <a:r>
              <a:rPr lang="en-US" sz="720" dirty="0">
                <a:solidFill>
                  <a:srgbClr val="B0BEC5"/>
                </a:solidFill>
              </a:rPr>
              <a:t>Gauge uses delivered-only denominator; Executive Dashboard uses all orders.</a:t>
            </a:r>
            <a:endParaRPr lang="en-US" sz="720" dirty="0"/>
          </a:p>
        </p:txBody>
      </p:sp>
      <p:sp>
        <p:nvSpPr>
          <p:cNvPr id="69" name="Shape 40">
            <a:extLst>
              <a:ext uri="{FF2B5EF4-FFF2-40B4-BE49-F238E27FC236}">
                <a16:creationId xmlns:a16="http://schemas.microsoft.com/office/drawing/2014/main" id="{79155EF1-E5C8-15AC-7A4C-3BA5520D9F1F}"/>
              </a:ext>
            </a:extLst>
          </p:cNvPr>
          <p:cNvSpPr/>
          <p:nvPr/>
        </p:nvSpPr>
        <p:spPr>
          <a:xfrm>
            <a:off x="4922426" y="3328481"/>
            <a:ext cx="475488" cy="160020"/>
          </a:xfrm>
          <a:prstGeom prst="roundRect">
            <a:avLst>
              <a:gd name="adj" fmla="val 45714"/>
            </a:avLst>
          </a:prstGeom>
          <a:solidFill>
            <a:srgbClr val="4CAF50"/>
          </a:solidFill>
          <a:ln w="12700">
            <a:solidFill>
              <a:srgbClr val="4CAF50"/>
            </a:solidFill>
            <a:prstDash val="solid"/>
          </a:ln>
        </p:spPr>
        <p:txBody>
          <a:bodyPr/>
          <a:lstStyle/>
          <a:p>
            <a:endParaRPr lang="en-MY"/>
          </a:p>
        </p:txBody>
      </p:sp>
      <p:sp>
        <p:nvSpPr>
          <p:cNvPr id="73" name="Text 41">
            <a:extLst>
              <a:ext uri="{FF2B5EF4-FFF2-40B4-BE49-F238E27FC236}">
                <a16:creationId xmlns:a16="http://schemas.microsoft.com/office/drawing/2014/main" id="{0BE72CFE-F0FE-4E69-6A80-C8CBD8247D49}"/>
              </a:ext>
            </a:extLst>
          </p:cNvPr>
          <p:cNvSpPr/>
          <p:nvPr/>
        </p:nvSpPr>
        <p:spPr>
          <a:xfrm>
            <a:off x="4922426" y="3328481"/>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BO2</a:t>
            </a:r>
            <a:endParaRPr lang="en-US" sz="750" dirty="0"/>
          </a:p>
        </p:txBody>
      </p:sp>
      <p:sp>
        <p:nvSpPr>
          <p:cNvPr id="76" name="Text 42">
            <a:extLst>
              <a:ext uri="{FF2B5EF4-FFF2-40B4-BE49-F238E27FC236}">
                <a16:creationId xmlns:a16="http://schemas.microsoft.com/office/drawing/2014/main" id="{30E0FEF5-4282-8A9D-0420-4339692A4B52}"/>
              </a:ext>
            </a:extLst>
          </p:cNvPr>
          <p:cNvSpPr/>
          <p:nvPr/>
        </p:nvSpPr>
        <p:spPr>
          <a:xfrm>
            <a:off x="5496361" y="3304357"/>
            <a:ext cx="543655" cy="223114"/>
          </a:xfrm>
          <a:prstGeom prst="rect">
            <a:avLst/>
          </a:prstGeom>
          <a:noFill/>
          <a:ln/>
        </p:spPr>
        <p:txBody>
          <a:bodyPr wrap="square" lIns="0" tIns="0" rIns="0" bIns="0" rtlCol="0" anchor="ctr"/>
          <a:lstStyle/>
          <a:p>
            <a:pPr marL="0" indent="0">
              <a:buNone/>
            </a:pPr>
            <a:r>
              <a:rPr lang="en-US" sz="850" b="1" dirty="0">
                <a:solidFill>
                  <a:srgbClr val="FFFFFF"/>
                </a:solidFill>
              </a:rPr>
              <a:t>Avg Review Score</a:t>
            </a:r>
            <a:endParaRPr lang="en-US" sz="850" dirty="0"/>
          </a:p>
        </p:txBody>
      </p:sp>
      <p:sp>
        <p:nvSpPr>
          <p:cNvPr id="78" name="Text 43">
            <a:extLst>
              <a:ext uri="{FF2B5EF4-FFF2-40B4-BE49-F238E27FC236}">
                <a16:creationId xmlns:a16="http://schemas.microsoft.com/office/drawing/2014/main" id="{71A65A2E-A545-8100-CB5B-46FBA1F25EE3}"/>
              </a:ext>
            </a:extLst>
          </p:cNvPr>
          <p:cNvSpPr/>
          <p:nvPr/>
        </p:nvSpPr>
        <p:spPr>
          <a:xfrm>
            <a:off x="6214385" y="3265359"/>
            <a:ext cx="1018780" cy="241402"/>
          </a:xfrm>
          <a:prstGeom prst="rect">
            <a:avLst/>
          </a:prstGeom>
          <a:noFill/>
          <a:ln/>
        </p:spPr>
        <p:txBody>
          <a:bodyPr wrap="square" lIns="0" tIns="0" rIns="0" bIns="0" rtlCol="0" anchor="ctr"/>
          <a:lstStyle/>
          <a:p>
            <a:pPr marL="0" indent="0">
              <a:lnSpc>
                <a:spcPct val="100000"/>
              </a:lnSpc>
              <a:buNone/>
            </a:pPr>
            <a:r>
              <a:rPr lang="en-US" sz="620" dirty="0">
                <a:solidFill>
                  <a:srgbClr val="4CAF50"/>
                </a:solidFill>
                <a:latin typeface="Courier New" pitchFamily="34" charset="0"/>
                <a:ea typeface="Courier New" pitchFamily="34" charset="-122"/>
                <a:cs typeface="Courier New" pitchFamily="34" charset="-120"/>
              </a:rPr>
              <a:t>AVERAGE(  olist_order_reviews_dataset  [review_score])</a:t>
            </a:r>
            <a:endParaRPr lang="en-US" sz="620" dirty="0">
              <a:solidFill>
                <a:srgbClr val="4CAF50"/>
              </a:solidFill>
            </a:endParaRPr>
          </a:p>
        </p:txBody>
      </p:sp>
      <p:sp>
        <p:nvSpPr>
          <p:cNvPr id="81" name="Text 44">
            <a:extLst>
              <a:ext uri="{FF2B5EF4-FFF2-40B4-BE49-F238E27FC236}">
                <a16:creationId xmlns:a16="http://schemas.microsoft.com/office/drawing/2014/main" id="{5484604A-EC8A-4E77-2E0C-E0B5ED567AD6}"/>
              </a:ext>
            </a:extLst>
          </p:cNvPr>
          <p:cNvSpPr/>
          <p:nvPr/>
        </p:nvSpPr>
        <p:spPr>
          <a:xfrm>
            <a:off x="7404221" y="3269828"/>
            <a:ext cx="1530697" cy="241402"/>
          </a:xfrm>
          <a:prstGeom prst="rect">
            <a:avLst/>
          </a:prstGeom>
          <a:noFill/>
          <a:ln/>
        </p:spPr>
        <p:txBody>
          <a:bodyPr wrap="square" lIns="0" tIns="0" rIns="0" bIns="0" rtlCol="0" anchor="ctr"/>
          <a:lstStyle/>
          <a:p>
            <a:pPr marL="0" indent="0">
              <a:buNone/>
            </a:pPr>
            <a:r>
              <a:rPr lang="en-US" sz="720" dirty="0">
                <a:solidFill>
                  <a:srgbClr val="B0BEC5"/>
                </a:solidFill>
              </a:rPr>
              <a:t>Quantifies the satisfaction cost of delivery failure.</a:t>
            </a:r>
            <a:endParaRPr lang="en-US" sz="720" dirty="0"/>
          </a:p>
        </p:txBody>
      </p:sp>
      <p:sp>
        <p:nvSpPr>
          <p:cNvPr id="88" name="Text 38">
            <a:extLst>
              <a:ext uri="{FF2B5EF4-FFF2-40B4-BE49-F238E27FC236}">
                <a16:creationId xmlns:a16="http://schemas.microsoft.com/office/drawing/2014/main" id="{4D6C0434-949D-4FE6-F75F-593A0538F86F}"/>
              </a:ext>
            </a:extLst>
          </p:cNvPr>
          <p:cNvSpPr/>
          <p:nvPr/>
        </p:nvSpPr>
        <p:spPr>
          <a:xfrm>
            <a:off x="4939409" y="3685032"/>
            <a:ext cx="4099553" cy="274320"/>
          </a:xfrm>
          <a:prstGeom prst="rect">
            <a:avLst/>
          </a:prstGeom>
          <a:noFill/>
          <a:ln/>
        </p:spPr>
        <p:txBody>
          <a:bodyPr wrap="square" lIns="0" tIns="0" rIns="0" bIns="0" rtlCol="0" anchor="ctr"/>
          <a:lstStyle/>
          <a:p>
            <a:pPr marL="0" indent="0">
              <a:buNone/>
            </a:pPr>
            <a:endParaRPr lang="en-US" sz="1100" dirty="0"/>
          </a:p>
        </p:txBody>
      </p:sp>
      <p:sp>
        <p:nvSpPr>
          <p:cNvPr id="93" name="Shape 31">
            <a:extLst>
              <a:ext uri="{FF2B5EF4-FFF2-40B4-BE49-F238E27FC236}">
                <a16:creationId xmlns:a16="http://schemas.microsoft.com/office/drawing/2014/main" id="{0DAE94F3-0CEA-38AE-69C5-1440EEA9F505}"/>
              </a:ext>
            </a:extLst>
          </p:cNvPr>
          <p:cNvSpPr/>
          <p:nvPr/>
        </p:nvSpPr>
        <p:spPr>
          <a:xfrm>
            <a:off x="4853174" y="3805144"/>
            <a:ext cx="2022021" cy="526884"/>
          </a:xfrm>
          <a:prstGeom prst="roundRect">
            <a:avLst>
              <a:gd name="adj" fmla="val 685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01" name="Text 33">
            <a:extLst>
              <a:ext uri="{FF2B5EF4-FFF2-40B4-BE49-F238E27FC236}">
                <a16:creationId xmlns:a16="http://schemas.microsoft.com/office/drawing/2014/main" id="{669B4F82-CF98-3E03-00C0-698F84CE2BA0}"/>
              </a:ext>
            </a:extLst>
          </p:cNvPr>
          <p:cNvSpPr/>
          <p:nvPr/>
        </p:nvSpPr>
        <p:spPr>
          <a:xfrm>
            <a:off x="5038146" y="3864809"/>
            <a:ext cx="1786984" cy="210051"/>
          </a:xfrm>
          <a:prstGeom prst="rect">
            <a:avLst/>
          </a:prstGeom>
          <a:noFill/>
          <a:ln/>
        </p:spPr>
        <p:txBody>
          <a:bodyPr wrap="square" lIns="0" tIns="0" rIns="0" bIns="0" rtlCol="0" anchor="ctr"/>
          <a:lstStyle/>
          <a:p>
            <a:pPr marL="0" indent="0">
              <a:buNone/>
            </a:pPr>
            <a:r>
              <a:rPr lang="en-US" sz="1400" b="1" dirty="0">
                <a:solidFill>
                  <a:srgbClr val="4CAF50"/>
                </a:solidFill>
              </a:rPr>
              <a:t>91.9%</a:t>
            </a:r>
            <a:endParaRPr lang="en-US" sz="1400" dirty="0"/>
          </a:p>
        </p:txBody>
      </p:sp>
      <p:sp>
        <p:nvSpPr>
          <p:cNvPr id="105" name="Text 34">
            <a:extLst>
              <a:ext uri="{FF2B5EF4-FFF2-40B4-BE49-F238E27FC236}">
                <a16:creationId xmlns:a16="http://schemas.microsoft.com/office/drawing/2014/main" id="{F95002C7-43D5-07BB-1A96-73B3E7D06322}"/>
              </a:ext>
            </a:extLst>
          </p:cNvPr>
          <p:cNvSpPr/>
          <p:nvPr/>
        </p:nvSpPr>
        <p:spPr>
          <a:xfrm>
            <a:off x="5038146" y="4120841"/>
            <a:ext cx="1786984" cy="154037"/>
          </a:xfrm>
          <a:prstGeom prst="rect">
            <a:avLst/>
          </a:prstGeom>
          <a:noFill/>
          <a:ln/>
        </p:spPr>
        <p:txBody>
          <a:bodyPr wrap="square" lIns="0" tIns="0" rIns="0" bIns="0" rtlCol="0" anchor="ctr"/>
          <a:lstStyle/>
          <a:p>
            <a:pPr marL="0" indent="0">
              <a:buNone/>
            </a:pPr>
            <a:r>
              <a:rPr lang="en-US" sz="800" dirty="0">
                <a:solidFill>
                  <a:srgbClr val="B0BEC5"/>
                </a:solidFill>
              </a:rPr>
              <a:t>On-Time (delivered orders)</a:t>
            </a:r>
            <a:endParaRPr lang="en-US" sz="800" dirty="0"/>
          </a:p>
        </p:txBody>
      </p:sp>
      <p:sp>
        <p:nvSpPr>
          <p:cNvPr id="109" name="Text 35">
            <a:extLst>
              <a:ext uri="{FF2B5EF4-FFF2-40B4-BE49-F238E27FC236}">
                <a16:creationId xmlns:a16="http://schemas.microsoft.com/office/drawing/2014/main" id="{C93A2005-0EAB-FD26-F74C-C084CEECC3FA}"/>
              </a:ext>
            </a:extLst>
          </p:cNvPr>
          <p:cNvSpPr/>
          <p:nvPr/>
        </p:nvSpPr>
        <p:spPr>
          <a:xfrm>
            <a:off x="7088530" y="3854326"/>
            <a:ext cx="1786984" cy="210051"/>
          </a:xfrm>
          <a:prstGeom prst="rect">
            <a:avLst/>
          </a:prstGeom>
          <a:noFill/>
          <a:ln/>
        </p:spPr>
        <p:txBody>
          <a:bodyPr wrap="square" lIns="0" tIns="0" rIns="0" bIns="0" rtlCol="0" anchor="ctr"/>
          <a:lstStyle/>
          <a:p>
            <a:pPr marL="0" indent="0">
              <a:buNone/>
            </a:pPr>
            <a:r>
              <a:rPr lang="en-US" sz="1400" b="1" dirty="0">
                <a:solidFill>
                  <a:srgbClr val="4CAF50"/>
                </a:solidFill>
              </a:rPr>
              <a:t>12.5 days</a:t>
            </a:r>
            <a:endParaRPr lang="en-US" sz="1400" dirty="0"/>
          </a:p>
        </p:txBody>
      </p:sp>
      <p:sp>
        <p:nvSpPr>
          <p:cNvPr id="113" name="Text 36">
            <a:extLst>
              <a:ext uri="{FF2B5EF4-FFF2-40B4-BE49-F238E27FC236}">
                <a16:creationId xmlns:a16="http://schemas.microsoft.com/office/drawing/2014/main" id="{C956A195-A077-DBF1-F6CD-01AC195A57CC}"/>
              </a:ext>
            </a:extLst>
          </p:cNvPr>
          <p:cNvSpPr/>
          <p:nvPr/>
        </p:nvSpPr>
        <p:spPr>
          <a:xfrm>
            <a:off x="7088530" y="4110358"/>
            <a:ext cx="1786984" cy="154037"/>
          </a:xfrm>
          <a:prstGeom prst="rect">
            <a:avLst/>
          </a:prstGeom>
          <a:noFill/>
          <a:ln/>
        </p:spPr>
        <p:txBody>
          <a:bodyPr wrap="square" lIns="0" tIns="0" rIns="0" bIns="0" rtlCol="0" anchor="ctr"/>
          <a:lstStyle/>
          <a:p>
            <a:pPr marL="0" indent="0">
              <a:buNone/>
            </a:pPr>
            <a:r>
              <a:rPr lang="en-US" sz="800" dirty="0">
                <a:solidFill>
                  <a:srgbClr val="B0BEC5"/>
                </a:solidFill>
              </a:rPr>
              <a:t>Avg Actual Delivery</a:t>
            </a:r>
            <a:endParaRPr lang="en-US" sz="800" dirty="0"/>
          </a:p>
        </p:txBody>
      </p:sp>
      <p:sp>
        <p:nvSpPr>
          <p:cNvPr id="117" name="Text 37">
            <a:extLst>
              <a:ext uri="{FF2B5EF4-FFF2-40B4-BE49-F238E27FC236}">
                <a16:creationId xmlns:a16="http://schemas.microsoft.com/office/drawing/2014/main" id="{FCF6AA50-91F3-25DD-D58B-2F722741D9E0}"/>
              </a:ext>
            </a:extLst>
          </p:cNvPr>
          <p:cNvSpPr/>
          <p:nvPr/>
        </p:nvSpPr>
        <p:spPr>
          <a:xfrm>
            <a:off x="5038146" y="4453073"/>
            <a:ext cx="1786984" cy="210051"/>
          </a:xfrm>
          <a:prstGeom prst="rect">
            <a:avLst/>
          </a:prstGeom>
          <a:noFill/>
          <a:ln/>
        </p:spPr>
        <p:txBody>
          <a:bodyPr wrap="square" lIns="0" tIns="0" rIns="0" bIns="0" rtlCol="0" anchor="ctr"/>
          <a:lstStyle/>
          <a:p>
            <a:pPr marL="0" indent="0">
              <a:buNone/>
            </a:pPr>
            <a:r>
              <a:rPr lang="en-US" sz="1400" b="1" dirty="0">
                <a:solidFill>
                  <a:srgbClr val="4CAF50"/>
                </a:solidFill>
              </a:rPr>
              <a:t>24.4 days</a:t>
            </a:r>
            <a:endParaRPr lang="en-US" sz="1400" dirty="0"/>
          </a:p>
        </p:txBody>
      </p:sp>
      <p:sp>
        <p:nvSpPr>
          <p:cNvPr id="121" name="Text 38">
            <a:extLst>
              <a:ext uri="{FF2B5EF4-FFF2-40B4-BE49-F238E27FC236}">
                <a16:creationId xmlns:a16="http://schemas.microsoft.com/office/drawing/2014/main" id="{475FFF7C-2771-C7DC-E7D9-09F84982AEE3}"/>
              </a:ext>
            </a:extLst>
          </p:cNvPr>
          <p:cNvSpPr/>
          <p:nvPr/>
        </p:nvSpPr>
        <p:spPr>
          <a:xfrm>
            <a:off x="5038146" y="4709105"/>
            <a:ext cx="1786984" cy="154037"/>
          </a:xfrm>
          <a:prstGeom prst="rect">
            <a:avLst/>
          </a:prstGeom>
          <a:noFill/>
          <a:ln/>
        </p:spPr>
        <p:txBody>
          <a:bodyPr wrap="square" lIns="0" tIns="0" rIns="0" bIns="0" rtlCol="0" anchor="ctr"/>
          <a:lstStyle/>
          <a:p>
            <a:pPr marL="0" indent="0">
              <a:buNone/>
            </a:pPr>
            <a:r>
              <a:rPr lang="en-US" sz="800" dirty="0">
                <a:solidFill>
                  <a:srgbClr val="B0BEC5"/>
                </a:solidFill>
              </a:rPr>
              <a:t>Avg Estimated Delivery</a:t>
            </a:r>
            <a:endParaRPr lang="en-US" sz="800" dirty="0"/>
          </a:p>
        </p:txBody>
      </p:sp>
      <p:sp>
        <p:nvSpPr>
          <p:cNvPr id="125" name="Text 39">
            <a:extLst>
              <a:ext uri="{FF2B5EF4-FFF2-40B4-BE49-F238E27FC236}">
                <a16:creationId xmlns:a16="http://schemas.microsoft.com/office/drawing/2014/main" id="{72AABC73-65E1-5F28-210A-D02A4D392601}"/>
              </a:ext>
            </a:extLst>
          </p:cNvPr>
          <p:cNvSpPr/>
          <p:nvPr/>
        </p:nvSpPr>
        <p:spPr>
          <a:xfrm>
            <a:off x="7088530" y="4477787"/>
            <a:ext cx="1786984" cy="210051"/>
          </a:xfrm>
          <a:prstGeom prst="rect">
            <a:avLst/>
          </a:prstGeom>
          <a:noFill/>
          <a:ln/>
        </p:spPr>
        <p:txBody>
          <a:bodyPr wrap="square" lIns="0" tIns="0" rIns="0" bIns="0" rtlCol="0" anchor="ctr"/>
          <a:lstStyle/>
          <a:p>
            <a:pPr marL="0" indent="0">
              <a:buNone/>
            </a:pPr>
            <a:r>
              <a:rPr lang="en-US" sz="1400" b="1" dirty="0">
                <a:solidFill>
                  <a:srgbClr val="FF6B35"/>
                </a:solidFill>
              </a:rPr>
              <a:t>20%+</a:t>
            </a:r>
            <a:endParaRPr lang="en-US" sz="1400" dirty="0"/>
          </a:p>
        </p:txBody>
      </p:sp>
      <p:sp>
        <p:nvSpPr>
          <p:cNvPr id="130" name="Text 40">
            <a:extLst>
              <a:ext uri="{FF2B5EF4-FFF2-40B4-BE49-F238E27FC236}">
                <a16:creationId xmlns:a16="http://schemas.microsoft.com/office/drawing/2014/main" id="{A7AE7C61-ECB6-42BE-3070-18434E563DD3}"/>
              </a:ext>
            </a:extLst>
          </p:cNvPr>
          <p:cNvSpPr/>
          <p:nvPr/>
        </p:nvSpPr>
        <p:spPr>
          <a:xfrm>
            <a:off x="7088530" y="4733819"/>
            <a:ext cx="1786984" cy="154037"/>
          </a:xfrm>
          <a:prstGeom prst="rect">
            <a:avLst/>
          </a:prstGeom>
          <a:noFill/>
          <a:ln/>
        </p:spPr>
        <p:txBody>
          <a:bodyPr wrap="square" lIns="0" tIns="0" rIns="0" bIns="0" rtlCol="0" anchor="ctr"/>
          <a:lstStyle/>
          <a:p>
            <a:pPr marL="0" indent="0">
              <a:buNone/>
            </a:pPr>
            <a:r>
              <a:rPr lang="en-US" sz="800" dirty="0">
                <a:solidFill>
                  <a:srgbClr val="B0BEC5"/>
                </a:solidFill>
              </a:rPr>
              <a:t>Late Rate in MA/PI/AL</a:t>
            </a:r>
            <a:endParaRPr lang="en-US" sz="800" dirty="0"/>
          </a:p>
        </p:txBody>
      </p:sp>
    </p:spTree>
    <p:extLst>
      <p:ext uri="{BB962C8B-B14F-4D97-AF65-F5344CB8AC3E}">
        <p14:creationId xmlns:p14="http://schemas.microsoft.com/office/powerpoint/2010/main" val="2150935394"/>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a:extLst>
            <a:ext uri="{FF2B5EF4-FFF2-40B4-BE49-F238E27FC236}">
              <a16:creationId xmlns:a16="http://schemas.microsoft.com/office/drawing/2014/main" id="{1CB94F91-9091-A353-67AE-BB241DE26F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88298C-BF6F-12D9-CA8C-23EB8D3D8305}"/>
              </a:ext>
            </a:extLst>
          </p:cNvPr>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a:extLst>
              <a:ext uri="{FF2B5EF4-FFF2-40B4-BE49-F238E27FC236}">
                <a16:creationId xmlns:a16="http://schemas.microsoft.com/office/drawing/2014/main" id="{E229DB94-A318-E8EA-2665-9B2AA20A761D}"/>
              </a:ext>
            </a:extLst>
          </p:cNvPr>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7" name="Text 5">
            <a:extLst>
              <a:ext uri="{FF2B5EF4-FFF2-40B4-BE49-F238E27FC236}">
                <a16:creationId xmlns:a16="http://schemas.microsoft.com/office/drawing/2014/main" id="{92B8A59C-70E3-9592-E8E3-AE5221EA1BFA}"/>
              </a:ext>
            </a:extLst>
          </p:cNvPr>
          <p:cNvSpPr/>
          <p:nvPr/>
        </p:nvSpPr>
        <p:spPr>
          <a:xfrm>
            <a:off x="1063767" y="219075"/>
            <a:ext cx="7360920" cy="438912"/>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Business Objective 3 – Seller Performance</a:t>
            </a:r>
            <a:endParaRPr lang="en-US" sz="2800" dirty="0"/>
          </a:p>
        </p:txBody>
      </p:sp>
      <p:pic>
        <p:nvPicPr>
          <p:cNvPr id="54" name="Picture 53">
            <a:extLst>
              <a:ext uri="{FF2B5EF4-FFF2-40B4-BE49-F238E27FC236}">
                <a16:creationId xmlns:a16="http://schemas.microsoft.com/office/drawing/2014/main" id="{C0BC2C1A-EE83-C1E1-A682-C7F418FABD9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grpSp>
        <p:nvGrpSpPr>
          <p:cNvPr id="128" name="Group 127">
            <a:extLst>
              <a:ext uri="{FF2B5EF4-FFF2-40B4-BE49-F238E27FC236}">
                <a16:creationId xmlns:a16="http://schemas.microsoft.com/office/drawing/2014/main" id="{8ABA148C-D1F2-1E96-DC40-70E85B567FAB}"/>
              </a:ext>
            </a:extLst>
          </p:cNvPr>
          <p:cNvGrpSpPr/>
          <p:nvPr/>
        </p:nvGrpSpPr>
        <p:grpSpPr>
          <a:xfrm>
            <a:off x="4853174" y="1004649"/>
            <a:ext cx="4142796" cy="1039873"/>
            <a:chOff x="4696405" y="960120"/>
            <a:chExt cx="4343400" cy="1147169"/>
          </a:xfrm>
        </p:grpSpPr>
        <p:sp>
          <p:nvSpPr>
            <p:cNvPr id="98" name="Shape 26">
              <a:extLst>
                <a:ext uri="{FF2B5EF4-FFF2-40B4-BE49-F238E27FC236}">
                  <a16:creationId xmlns:a16="http://schemas.microsoft.com/office/drawing/2014/main" id="{352D987C-29ED-9F9F-FCBF-0B69518AB4CF}"/>
                </a:ext>
              </a:extLst>
            </p:cNvPr>
            <p:cNvSpPr/>
            <p:nvPr/>
          </p:nvSpPr>
          <p:spPr>
            <a:xfrm>
              <a:off x="4696405" y="1025271"/>
              <a:ext cx="4343400" cy="1082018"/>
            </a:xfrm>
            <a:prstGeom prst="roundRect">
              <a:avLst>
                <a:gd name="adj" fmla="val 3333"/>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dirty="0"/>
            </a:p>
          </p:txBody>
        </p:sp>
        <p:sp>
          <p:nvSpPr>
            <p:cNvPr id="100" name="Shape 27">
              <a:extLst>
                <a:ext uri="{FF2B5EF4-FFF2-40B4-BE49-F238E27FC236}">
                  <a16:creationId xmlns:a16="http://schemas.microsoft.com/office/drawing/2014/main" id="{2DC11363-AEA8-6667-382F-199EFE8BDD42}"/>
                </a:ext>
              </a:extLst>
            </p:cNvPr>
            <p:cNvSpPr/>
            <p:nvPr/>
          </p:nvSpPr>
          <p:spPr>
            <a:xfrm>
              <a:off x="4696405" y="960120"/>
              <a:ext cx="4343400" cy="310896"/>
            </a:xfrm>
            <a:prstGeom prst="roundRect">
              <a:avLst>
                <a:gd name="adj" fmla="val 35294"/>
              </a:avLst>
            </a:prstGeom>
            <a:solidFill>
              <a:srgbClr val="FF6B35"/>
            </a:solidFill>
            <a:ln w="12700">
              <a:solidFill>
                <a:srgbClr val="FF6B35"/>
              </a:solidFill>
              <a:prstDash val="solid"/>
            </a:ln>
          </p:spPr>
          <p:txBody>
            <a:bodyPr/>
            <a:lstStyle/>
            <a:p>
              <a:endParaRPr lang="en-MY" dirty="0">
                <a:solidFill>
                  <a:srgbClr val="4CAF50"/>
                </a:solidFill>
                <a:effectLst>
                  <a:outerShdw blurRad="50800" dist="38100" dir="2700000" algn="tl" rotWithShape="0">
                    <a:prstClr val="black">
                      <a:alpha val="40000"/>
                    </a:prstClr>
                  </a:outerShdw>
                </a:effectLst>
              </a:endParaRPr>
            </a:p>
          </p:txBody>
        </p:sp>
        <p:sp>
          <p:nvSpPr>
            <p:cNvPr id="102" name="Shape 28">
              <a:extLst>
                <a:ext uri="{FF2B5EF4-FFF2-40B4-BE49-F238E27FC236}">
                  <a16:creationId xmlns:a16="http://schemas.microsoft.com/office/drawing/2014/main" id="{40F28522-EFEC-A808-9111-3BCCD2B30AB0}"/>
                </a:ext>
              </a:extLst>
            </p:cNvPr>
            <p:cNvSpPr/>
            <p:nvPr/>
          </p:nvSpPr>
          <p:spPr>
            <a:xfrm>
              <a:off x="4696405" y="1143000"/>
              <a:ext cx="4343400" cy="128016"/>
            </a:xfrm>
            <a:prstGeom prst="rect">
              <a:avLst/>
            </a:prstGeom>
            <a:solidFill>
              <a:srgbClr val="FF6B35"/>
            </a:solidFill>
            <a:ln w="12700">
              <a:solidFill>
                <a:srgbClr val="FF6B35"/>
              </a:solidFill>
              <a:prstDash val="solid"/>
            </a:ln>
          </p:spPr>
          <p:txBody>
            <a:bodyPr/>
            <a:lstStyle/>
            <a:p>
              <a:endParaRPr lang="en-MY"/>
            </a:p>
          </p:txBody>
        </p:sp>
        <p:sp>
          <p:nvSpPr>
            <p:cNvPr id="104" name="Text 29">
              <a:extLst>
                <a:ext uri="{FF2B5EF4-FFF2-40B4-BE49-F238E27FC236}">
                  <a16:creationId xmlns:a16="http://schemas.microsoft.com/office/drawing/2014/main" id="{E1096381-39DF-6427-D0C8-F04A062D7EC2}"/>
                </a:ext>
              </a:extLst>
            </p:cNvPr>
            <p:cNvSpPr/>
            <p:nvPr/>
          </p:nvSpPr>
          <p:spPr>
            <a:xfrm>
              <a:off x="4815277" y="969264"/>
              <a:ext cx="4160520" cy="292608"/>
            </a:xfrm>
            <a:prstGeom prst="rect">
              <a:avLst/>
            </a:prstGeom>
            <a:noFill/>
            <a:ln/>
          </p:spPr>
          <p:txBody>
            <a:bodyPr wrap="square" lIns="0" tIns="0" rIns="0" bIns="0" rtlCol="0" anchor="ctr"/>
            <a:lstStyle/>
            <a:p>
              <a:pPr marL="0" indent="0">
                <a:buNone/>
              </a:pPr>
              <a:r>
                <a:rPr lang="en-US" sz="11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Business Objectives 3</a:t>
              </a:r>
              <a:endParaRPr lang="en-US" sz="1100" dirty="0">
                <a:effectLst>
                  <a:outerShdw blurRad="50800" dist="38100" dir="2700000" algn="tl" rotWithShape="0">
                    <a:prstClr val="black">
                      <a:alpha val="40000"/>
                    </a:prstClr>
                  </a:outerShdw>
                </a:effectLst>
              </a:endParaRPr>
            </a:p>
          </p:txBody>
        </p:sp>
        <p:sp>
          <p:nvSpPr>
            <p:cNvPr id="106" name="Shape 30">
              <a:extLst>
                <a:ext uri="{FF2B5EF4-FFF2-40B4-BE49-F238E27FC236}">
                  <a16:creationId xmlns:a16="http://schemas.microsoft.com/office/drawing/2014/main" id="{319D1EA9-9ADA-A522-4D3D-693131F21977}"/>
                </a:ext>
              </a:extLst>
            </p:cNvPr>
            <p:cNvSpPr/>
            <p:nvPr/>
          </p:nvSpPr>
          <p:spPr>
            <a:xfrm>
              <a:off x="4842709" y="1432843"/>
              <a:ext cx="452706" cy="457201"/>
            </a:xfrm>
            <a:prstGeom prst="roundRect">
              <a:avLst>
                <a:gd name="adj" fmla="val 12000"/>
              </a:avLst>
            </a:prstGeom>
            <a:solidFill>
              <a:srgbClr val="FF6B35"/>
            </a:solidFill>
            <a:ln w="12700">
              <a:solidFill>
                <a:srgbClr val="FF6B35"/>
              </a:solidFill>
              <a:prstDash val="solid"/>
            </a:ln>
          </p:spPr>
          <p:txBody>
            <a:bodyPr/>
            <a:lstStyle/>
            <a:p>
              <a:endParaRPr lang="en-MY">
                <a:solidFill>
                  <a:srgbClr val="FF6B35"/>
                </a:solidFill>
              </a:endParaRPr>
            </a:p>
          </p:txBody>
        </p:sp>
        <p:sp>
          <p:nvSpPr>
            <p:cNvPr id="108" name="Text 31">
              <a:extLst>
                <a:ext uri="{FF2B5EF4-FFF2-40B4-BE49-F238E27FC236}">
                  <a16:creationId xmlns:a16="http://schemas.microsoft.com/office/drawing/2014/main" id="{163BD559-04F6-CC81-458B-11F1A763DF52}"/>
                </a:ext>
              </a:extLst>
            </p:cNvPr>
            <p:cNvSpPr/>
            <p:nvPr/>
          </p:nvSpPr>
          <p:spPr>
            <a:xfrm>
              <a:off x="4842709" y="1432843"/>
              <a:ext cx="452706" cy="457201"/>
            </a:xfrm>
            <a:prstGeom prst="rect">
              <a:avLst/>
            </a:prstGeom>
            <a:noFill/>
            <a:ln/>
          </p:spPr>
          <p:txBody>
            <a:bodyPr wrap="square" lIns="0" tIns="0" rIns="0" bIns="0" rtlCol="0" anchor="ctr"/>
            <a:lstStyle/>
            <a:p>
              <a:pPr marL="0" indent="0" algn="ctr">
                <a:buNone/>
              </a:pPr>
              <a:r>
                <a:rPr lang="en-US" sz="9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BO3</a:t>
              </a:r>
              <a:endParaRPr lang="en-US" sz="900" dirty="0">
                <a:effectLst>
                  <a:outerShdw blurRad="50800" dist="38100" dir="2700000" algn="tl" rotWithShape="0">
                    <a:prstClr val="black">
                      <a:alpha val="40000"/>
                    </a:prstClr>
                  </a:outerShdw>
                </a:effectLst>
              </a:endParaRPr>
            </a:p>
          </p:txBody>
        </p:sp>
        <p:sp>
          <p:nvSpPr>
            <p:cNvPr id="110" name="Text 32">
              <a:extLst>
                <a:ext uri="{FF2B5EF4-FFF2-40B4-BE49-F238E27FC236}">
                  <a16:creationId xmlns:a16="http://schemas.microsoft.com/office/drawing/2014/main" id="{4B0E540F-5B8E-B252-28CE-0B3438E6D61B}"/>
                </a:ext>
              </a:extLst>
            </p:cNvPr>
            <p:cNvSpPr/>
            <p:nvPr/>
          </p:nvSpPr>
          <p:spPr>
            <a:xfrm>
              <a:off x="5409637" y="1345830"/>
              <a:ext cx="3474720" cy="201169"/>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Seller Performance</a:t>
              </a:r>
              <a:endParaRPr lang="en-US" sz="950" dirty="0"/>
            </a:p>
          </p:txBody>
        </p:sp>
        <p:sp>
          <p:nvSpPr>
            <p:cNvPr id="112" name="Text 33">
              <a:extLst>
                <a:ext uri="{FF2B5EF4-FFF2-40B4-BE49-F238E27FC236}">
                  <a16:creationId xmlns:a16="http://schemas.microsoft.com/office/drawing/2014/main" id="{01DCE972-14A2-46A7-55BA-73CAD16C6B8E}"/>
                </a:ext>
              </a:extLst>
            </p:cNvPr>
            <p:cNvSpPr/>
            <p:nvPr/>
          </p:nvSpPr>
          <p:spPr>
            <a:xfrm>
              <a:off x="5409637" y="1635326"/>
              <a:ext cx="3474720" cy="457202"/>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To evaluate sellers’ efficacy and the market contribution. To enable managers to identify the highest performing sellers, track the revenue concentration, and support seller growth goals by classifying sellers into performance categories based on revenue generation and order volume.</a:t>
              </a:r>
            </a:p>
            <a:p>
              <a:pPr marL="0" indent="0">
                <a:buNone/>
              </a:pPr>
              <a:r>
                <a:rPr lang="en-US" sz="800" dirty="0">
                  <a:solidFill>
                    <a:srgbClr val="8BA5C0"/>
                  </a:solidFill>
                  <a:latin typeface="Calibri" pitchFamily="34" charset="0"/>
                  <a:ea typeface="Calibri" pitchFamily="34" charset="-122"/>
                  <a:cs typeface="Calibri" pitchFamily="34" charset="-120"/>
                </a:rPr>
                <a:t> </a:t>
              </a:r>
              <a:endParaRPr lang="en-US" sz="800" dirty="0"/>
            </a:p>
          </p:txBody>
        </p:sp>
      </p:grpSp>
      <p:sp>
        <p:nvSpPr>
          <p:cNvPr id="86" name="Shape 21">
            <a:extLst>
              <a:ext uri="{FF2B5EF4-FFF2-40B4-BE49-F238E27FC236}">
                <a16:creationId xmlns:a16="http://schemas.microsoft.com/office/drawing/2014/main" id="{C4B08331-095A-4B0A-B9B2-B1D1A2DF9F6E}"/>
              </a:ext>
            </a:extLst>
          </p:cNvPr>
          <p:cNvSpPr/>
          <p:nvPr/>
        </p:nvSpPr>
        <p:spPr>
          <a:xfrm>
            <a:off x="4846824" y="3071596"/>
            <a:ext cx="4142796" cy="613741"/>
          </a:xfrm>
          <a:prstGeom prst="rect">
            <a:avLst/>
          </a:prstGeom>
          <a:solidFill>
            <a:srgbClr val="0B1E34"/>
          </a:solidFill>
          <a:ln w="3810">
            <a:solidFill>
              <a:srgbClr val="1A3055"/>
            </a:solidFill>
            <a:prstDash val="solid"/>
          </a:ln>
        </p:spPr>
        <p:txBody>
          <a:bodyPr/>
          <a:lstStyle/>
          <a:p>
            <a:endParaRPr lang="en-MY">
              <a:solidFill>
                <a:srgbClr val="4CAF50"/>
              </a:solidFill>
            </a:endParaRPr>
          </a:p>
        </p:txBody>
      </p:sp>
      <p:sp>
        <p:nvSpPr>
          <p:cNvPr id="8" name="Shape 4">
            <a:extLst>
              <a:ext uri="{FF2B5EF4-FFF2-40B4-BE49-F238E27FC236}">
                <a16:creationId xmlns:a16="http://schemas.microsoft.com/office/drawing/2014/main" id="{0D0BD954-1178-2552-7284-DE3B9DEE733C}"/>
              </a:ext>
            </a:extLst>
          </p:cNvPr>
          <p:cNvSpPr/>
          <p:nvPr/>
        </p:nvSpPr>
        <p:spPr>
          <a:xfrm>
            <a:off x="4846824" y="2109965"/>
            <a:ext cx="4142796" cy="451281"/>
          </a:xfrm>
          <a:prstGeom prst="rect">
            <a:avLst/>
          </a:prstGeom>
          <a:solidFill>
            <a:srgbClr val="0F2646"/>
          </a:solidFill>
          <a:ln w="6350">
            <a:solidFill>
              <a:srgbClr val="1A3055"/>
            </a:solidFill>
            <a:prstDash val="solid"/>
          </a:ln>
        </p:spPr>
        <p:txBody>
          <a:bodyPr/>
          <a:lstStyle/>
          <a:p>
            <a:endParaRPr lang="en-MY">
              <a:solidFill>
                <a:srgbClr val="4CAF50"/>
              </a:solidFill>
            </a:endParaRPr>
          </a:p>
        </p:txBody>
      </p:sp>
      <p:sp>
        <p:nvSpPr>
          <p:cNvPr id="12" name="Text 6">
            <a:extLst>
              <a:ext uri="{FF2B5EF4-FFF2-40B4-BE49-F238E27FC236}">
                <a16:creationId xmlns:a16="http://schemas.microsoft.com/office/drawing/2014/main" id="{E2FD8D34-C8C1-AB97-F699-9A8FD13864E1}"/>
              </a:ext>
            </a:extLst>
          </p:cNvPr>
          <p:cNvSpPr/>
          <p:nvPr/>
        </p:nvSpPr>
        <p:spPr>
          <a:xfrm>
            <a:off x="5483263" y="2102668"/>
            <a:ext cx="893637" cy="237744"/>
          </a:xfrm>
          <a:prstGeom prst="rect">
            <a:avLst/>
          </a:prstGeom>
          <a:noFill/>
          <a:ln/>
        </p:spPr>
        <p:txBody>
          <a:bodyPr wrap="square" lIns="0" tIns="0" rIns="0" bIns="0" rtlCol="0" anchor="ctr"/>
          <a:lstStyle/>
          <a:p>
            <a:pPr marL="0" indent="0">
              <a:buNone/>
            </a:pPr>
            <a:r>
              <a:rPr lang="en-US" sz="750" b="1" dirty="0">
                <a:solidFill>
                  <a:srgbClr val="FF6B35"/>
                </a:solidFill>
              </a:rPr>
              <a:t>MEASURE</a:t>
            </a:r>
            <a:endParaRPr lang="en-US" sz="750" dirty="0">
              <a:solidFill>
                <a:srgbClr val="FF6B35"/>
              </a:solidFill>
            </a:endParaRPr>
          </a:p>
        </p:txBody>
      </p:sp>
      <p:sp>
        <p:nvSpPr>
          <p:cNvPr id="52" name="Text 7">
            <a:extLst>
              <a:ext uri="{FF2B5EF4-FFF2-40B4-BE49-F238E27FC236}">
                <a16:creationId xmlns:a16="http://schemas.microsoft.com/office/drawing/2014/main" id="{A322C165-2DA1-51B7-3989-5CD0B7EA2D0F}"/>
              </a:ext>
            </a:extLst>
          </p:cNvPr>
          <p:cNvSpPr/>
          <p:nvPr/>
        </p:nvSpPr>
        <p:spPr>
          <a:xfrm>
            <a:off x="6145833" y="2107198"/>
            <a:ext cx="1860013" cy="237744"/>
          </a:xfrm>
          <a:prstGeom prst="rect">
            <a:avLst/>
          </a:prstGeom>
          <a:noFill/>
          <a:ln/>
        </p:spPr>
        <p:txBody>
          <a:bodyPr wrap="square" lIns="0" tIns="0" rIns="0" bIns="0" rtlCol="0" anchor="ctr"/>
          <a:lstStyle/>
          <a:p>
            <a:pPr marL="0" indent="0">
              <a:buNone/>
            </a:pPr>
            <a:r>
              <a:rPr lang="en-US" sz="750" b="1" dirty="0">
                <a:solidFill>
                  <a:srgbClr val="FF6B35"/>
                </a:solidFill>
              </a:rPr>
              <a:t>DAX FORMULA</a:t>
            </a:r>
            <a:endParaRPr lang="en-US" sz="750" dirty="0">
              <a:solidFill>
                <a:srgbClr val="FF6B35"/>
              </a:solidFill>
            </a:endParaRPr>
          </a:p>
        </p:txBody>
      </p:sp>
      <p:sp>
        <p:nvSpPr>
          <p:cNvPr id="55" name="Text 8">
            <a:extLst>
              <a:ext uri="{FF2B5EF4-FFF2-40B4-BE49-F238E27FC236}">
                <a16:creationId xmlns:a16="http://schemas.microsoft.com/office/drawing/2014/main" id="{D76B703B-6187-6D7E-C1C7-5A642272EDE3}"/>
              </a:ext>
            </a:extLst>
          </p:cNvPr>
          <p:cNvSpPr/>
          <p:nvPr/>
        </p:nvSpPr>
        <p:spPr>
          <a:xfrm>
            <a:off x="7448828" y="2102641"/>
            <a:ext cx="1513869" cy="237744"/>
          </a:xfrm>
          <a:prstGeom prst="rect">
            <a:avLst/>
          </a:prstGeom>
          <a:noFill/>
          <a:ln/>
        </p:spPr>
        <p:txBody>
          <a:bodyPr wrap="square" lIns="0" tIns="0" rIns="0" bIns="0" rtlCol="0" anchor="ctr"/>
          <a:lstStyle/>
          <a:p>
            <a:pPr marL="0" indent="0">
              <a:buNone/>
            </a:pPr>
            <a:r>
              <a:rPr lang="en-US" sz="750" b="1" dirty="0">
                <a:solidFill>
                  <a:srgbClr val="FF6B35"/>
                </a:solidFill>
              </a:rPr>
              <a:t>BUSINESS IMPORTANCE</a:t>
            </a:r>
            <a:endParaRPr lang="en-US" sz="750" dirty="0">
              <a:solidFill>
                <a:srgbClr val="FF6B35"/>
              </a:solidFill>
            </a:endParaRPr>
          </a:p>
        </p:txBody>
      </p:sp>
      <p:sp>
        <p:nvSpPr>
          <p:cNvPr id="62" name="Shape 9">
            <a:extLst>
              <a:ext uri="{FF2B5EF4-FFF2-40B4-BE49-F238E27FC236}">
                <a16:creationId xmlns:a16="http://schemas.microsoft.com/office/drawing/2014/main" id="{A3EC7D48-60BE-3659-DA04-F75BC7443B6A}"/>
              </a:ext>
            </a:extLst>
          </p:cNvPr>
          <p:cNvSpPr/>
          <p:nvPr/>
        </p:nvSpPr>
        <p:spPr>
          <a:xfrm>
            <a:off x="4846824" y="2300093"/>
            <a:ext cx="4142796" cy="777029"/>
          </a:xfrm>
          <a:prstGeom prst="rect">
            <a:avLst/>
          </a:prstGeom>
          <a:solidFill>
            <a:srgbClr val="0B1E34"/>
          </a:solidFill>
          <a:ln w="3810">
            <a:solidFill>
              <a:srgbClr val="1A3055"/>
            </a:solidFill>
            <a:prstDash val="solid"/>
          </a:ln>
        </p:spPr>
        <p:txBody>
          <a:bodyPr/>
          <a:lstStyle/>
          <a:p>
            <a:endParaRPr lang="en-MY">
              <a:solidFill>
                <a:srgbClr val="4CAF50"/>
              </a:solidFill>
            </a:endParaRPr>
          </a:p>
        </p:txBody>
      </p:sp>
      <p:sp>
        <p:nvSpPr>
          <p:cNvPr id="114" name="Text 5">
            <a:extLst>
              <a:ext uri="{FF2B5EF4-FFF2-40B4-BE49-F238E27FC236}">
                <a16:creationId xmlns:a16="http://schemas.microsoft.com/office/drawing/2014/main" id="{80097744-11FE-546C-45B7-05AEAF0B641F}"/>
              </a:ext>
            </a:extLst>
          </p:cNvPr>
          <p:cNvSpPr/>
          <p:nvPr/>
        </p:nvSpPr>
        <p:spPr>
          <a:xfrm>
            <a:off x="5012910" y="2098957"/>
            <a:ext cx="322125" cy="237744"/>
          </a:xfrm>
          <a:prstGeom prst="rect">
            <a:avLst/>
          </a:prstGeom>
          <a:noFill/>
          <a:ln/>
        </p:spPr>
        <p:txBody>
          <a:bodyPr wrap="square" lIns="0" tIns="0" rIns="0" bIns="0" rtlCol="0" anchor="ctr"/>
          <a:lstStyle/>
          <a:p>
            <a:pPr marL="0" indent="0">
              <a:buNone/>
            </a:pPr>
            <a:r>
              <a:rPr lang="en-US" sz="750" b="1" dirty="0">
                <a:solidFill>
                  <a:srgbClr val="FF6B35"/>
                </a:solidFill>
              </a:rPr>
              <a:t>BO</a:t>
            </a:r>
            <a:endParaRPr lang="en-US" sz="750" dirty="0">
              <a:solidFill>
                <a:srgbClr val="FF6B35"/>
              </a:solidFill>
            </a:endParaRPr>
          </a:p>
        </p:txBody>
      </p:sp>
      <p:sp>
        <p:nvSpPr>
          <p:cNvPr id="41" name="Text 30">
            <a:extLst>
              <a:ext uri="{FF2B5EF4-FFF2-40B4-BE49-F238E27FC236}">
                <a16:creationId xmlns:a16="http://schemas.microsoft.com/office/drawing/2014/main" id="{44B332DA-08AD-FF9B-D967-7906BCBAABF6}"/>
              </a:ext>
            </a:extLst>
          </p:cNvPr>
          <p:cNvSpPr/>
          <p:nvPr/>
        </p:nvSpPr>
        <p:spPr>
          <a:xfrm>
            <a:off x="5490011" y="2488505"/>
            <a:ext cx="597571" cy="223114"/>
          </a:xfrm>
          <a:prstGeom prst="rect">
            <a:avLst/>
          </a:prstGeom>
          <a:noFill/>
          <a:ln/>
        </p:spPr>
        <p:txBody>
          <a:bodyPr wrap="square" lIns="0" tIns="0" rIns="0" bIns="0" rtlCol="0" anchor="ctr"/>
          <a:lstStyle/>
          <a:p>
            <a:r>
              <a:rPr lang="en-US" sz="850" b="1" dirty="0">
                <a:solidFill>
                  <a:srgbClr val="FFFFFF"/>
                </a:solidFill>
              </a:rPr>
              <a:t>Seller Tier</a:t>
            </a:r>
            <a:endParaRPr lang="en-US" sz="850" dirty="0"/>
          </a:p>
        </p:txBody>
      </p:sp>
      <p:sp>
        <p:nvSpPr>
          <p:cNvPr id="43" name="Text 31">
            <a:extLst>
              <a:ext uri="{FF2B5EF4-FFF2-40B4-BE49-F238E27FC236}">
                <a16:creationId xmlns:a16="http://schemas.microsoft.com/office/drawing/2014/main" id="{827C5139-27F7-1B32-0209-B946925F3341}"/>
              </a:ext>
            </a:extLst>
          </p:cNvPr>
          <p:cNvSpPr/>
          <p:nvPr/>
        </p:nvSpPr>
        <p:spPr>
          <a:xfrm>
            <a:off x="6208035" y="2603594"/>
            <a:ext cx="1018780" cy="241402"/>
          </a:xfrm>
          <a:prstGeom prst="rect">
            <a:avLst/>
          </a:prstGeom>
          <a:noFill/>
          <a:ln/>
        </p:spPr>
        <p:txBody>
          <a:bodyPr wrap="square" lIns="0" tIns="0" rIns="0" bIns="0" rtlCol="0" anchor="ctr"/>
          <a:lstStyle/>
          <a:p>
            <a:r>
              <a:rPr lang="en-US" sz="620" dirty="0">
                <a:solidFill>
                  <a:srgbClr val="FF6B35"/>
                </a:solidFill>
                <a:latin typeface="Courier New" pitchFamily="34" charset="0"/>
                <a:ea typeface="Courier New" pitchFamily="34" charset="-122"/>
                <a:cs typeface="Courier New" pitchFamily="34" charset="-120"/>
              </a:rPr>
              <a:t>RANKX(ALL(sellers[seller_id]),    [Seller GMV],, DESC, DENSE)SWITCH: &lt;=50 Platinum · &lt;=200 Gold  &lt;=500 Silver · else Bronze</a:t>
            </a:r>
            <a:endParaRPr lang="en-US" sz="620" dirty="0">
              <a:solidFill>
                <a:srgbClr val="FF6B35"/>
              </a:solidFill>
            </a:endParaRPr>
          </a:p>
        </p:txBody>
      </p:sp>
      <p:sp>
        <p:nvSpPr>
          <p:cNvPr id="46" name="Text 32">
            <a:extLst>
              <a:ext uri="{FF2B5EF4-FFF2-40B4-BE49-F238E27FC236}">
                <a16:creationId xmlns:a16="http://schemas.microsoft.com/office/drawing/2014/main" id="{EC61C28D-CC77-FA52-2FE6-F55680DC3FF5}"/>
              </a:ext>
            </a:extLst>
          </p:cNvPr>
          <p:cNvSpPr/>
          <p:nvPr/>
        </p:nvSpPr>
        <p:spPr>
          <a:xfrm>
            <a:off x="7405288" y="2445494"/>
            <a:ext cx="1479740" cy="241402"/>
          </a:xfrm>
          <a:prstGeom prst="rect">
            <a:avLst/>
          </a:prstGeom>
          <a:noFill/>
          <a:ln/>
        </p:spPr>
        <p:txBody>
          <a:bodyPr wrap="square" lIns="0" tIns="0" rIns="0" bIns="0" rtlCol="0" anchor="ctr"/>
          <a:lstStyle/>
          <a:p>
            <a:r>
              <a:rPr lang="en-US" sz="720" dirty="0">
                <a:solidFill>
                  <a:srgbClr val="B0BEC5"/>
                </a:solidFill>
              </a:rPr>
              <a:t>DENSE ranking preserves tier assignments under any slicer context.</a:t>
            </a:r>
            <a:endParaRPr lang="en-US" sz="720" dirty="0"/>
          </a:p>
        </p:txBody>
      </p:sp>
      <p:sp>
        <p:nvSpPr>
          <p:cNvPr id="59" name="Text 36">
            <a:extLst>
              <a:ext uri="{FF2B5EF4-FFF2-40B4-BE49-F238E27FC236}">
                <a16:creationId xmlns:a16="http://schemas.microsoft.com/office/drawing/2014/main" id="{03AA2402-04EE-35FA-57DE-EC5F9C7E12D4}"/>
              </a:ext>
            </a:extLst>
          </p:cNvPr>
          <p:cNvSpPr/>
          <p:nvPr/>
        </p:nvSpPr>
        <p:spPr>
          <a:xfrm>
            <a:off x="5490012" y="3219263"/>
            <a:ext cx="632934" cy="223114"/>
          </a:xfrm>
          <a:prstGeom prst="rect">
            <a:avLst/>
          </a:prstGeom>
          <a:noFill/>
          <a:ln/>
        </p:spPr>
        <p:txBody>
          <a:bodyPr wrap="square" lIns="0" tIns="0" rIns="0" bIns="0" rtlCol="0" anchor="ctr"/>
          <a:lstStyle/>
          <a:p>
            <a:r>
              <a:rPr lang="en-US" sz="850" b="1" dirty="0">
                <a:solidFill>
                  <a:srgbClr val="FFFFFF"/>
                </a:solidFill>
              </a:rPr>
              <a:t>GMV % of Total</a:t>
            </a:r>
            <a:endParaRPr lang="en-US" sz="850" dirty="0"/>
          </a:p>
        </p:txBody>
      </p:sp>
      <p:sp>
        <p:nvSpPr>
          <p:cNvPr id="61" name="Text 37">
            <a:extLst>
              <a:ext uri="{FF2B5EF4-FFF2-40B4-BE49-F238E27FC236}">
                <a16:creationId xmlns:a16="http://schemas.microsoft.com/office/drawing/2014/main" id="{9B2098CC-0FAF-8C9F-44B6-CC5224CED098}"/>
              </a:ext>
            </a:extLst>
          </p:cNvPr>
          <p:cNvSpPr/>
          <p:nvPr/>
        </p:nvSpPr>
        <p:spPr>
          <a:xfrm>
            <a:off x="6208035" y="3257242"/>
            <a:ext cx="1018780" cy="241402"/>
          </a:xfrm>
          <a:prstGeom prst="rect">
            <a:avLst/>
          </a:prstGeom>
          <a:noFill/>
          <a:ln/>
        </p:spPr>
        <p:txBody>
          <a:bodyPr wrap="square" lIns="0" tIns="0" rIns="0" bIns="0" rtlCol="0" anchor="ctr"/>
          <a:lstStyle/>
          <a:p>
            <a:r>
              <a:rPr lang="en-US" sz="620" dirty="0">
                <a:solidFill>
                  <a:srgbClr val="FF6B35"/>
                </a:solidFill>
                <a:latin typeface="Courier New" pitchFamily="34" charset="0"/>
                <a:ea typeface="Courier New" pitchFamily="34" charset="-122"/>
                <a:cs typeface="Courier New" pitchFamily="34" charset="-120"/>
              </a:rPr>
              <a:t>DIVIDE(  [Seller GMV],  CALCULATE([Total GMV],    ALL(sellers)))</a:t>
            </a:r>
            <a:endParaRPr lang="en-US" sz="620" dirty="0">
              <a:solidFill>
                <a:srgbClr val="FF6B35"/>
              </a:solidFill>
            </a:endParaRPr>
          </a:p>
        </p:txBody>
      </p:sp>
      <p:sp>
        <p:nvSpPr>
          <p:cNvPr id="64" name="Text 38">
            <a:extLst>
              <a:ext uri="{FF2B5EF4-FFF2-40B4-BE49-F238E27FC236}">
                <a16:creationId xmlns:a16="http://schemas.microsoft.com/office/drawing/2014/main" id="{73C28434-9607-A2A1-6742-2158FC22AE9E}"/>
              </a:ext>
            </a:extLst>
          </p:cNvPr>
          <p:cNvSpPr/>
          <p:nvPr/>
        </p:nvSpPr>
        <p:spPr>
          <a:xfrm>
            <a:off x="7375620" y="3182509"/>
            <a:ext cx="1544799" cy="241402"/>
          </a:xfrm>
          <a:prstGeom prst="rect">
            <a:avLst/>
          </a:prstGeom>
          <a:noFill/>
          <a:ln/>
        </p:spPr>
        <p:txBody>
          <a:bodyPr wrap="square" lIns="0" tIns="0" rIns="0" bIns="0" rtlCol="0" anchor="ctr"/>
          <a:lstStyle/>
          <a:p>
            <a:r>
              <a:rPr lang="en-US" sz="720" dirty="0">
                <a:solidFill>
                  <a:srgbClr val="B0BEC5"/>
                </a:solidFill>
              </a:rPr>
              <a:t>Removes filter context to compute each seller tier's true share of platform GMV. </a:t>
            </a:r>
            <a:endParaRPr lang="en-US" sz="720" dirty="0"/>
          </a:p>
        </p:txBody>
      </p:sp>
      <p:sp>
        <p:nvSpPr>
          <p:cNvPr id="10" name="Shape 41">
            <a:extLst>
              <a:ext uri="{FF2B5EF4-FFF2-40B4-BE49-F238E27FC236}">
                <a16:creationId xmlns:a16="http://schemas.microsoft.com/office/drawing/2014/main" id="{92213EED-8992-1DD5-39B0-F55A760D52F9}"/>
              </a:ext>
            </a:extLst>
          </p:cNvPr>
          <p:cNvSpPr/>
          <p:nvPr/>
        </p:nvSpPr>
        <p:spPr>
          <a:xfrm>
            <a:off x="4853174" y="3780470"/>
            <a:ext cx="4142796" cy="1227256"/>
          </a:xfrm>
          <a:prstGeom prst="roundRect">
            <a:avLst>
              <a:gd name="adj" fmla="val 6486"/>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sz="2000"/>
          </a:p>
        </p:txBody>
      </p:sp>
      <p:sp>
        <p:nvSpPr>
          <p:cNvPr id="13" name="Text 5">
            <a:extLst>
              <a:ext uri="{FF2B5EF4-FFF2-40B4-BE49-F238E27FC236}">
                <a16:creationId xmlns:a16="http://schemas.microsoft.com/office/drawing/2014/main" id="{F882194D-B210-1437-9B35-B79361B699B5}"/>
              </a:ext>
            </a:extLst>
          </p:cNvPr>
          <p:cNvSpPr/>
          <p:nvPr/>
        </p:nvSpPr>
        <p:spPr>
          <a:xfrm>
            <a:off x="5105086" y="3780470"/>
            <a:ext cx="868680" cy="228600"/>
          </a:xfrm>
          <a:prstGeom prst="rect">
            <a:avLst/>
          </a:prstGeom>
          <a:noFill/>
          <a:ln/>
        </p:spPr>
        <p:txBody>
          <a:bodyPr wrap="square" lIns="0" tIns="0" rIns="0" bIns="0" rtlCol="0" anchor="ctr"/>
          <a:lstStyle/>
          <a:p>
            <a:pPr marL="0" indent="0">
              <a:buNone/>
            </a:pPr>
            <a:r>
              <a:rPr lang="en-US" sz="900" b="1" dirty="0">
                <a:solidFill>
                  <a:srgbClr val="FFFFFF"/>
                </a:solidFill>
              </a:rPr>
              <a:t>Tier</a:t>
            </a:r>
            <a:endParaRPr lang="en-US" sz="900" dirty="0"/>
          </a:p>
        </p:txBody>
      </p:sp>
      <p:sp>
        <p:nvSpPr>
          <p:cNvPr id="15" name="Text 6">
            <a:extLst>
              <a:ext uri="{FF2B5EF4-FFF2-40B4-BE49-F238E27FC236}">
                <a16:creationId xmlns:a16="http://schemas.microsoft.com/office/drawing/2014/main" id="{FF1E8A56-1D20-3386-40F0-6AF02AB9EAF0}"/>
              </a:ext>
            </a:extLst>
          </p:cNvPr>
          <p:cNvSpPr/>
          <p:nvPr/>
        </p:nvSpPr>
        <p:spPr>
          <a:xfrm>
            <a:off x="6000826" y="3780470"/>
            <a:ext cx="868680" cy="228600"/>
          </a:xfrm>
          <a:prstGeom prst="rect">
            <a:avLst/>
          </a:prstGeom>
          <a:noFill/>
          <a:ln/>
        </p:spPr>
        <p:txBody>
          <a:bodyPr wrap="square" lIns="0" tIns="0" rIns="0" bIns="0" rtlCol="0" anchor="ctr"/>
          <a:lstStyle/>
          <a:p>
            <a:pPr marL="0" indent="0">
              <a:buNone/>
            </a:pPr>
            <a:r>
              <a:rPr lang="en-US" sz="900" b="1" dirty="0">
                <a:solidFill>
                  <a:srgbClr val="FFFFFF"/>
                </a:solidFill>
              </a:rPr>
              <a:t>Count</a:t>
            </a:r>
            <a:endParaRPr lang="en-US" sz="900" dirty="0"/>
          </a:p>
        </p:txBody>
      </p:sp>
      <p:sp>
        <p:nvSpPr>
          <p:cNvPr id="17" name="Text 7">
            <a:extLst>
              <a:ext uri="{FF2B5EF4-FFF2-40B4-BE49-F238E27FC236}">
                <a16:creationId xmlns:a16="http://schemas.microsoft.com/office/drawing/2014/main" id="{832DA128-7A6B-FBF4-543B-8FEEC1C5973E}"/>
              </a:ext>
            </a:extLst>
          </p:cNvPr>
          <p:cNvSpPr/>
          <p:nvPr/>
        </p:nvSpPr>
        <p:spPr>
          <a:xfrm>
            <a:off x="6836226" y="3780470"/>
            <a:ext cx="868680" cy="228600"/>
          </a:xfrm>
          <a:prstGeom prst="rect">
            <a:avLst/>
          </a:prstGeom>
          <a:noFill/>
          <a:ln/>
        </p:spPr>
        <p:txBody>
          <a:bodyPr wrap="square" lIns="0" tIns="0" rIns="0" bIns="0" rtlCol="0" anchor="ctr"/>
          <a:lstStyle/>
          <a:p>
            <a:pPr marL="0" indent="0">
              <a:buNone/>
            </a:pPr>
            <a:r>
              <a:rPr lang="en-US" sz="900" b="1" dirty="0">
                <a:solidFill>
                  <a:srgbClr val="FFFFFF"/>
                </a:solidFill>
              </a:rPr>
              <a:t>GMV Share</a:t>
            </a:r>
            <a:endParaRPr lang="en-US" sz="900" dirty="0"/>
          </a:p>
        </p:txBody>
      </p:sp>
      <p:sp>
        <p:nvSpPr>
          <p:cNvPr id="19" name="Text 8">
            <a:extLst>
              <a:ext uri="{FF2B5EF4-FFF2-40B4-BE49-F238E27FC236}">
                <a16:creationId xmlns:a16="http://schemas.microsoft.com/office/drawing/2014/main" id="{1DD61D41-14E8-FB94-4A99-0B5D7F51A77C}"/>
              </a:ext>
            </a:extLst>
          </p:cNvPr>
          <p:cNvSpPr/>
          <p:nvPr/>
        </p:nvSpPr>
        <p:spPr>
          <a:xfrm>
            <a:off x="7870678" y="3780470"/>
            <a:ext cx="868680" cy="228600"/>
          </a:xfrm>
          <a:prstGeom prst="rect">
            <a:avLst/>
          </a:prstGeom>
          <a:noFill/>
          <a:ln/>
        </p:spPr>
        <p:txBody>
          <a:bodyPr wrap="square" lIns="0" tIns="0" rIns="0" bIns="0" rtlCol="0" anchor="ctr"/>
          <a:lstStyle/>
          <a:p>
            <a:pPr marL="0" indent="0">
              <a:buNone/>
            </a:pPr>
            <a:r>
              <a:rPr lang="en-US" sz="900" b="1" dirty="0">
                <a:solidFill>
                  <a:srgbClr val="FFFFFF"/>
                </a:solidFill>
              </a:rPr>
              <a:t>Seller GMV</a:t>
            </a:r>
            <a:endParaRPr lang="en-US" sz="900" dirty="0"/>
          </a:p>
        </p:txBody>
      </p:sp>
      <p:sp>
        <p:nvSpPr>
          <p:cNvPr id="21" name="Text 10">
            <a:extLst>
              <a:ext uri="{FF2B5EF4-FFF2-40B4-BE49-F238E27FC236}">
                <a16:creationId xmlns:a16="http://schemas.microsoft.com/office/drawing/2014/main" id="{2346BC32-B374-4FD0-DBE2-1027C533E3FE}"/>
              </a:ext>
            </a:extLst>
          </p:cNvPr>
          <p:cNvSpPr/>
          <p:nvPr/>
        </p:nvSpPr>
        <p:spPr>
          <a:xfrm>
            <a:off x="5105086" y="4000673"/>
            <a:ext cx="868680" cy="237744"/>
          </a:xfrm>
          <a:prstGeom prst="rect">
            <a:avLst/>
          </a:prstGeom>
          <a:noFill/>
          <a:ln/>
        </p:spPr>
        <p:txBody>
          <a:bodyPr wrap="square" lIns="0" tIns="0" rIns="0" bIns="0" rtlCol="0" anchor="ctr"/>
          <a:lstStyle/>
          <a:p>
            <a:pPr marL="0" indent="0">
              <a:buNone/>
            </a:pPr>
            <a:r>
              <a:rPr lang="en-US" sz="1000" b="1" dirty="0">
                <a:solidFill>
                  <a:srgbClr val="00BCD4"/>
                </a:solidFill>
              </a:rPr>
              <a:t>Platinum</a:t>
            </a:r>
            <a:endParaRPr lang="en-US" sz="1000" dirty="0"/>
          </a:p>
        </p:txBody>
      </p:sp>
      <p:sp>
        <p:nvSpPr>
          <p:cNvPr id="23" name="Text 11">
            <a:extLst>
              <a:ext uri="{FF2B5EF4-FFF2-40B4-BE49-F238E27FC236}">
                <a16:creationId xmlns:a16="http://schemas.microsoft.com/office/drawing/2014/main" id="{00F8C2D9-76F0-645D-D0DC-3B718A26564A}"/>
              </a:ext>
            </a:extLst>
          </p:cNvPr>
          <p:cNvSpPr/>
          <p:nvPr/>
        </p:nvSpPr>
        <p:spPr>
          <a:xfrm>
            <a:off x="6000826" y="4000673"/>
            <a:ext cx="777240" cy="237744"/>
          </a:xfrm>
          <a:prstGeom prst="rect">
            <a:avLst/>
          </a:prstGeom>
          <a:noFill/>
          <a:ln/>
        </p:spPr>
        <p:txBody>
          <a:bodyPr wrap="square" lIns="0" tIns="0" rIns="0" bIns="0" rtlCol="0" anchor="ctr"/>
          <a:lstStyle/>
          <a:p>
            <a:pPr marL="0" indent="0">
              <a:buNone/>
            </a:pPr>
            <a:r>
              <a:rPr lang="en-US" sz="1000" dirty="0">
                <a:solidFill>
                  <a:srgbClr val="FFFFFF"/>
                </a:solidFill>
              </a:rPr>
              <a:t>50</a:t>
            </a:r>
            <a:endParaRPr lang="en-US" sz="1000" dirty="0"/>
          </a:p>
        </p:txBody>
      </p:sp>
      <p:sp>
        <p:nvSpPr>
          <p:cNvPr id="25" name="Text 12">
            <a:extLst>
              <a:ext uri="{FF2B5EF4-FFF2-40B4-BE49-F238E27FC236}">
                <a16:creationId xmlns:a16="http://schemas.microsoft.com/office/drawing/2014/main" id="{34BC641C-878C-B13E-DA27-FFA773D17CBD}"/>
              </a:ext>
            </a:extLst>
          </p:cNvPr>
          <p:cNvSpPr/>
          <p:nvPr/>
        </p:nvSpPr>
        <p:spPr>
          <a:xfrm>
            <a:off x="6836226" y="4000673"/>
            <a:ext cx="777240" cy="237744"/>
          </a:xfrm>
          <a:prstGeom prst="rect">
            <a:avLst/>
          </a:prstGeom>
          <a:noFill/>
          <a:ln/>
        </p:spPr>
        <p:txBody>
          <a:bodyPr wrap="square" lIns="0" tIns="0" rIns="0" bIns="0" rtlCol="0" anchor="ctr"/>
          <a:lstStyle/>
          <a:p>
            <a:pPr marL="0" indent="0">
              <a:buNone/>
            </a:pPr>
            <a:r>
              <a:rPr lang="en-US" sz="1000" dirty="0">
                <a:solidFill>
                  <a:srgbClr val="FFFFFF"/>
                </a:solidFill>
              </a:rPr>
              <a:t>32.29%</a:t>
            </a:r>
            <a:endParaRPr lang="en-US" sz="1000" dirty="0"/>
          </a:p>
        </p:txBody>
      </p:sp>
      <p:sp>
        <p:nvSpPr>
          <p:cNvPr id="27" name="Text 13">
            <a:extLst>
              <a:ext uri="{FF2B5EF4-FFF2-40B4-BE49-F238E27FC236}">
                <a16:creationId xmlns:a16="http://schemas.microsoft.com/office/drawing/2014/main" id="{75AF3C03-846F-569A-39FC-3A070382688A}"/>
              </a:ext>
            </a:extLst>
          </p:cNvPr>
          <p:cNvSpPr/>
          <p:nvPr/>
        </p:nvSpPr>
        <p:spPr>
          <a:xfrm>
            <a:off x="7870678" y="4000673"/>
            <a:ext cx="868680" cy="237744"/>
          </a:xfrm>
          <a:prstGeom prst="rect">
            <a:avLst/>
          </a:prstGeom>
          <a:noFill/>
          <a:ln/>
        </p:spPr>
        <p:txBody>
          <a:bodyPr wrap="square" lIns="0" tIns="0" rIns="0" bIns="0" rtlCol="0" anchor="ctr"/>
          <a:lstStyle/>
          <a:p>
            <a:pPr marL="0" indent="0">
              <a:buNone/>
            </a:pPr>
            <a:r>
              <a:rPr lang="en-US" sz="1000" dirty="0">
                <a:solidFill>
                  <a:srgbClr val="FFFFFF"/>
                </a:solidFill>
              </a:rPr>
              <a:t>$5.11M</a:t>
            </a:r>
            <a:endParaRPr lang="en-US" sz="1000" dirty="0"/>
          </a:p>
        </p:txBody>
      </p:sp>
      <p:sp>
        <p:nvSpPr>
          <p:cNvPr id="29" name="Text 15">
            <a:extLst>
              <a:ext uri="{FF2B5EF4-FFF2-40B4-BE49-F238E27FC236}">
                <a16:creationId xmlns:a16="http://schemas.microsoft.com/office/drawing/2014/main" id="{966E224E-62B0-0985-9D34-25A6A3574BDC}"/>
              </a:ext>
            </a:extLst>
          </p:cNvPr>
          <p:cNvSpPr/>
          <p:nvPr/>
        </p:nvSpPr>
        <p:spPr>
          <a:xfrm>
            <a:off x="5105086" y="4180801"/>
            <a:ext cx="868680" cy="237744"/>
          </a:xfrm>
          <a:prstGeom prst="rect">
            <a:avLst/>
          </a:prstGeom>
          <a:noFill/>
          <a:ln/>
        </p:spPr>
        <p:txBody>
          <a:bodyPr wrap="square" lIns="0" tIns="0" rIns="0" bIns="0" rtlCol="0" anchor="ctr"/>
          <a:lstStyle/>
          <a:p>
            <a:pPr marL="0" indent="0">
              <a:buNone/>
            </a:pPr>
            <a:r>
              <a:rPr lang="en-US" sz="1000" b="1" dirty="0">
                <a:solidFill>
                  <a:srgbClr val="FFC107"/>
                </a:solidFill>
              </a:rPr>
              <a:t>Gold</a:t>
            </a:r>
            <a:endParaRPr lang="en-US" sz="1000" dirty="0"/>
          </a:p>
        </p:txBody>
      </p:sp>
      <p:sp>
        <p:nvSpPr>
          <p:cNvPr id="31" name="Text 16">
            <a:extLst>
              <a:ext uri="{FF2B5EF4-FFF2-40B4-BE49-F238E27FC236}">
                <a16:creationId xmlns:a16="http://schemas.microsoft.com/office/drawing/2014/main" id="{75FDF608-4F9F-82EC-330A-D0CFABD233F9}"/>
              </a:ext>
            </a:extLst>
          </p:cNvPr>
          <p:cNvSpPr/>
          <p:nvPr/>
        </p:nvSpPr>
        <p:spPr>
          <a:xfrm>
            <a:off x="6000826" y="4180801"/>
            <a:ext cx="777240" cy="237744"/>
          </a:xfrm>
          <a:prstGeom prst="rect">
            <a:avLst/>
          </a:prstGeom>
          <a:noFill/>
          <a:ln/>
        </p:spPr>
        <p:txBody>
          <a:bodyPr wrap="square" lIns="0" tIns="0" rIns="0" bIns="0" rtlCol="0" anchor="ctr"/>
          <a:lstStyle/>
          <a:p>
            <a:pPr marL="0" indent="0">
              <a:buNone/>
            </a:pPr>
            <a:r>
              <a:rPr lang="en-US" sz="1000" dirty="0">
                <a:solidFill>
                  <a:srgbClr val="FFFFFF"/>
                </a:solidFill>
              </a:rPr>
              <a:t>150</a:t>
            </a:r>
            <a:endParaRPr lang="en-US" sz="1000" dirty="0"/>
          </a:p>
        </p:txBody>
      </p:sp>
      <p:sp>
        <p:nvSpPr>
          <p:cNvPr id="33" name="Text 17">
            <a:extLst>
              <a:ext uri="{FF2B5EF4-FFF2-40B4-BE49-F238E27FC236}">
                <a16:creationId xmlns:a16="http://schemas.microsoft.com/office/drawing/2014/main" id="{992AAEFD-62FC-F379-926A-115931976B3F}"/>
              </a:ext>
            </a:extLst>
          </p:cNvPr>
          <p:cNvSpPr/>
          <p:nvPr/>
        </p:nvSpPr>
        <p:spPr>
          <a:xfrm>
            <a:off x="6836226" y="4180801"/>
            <a:ext cx="777240" cy="237744"/>
          </a:xfrm>
          <a:prstGeom prst="rect">
            <a:avLst/>
          </a:prstGeom>
          <a:noFill/>
          <a:ln/>
        </p:spPr>
        <p:txBody>
          <a:bodyPr wrap="square" lIns="0" tIns="0" rIns="0" bIns="0" rtlCol="0" anchor="ctr"/>
          <a:lstStyle/>
          <a:p>
            <a:pPr marL="0" indent="0">
              <a:buNone/>
            </a:pPr>
            <a:r>
              <a:rPr lang="en-US" sz="1000" dirty="0">
                <a:solidFill>
                  <a:srgbClr val="FFFFFF"/>
                </a:solidFill>
              </a:rPr>
              <a:t>25.17%</a:t>
            </a:r>
            <a:endParaRPr lang="en-US" sz="1000" dirty="0"/>
          </a:p>
        </p:txBody>
      </p:sp>
      <p:sp>
        <p:nvSpPr>
          <p:cNvPr id="35" name="Text 18">
            <a:extLst>
              <a:ext uri="{FF2B5EF4-FFF2-40B4-BE49-F238E27FC236}">
                <a16:creationId xmlns:a16="http://schemas.microsoft.com/office/drawing/2014/main" id="{BF1A5A53-D900-22FC-FF2A-1C044AA435BF}"/>
              </a:ext>
            </a:extLst>
          </p:cNvPr>
          <p:cNvSpPr/>
          <p:nvPr/>
        </p:nvSpPr>
        <p:spPr>
          <a:xfrm>
            <a:off x="7870678" y="4180801"/>
            <a:ext cx="868680" cy="237744"/>
          </a:xfrm>
          <a:prstGeom prst="rect">
            <a:avLst/>
          </a:prstGeom>
          <a:noFill/>
          <a:ln/>
        </p:spPr>
        <p:txBody>
          <a:bodyPr wrap="square" lIns="0" tIns="0" rIns="0" bIns="0" rtlCol="0" anchor="ctr"/>
          <a:lstStyle/>
          <a:p>
            <a:pPr marL="0" indent="0">
              <a:buNone/>
            </a:pPr>
            <a:r>
              <a:rPr lang="en-US" sz="1000" dirty="0">
                <a:solidFill>
                  <a:srgbClr val="FFFFFF"/>
                </a:solidFill>
              </a:rPr>
              <a:t>$3.98M</a:t>
            </a:r>
            <a:endParaRPr lang="en-US" sz="1000" dirty="0"/>
          </a:p>
        </p:txBody>
      </p:sp>
      <p:sp>
        <p:nvSpPr>
          <p:cNvPr id="38" name="Text 20">
            <a:extLst>
              <a:ext uri="{FF2B5EF4-FFF2-40B4-BE49-F238E27FC236}">
                <a16:creationId xmlns:a16="http://schemas.microsoft.com/office/drawing/2014/main" id="{7F7DB999-E3C9-B218-1AEC-DB653A5FF8E4}"/>
              </a:ext>
            </a:extLst>
          </p:cNvPr>
          <p:cNvSpPr/>
          <p:nvPr/>
        </p:nvSpPr>
        <p:spPr>
          <a:xfrm>
            <a:off x="5105086" y="4362079"/>
            <a:ext cx="868680" cy="237744"/>
          </a:xfrm>
          <a:prstGeom prst="rect">
            <a:avLst/>
          </a:prstGeom>
          <a:noFill/>
          <a:ln/>
        </p:spPr>
        <p:txBody>
          <a:bodyPr wrap="square" lIns="0" tIns="0" rIns="0" bIns="0" rtlCol="0" anchor="ctr"/>
          <a:lstStyle/>
          <a:p>
            <a:pPr marL="0" indent="0">
              <a:buNone/>
            </a:pPr>
            <a:r>
              <a:rPr lang="en-US" sz="1000" b="1" dirty="0">
                <a:solidFill>
                  <a:srgbClr val="B0BEC5"/>
                </a:solidFill>
              </a:rPr>
              <a:t>Silver</a:t>
            </a:r>
            <a:endParaRPr lang="en-US" sz="1000" dirty="0"/>
          </a:p>
        </p:txBody>
      </p:sp>
      <p:sp>
        <p:nvSpPr>
          <p:cNvPr id="42" name="Text 21">
            <a:extLst>
              <a:ext uri="{FF2B5EF4-FFF2-40B4-BE49-F238E27FC236}">
                <a16:creationId xmlns:a16="http://schemas.microsoft.com/office/drawing/2014/main" id="{D93B24E6-CB50-C6DD-C06D-7898422432AD}"/>
              </a:ext>
            </a:extLst>
          </p:cNvPr>
          <p:cNvSpPr/>
          <p:nvPr/>
        </p:nvSpPr>
        <p:spPr>
          <a:xfrm>
            <a:off x="6000826" y="4362079"/>
            <a:ext cx="777240" cy="237744"/>
          </a:xfrm>
          <a:prstGeom prst="rect">
            <a:avLst/>
          </a:prstGeom>
          <a:noFill/>
          <a:ln/>
        </p:spPr>
        <p:txBody>
          <a:bodyPr wrap="square" lIns="0" tIns="0" rIns="0" bIns="0" rtlCol="0" anchor="ctr"/>
          <a:lstStyle/>
          <a:p>
            <a:pPr marL="0" indent="0">
              <a:buNone/>
            </a:pPr>
            <a:r>
              <a:rPr lang="en-US" sz="1000" dirty="0">
                <a:solidFill>
                  <a:srgbClr val="FFFFFF"/>
                </a:solidFill>
              </a:rPr>
              <a:t>300</a:t>
            </a:r>
            <a:endParaRPr lang="en-US" sz="1000" dirty="0"/>
          </a:p>
        </p:txBody>
      </p:sp>
      <p:sp>
        <p:nvSpPr>
          <p:cNvPr id="45" name="Text 22">
            <a:extLst>
              <a:ext uri="{FF2B5EF4-FFF2-40B4-BE49-F238E27FC236}">
                <a16:creationId xmlns:a16="http://schemas.microsoft.com/office/drawing/2014/main" id="{4AA1B31C-B9B0-3403-7F28-7A8F910002E6}"/>
              </a:ext>
            </a:extLst>
          </p:cNvPr>
          <p:cNvSpPr/>
          <p:nvPr/>
        </p:nvSpPr>
        <p:spPr>
          <a:xfrm>
            <a:off x="6836226" y="4362079"/>
            <a:ext cx="777240" cy="237744"/>
          </a:xfrm>
          <a:prstGeom prst="rect">
            <a:avLst/>
          </a:prstGeom>
          <a:noFill/>
          <a:ln/>
        </p:spPr>
        <p:txBody>
          <a:bodyPr wrap="square" lIns="0" tIns="0" rIns="0" bIns="0" rtlCol="0" anchor="ctr"/>
          <a:lstStyle/>
          <a:p>
            <a:pPr marL="0" indent="0">
              <a:buNone/>
            </a:pPr>
            <a:r>
              <a:rPr lang="en-US" sz="1000" dirty="0">
                <a:solidFill>
                  <a:srgbClr val="FFFFFF"/>
                </a:solidFill>
              </a:rPr>
              <a:t>20.07%</a:t>
            </a:r>
            <a:endParaRPr lang="en-US" sz="1000" dirty="0"/>
          </a:p>
        </p:txBody>
      </p:sp>
      <p:sp>
        <p:nvSpPr>
          <p:cNvPr id="48" name="Text 23">
            <a:extLst>
              <a:ext uri="{FF2B5EF4-FFF2-40B4-BE49-F238E27FC236}">
                <a16:creationId xmlns:a16="http://schemas.microsoft.com/office/drawing/2014/main" id="{4FB302CA-205A-B76F-1108-4710092A0217}"/>
              </a:ext>
            </a:extLst>
          </p:cNvPr>
          <p:cNvSpPr/>
          <p:nvPr/>
        </p:nvSpPr>
        <p:spPr>
          <a:xfrm>
            <a:off x="7870678" y="4362079"/>
            <a:ext cx="868680" cy="237744"/>
          </a:xfrm>
          <a:prstGeom prst="rect">
            <a:avLst/>
          </a:prstGeom>
          <a:noFill/>
          <a:ln/>
        </p:spPr>
        <p:txBody>
          <a:bodyPr wrap="square" lIns="0" tIns="0" rIns="0" bIns="0" rtlCol="0" anchor="ctr"/>
          <a:lstStyle/>
          <a:p>
            <a:pPr marL="0" indent="0">
              <a:buNone/>
            </a:pPr>
            <a:r>
              <a:rPr lang="en-US" sz="1000" dirty="0">
                <a:solidFill>
                  <a:srgbClr val="FFFFFF"/>
                </a:solidFill>
              </a:rPr>
              <a:t>$3.18M</a:t>
            </a:r>
            <a:endParaRPr lang="en-US" sz="1000" dirty="0"/>
          </a:p>
        </p:txBody>
      </p:sp>
      <p:sp>
        <p:nvSpPr>
          <p:cNvPr id="51" name="Text 25">
            <a:extLst>
              <a:ext uri="{FF2B5EF4-FFF2-40B4-BE49-F238E27FC236}">
                <a16:creationId xmlns:a16="http://schemas.microsoft.com/office/drawing/2014/main" id="{29F7ABF4-F18A-E6B4-174E-F5F94408B177}"/>
              </a:ext>
            </a:extLst>
          </p:cNvPr>
          <p:cNvSpPr/>
          <p:nvPr/>
        </p:nvSpPr>
        <p:spPr>
          <a:xfrm>
            <a:off x="5105086" y="4542207"/>
            <a:ext cx="868680" cy="237744"/>
          </a:xfrm>
          <a:prstGeom prst="rect">
            <a:avLst/>
          </a:prstGeom>
          <a:noFill/>
          <a:ln/>
        </p:spPr>
        <p:txBody>
          <a:bodyPr wrap="square" lIns="0" tIns="0" rIns="0" bIns="0" rtlCol="0" anchor="ctr"/>
          <a:lstStyle/>
          <a:p>
            <a:pPr marL="0" indent="0">
              <a:buNone/>
            </a:pPr>
            <a:r>
              <a:rPr lang="en-US" sz="1000" b="1" dirty="0">
                <a:solidFill>
                  <a:srgbClr val="FF6B35"/>
                </a:solidFill>
              </a:rPr>
              <a:t>Bronze</a:t>
            </a:r>
            <a:endParaRPr lang="en-US" sz="1000" dirty="0"/>
          </a:p>
        </p:txBody>
      </p:sp>
      <p:sp>
        <p:nvSpPr>
          <p:cNvPr id="57" name="Text 26">
            <a:extLst>
              <a:ext uri="{FF2B5EF4-FFF2-40B4-BE49-F238E27FC236}">
                <a16:creationId xmlns:a16="http://schemas.microsoft.com/office/drawing/2014/main" id="{AA170CC9-A26D-714B-F005-EE6E16B5EF67}"/>
              </a:ext>
            </a:extLst>
          </p:cNvPr>
          <p:cNvSpPr/>
          <p:nvPr/>
        </p:nvSpPr>
        <p:spPr>
          <a:xfrm>
            <a:off x="6000826" y="4555115"/>
            <a:ext cx="777240" cy="237744"/>
          </a:xfrm>
          <a:prstGeom prst="rect">
            <a:avLst/>
          </a:prstGeom>
          <a:noFill/>
          <a:ln/>
        </p:spPr>
        <p:txBody>
          <a:bodyPr wrap="square" lIns="0" tIns="0" rIns="0" bIns="0" rtlCol="0" anchor="ctr"/>
          <a:lstStyle/>
          <a:p>
            <a:pPr marL="0" indent="0">
              <a:buNone/>
            </a:pPr>
            <a:r>
              <a:rPr lang="en-US" sz="1000" dirty="0">
                <a:solidFill>
                  <a:srgbClr val="FFFFFF"/>
                </a:solidFill>
              </a:rPr>
              <a:t>2,595</a:t>
            </a:r>
            <a:endParaRPr lang="en-US" sz="1000" dirty="0"/>
          </a:p>
        </p:txBody>
      </p:sp>
      <p:sp>
        <p:nvSpPr>
          <p:cNvPr id="60" name="Text 27">
            <a:extLst>
              <a:ext uri="{FF2B5EF4-FFF2-40B4-BE49-F238E27FC236}">
                <a16:creationId xmlns:a16="http://schemas.microsoft.com/office/drawing/2014/main" id="{28520F30-576B-AA61-B983-D52FF9BF443B}"/>
              </a:ext>
            </a:extLst>
          </p:cNvPr>
          <p:cNvSpPr/>
          <p:nvPr/>
        </p:nvSpPr>
        <p:spPr>
          <a:xfrm>
            <a:off x="6836226" y="4542207"/>
            <a:ext cx="777240" cy="237744"/>
          </a:xfrm>
          <a:prstGeom prst="rect">
            <a:avLst/>
          </a:prstGeom>
          <a:noFill/>
          <a:ln/>
        </p:spPr>
        <p:txBody>
          <a:bodyPr wrap="square" lIns="0" tIns="0" rIns="0" bIns="0" rtlCol="0" anchor="ctr"/>
          <a:lstStyle/>
          <a:p>
            <a:pPr marL="0" indent="0">
              <a:buNone/>
            </a:pPr>
            <a:r>
              <a:rPr lang="en-US" sz="1000" dirty="0">
                <a:solidFill>
                  <a:srgbClr val="FFFFFF"/>
                </a:solidFill>
              </a:rPr>
              <a:t>22.47%</a:t>
            </a:r>
            <a:endParaRPr lang="en-US" sz="1000" dirty="0"/>
          </a:p>
        </p:txBody>
      </p:sp>
      <p:sp>
        <p:nvSpPr>
          <p:cNvPr id="65" name="Text 28">
            <a:extLst>
              <a:ext uri="{FF2B5EF4-FFF2-40B4-BE49-F238E27FC236}">
                <a16:creationId xmlns:a16="http://schemas.microsoft.com/office/drawing/2014/main" id="{BDEA5018-D20F-603D-95F2-CB45F74E1D1A}"/>
              </a:ext>
            </a:extLst>
          </p:cNvPr>
          <p:cNvSpPr/>
          <p:nvPr/>
        </p:nvSpPr>
        <p:spPr>
          <a:xfrm>
            <a:off x="7870678" y="4555115"/>
            <a:ext cx="868680" cy="237744"/>
          </a:xfrm>
          <a:prstGeom prst="rect">
            <a:avLst/>
          </a:prstGeom>
          <a:noFill/>
          <a:ln/>
        </p:spPr>
        <p:txBody>
          <a:bodyPr wrap="square" lIns="0" tIns="0" rIns="0" bIns="0" rtlCol="0" anchor="ctr"/>
          <a:lstStyle/>
          <a:p>
            <a:pPr marL="0" indent="0">
              <a:buNone/>
            </a:pPr>
            <a:r>
              <a:rPr lang="en-US" sz="1000" dirty="0">
                <a:solidFill>
                  <a:srgbClr val="FFFFFF"/>
                </a:solidFill>
              </a:rPr>
              <a:t>$3.56M</a:t>
            </a:r>
            <a:endParaRPr lang="en-US" sz="1000" dirty="0"/>
          </a:p>
        </p:txBody>
      </p:sp>
      <p:sp>
        <p:nvSpPr>
          <p:cNvPr id="67" name="Text 29">
            <a:extLst>
              <a:ext uri="{FF2B5EF4-FFF2-40B4-BE49-F238E27FC236}">
                <a16:creationId xmlns:a16="http://schemas.microsoft.com/office/drawing/2014/main" id="{B12C41AA-245E-2FCB-7C63-EFBF7D8F98D6}"/>
              </a:ext>
            </a:extLst>
          </p:cNvPr>
          <p:cNvSpPr/>
          <p:nvPr/>
        </p:nvSpPr>
        <p:spPr>
          <a:xfrm>
            <a:off x="5099906" y="4815703"/>
            <a:ext cx="3840480" cy="192024"/>
          </a:xfrm>
          <a:prstGeom prst="rect">
            <a:avLst/>
          </a:prstGeom>
          <a:noFill/>
          <a:ln/>
        </p:spPr>
        <p:txBody>
          <a:bodyPr wrap="square" lIns="0" tIns="0" rIns="0" bIns="0" rtlCol="0" anchor="t"/>
          <a:lstStyle/>
          <a:p>
            <a:pPr marL="0" indent="0">
              <a:buNone/>
            </a:pPr>
            <a:r>
              <a:rPr lang="en-US" sz="900" dirty="0">
                <a:solidFill>
                  <a:srgbClr val="B0BEC5"/>
                </a:solidFill>
              </a:rPr>
              <a:t>Key risk: 50 Platinum sellers drive 32.29% of GMV. </a:t>
            </a:r>
            <a:endParaRPr lang="en-US" sz="900" dirty="0"/>
          </a:p>
        </p:txBody>
      </p:sp>
      <p:sp>
        <p:nvSpPr>
          <p:cNvPr id="70" name="Shape 30">
            <a:extLst>
              <a:ext uri="{FF2B5EF4-FFF2-40B4-BE49-F238E27FC236}">
                <a16:creationId xmlns:a16="http://schemas.microsoft.com/office/drawing/2014/main" id="{8422ACC8-5B55-A435-328B-754584CC34ED}"/>
              </a:ext>
            </a:extLst>
          </p:cNvPr>
          <p:cNvSpPr/>
          <p:nvPr/>
        </p:nvSpPr>
        <p:spPr>
          <a:xfrm>
            <a:off x="5061546" y="4769981"/>
            <a:ext cx="3677812" cy="0"/>
          </a:xfrm>
          <a:prstGeom prst="line">
            <a:avLst/>
          </a:prstGeom>
          <a:noFill/>
          <a:ln w="6350">
            <a:solidFill>
              <a:srgbClr val="1E3A5F"/>
            </a:solidFill>
            <a:prstDash val="solid"/>
          </a:ln>
        </p:spPr>
        <p:txBody>
          <a:bodyPr/>
          <a:lstStyle/>
          <a:p>
            <a:endParaRPr lang="en-MY" sz="200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50" name="Add-in 149">
                <a:extLst>
                  <a:ext uri="{FF2B5EF4-FFF2-40B4-BE49-F238E27FC236}">
                    <a16:creationId xmlns:a16="http://schemas.microsoft.com/office/drawing/2014/main" id="{44246181-7DA7-04AB-E985-DDA66D9390A3}"/>
                  </a:ext>
                </a:extLst>
              </p:cNvPr>
              <p:cNvGraphicFramePr>
                <a:graphicFrameLocks noGrp="1"/>
              </p:cNvGraphicFramePr>
              <p:nvPr>
                <p:extLst>
                  <p:ext uri="{D42A27DB-BD31-4B8C-83A1-F6EECF244321}">
                    <p14:modId xmlns:p14="http://schemas.microsoft.com/office/powerpoint/2010/main" val="3366812413"/>
                  </p:ext>
                </p:extLst>
              </p:nvPr>
            </p:nvGraphicFramePr>
            <p:xfrm>
              <a:off x="152452" y="1051941"/>
              <a:ext cx="4609282" cy="3849912"/>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150" name="Add-in 149">
                <a:extLst>
                  <a:ext uri="{FF2B5EF4-FFF2-40B4-BE49-F238E27FC236}">
                    <a16:creationId xmlns:a16="http://schemas.microsoft.com/office/drawing/2014/main" id="{44246181-7DA7-04AB-E985-DDA66D9390A3}"/>
                  </a:ext>
                </a:extLst>
              </p:cNvPr>
              <p:cNvPicPr>
                <a:picLocks noGrp="1" noRot="1" noChangeAspect="1" noMove="1" noResize="1" noEditPoints="1" noAdjustHandles="1" noChangeArrowheads="1" noChangeShapeType="1"/>
              </p:cNvPicPr>
              <p:nvPr/>
            </p:nvPicPr>
            <p:blipFill>
              <a:blip r:embed="rId6"/>
              <a:stretch>
                <a:fillRect/>
              </a:stretch>
            </p:blipFill>
            <p:spPr>
              <a:xfrm>
                <a:off x="152452" y="1051941"/>
                <a:ext cx="4609282" cy="3849912"/>
              </a:xfrm>
              <a:prstGeom prst="rect">
                <a:avLst/>
              </a:prstGeom>
            </p:spPr>
          </p:pic>
        </mc:Fallback>
      </mc:AlternateContent>
      <p:sp>
        <p:nvSpPr>
          <p:cNvPr id="154" name="Shape 46">
            <a:extLst>
              <a:ext uri="{FF2B5EF4-FFF2-40B4-BE49-F238E27FC236}">
                <a16:creationId xmlns:a16="http://schemas.microsoft.com/office/drawing/2014/main" id="{46EAE022-4C56-E6E3-6F56-F35040516354}"/>
              </a:ext>
            </a:extLst>
          </p:cNvPr>
          <p:cNvSpPr/>
          <p:nvPr/>
        </p:nvSpPr>
        <p:spPr>
          <a:xfrm>
            <a:off x="4916733" y="2506909"/>
            <a:ext cx="475488" cy="160020"/>
          </a:xfrm>
          <a:prstGeom prst="roundRect">
            <a:avLst>
              <a:gd name="adj" fmla="val 45714"/>
            </a:avLst>
          </a:prstGeom>
          <a:solidFill>
            <a:srgbClr val="FF6B35"/>
          </a:solidFill>
          <a:ln w="12700">
            <a:solidFill>
              <a:srgbClr val="FF6B35"/>
            </a:solidFill>
            <a:prstDash val="solid"/>
          </a:ln>
        </p:spPr>
        <p:txBody>
          <a:bodyPr/>
          <a:lstStyle/>
          <a:p>
            <a:endParaRPr lang="en-MY"/>
          </a:p>
        </p:txBody>
      </p:sp>
      <p:sp>
        <p:nvSpPr>
          <p:cNvPr id="156" name="Text 47">
            <a:extLst>
              <a:ext uri="{FF2B5EF4-FFF2-40B4-BE49-F238E27FC236}">
                <a16:creationId xmlns:a16="http://schemas.microsoft.com/office/drawing/2014/main" id="{D5F24989-8566-3EFD-E01F-BBBBDEA0ADC9}"/>
              </a:ext>
            </a:extLst>
          </p:cNvPr>
          <p:cNvSpPr/>
          <p:nvPr/>
        </p:nvSpPr>
        <p:spPr>
          <a:xfrm>
            <a:off x="4916733" y="2506909"/>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BO3</a:t>
            </a:r>
            <a:endParaRPr lang="en-US" sz="750" dirty="0"/>
          </a:p>
        </p:txBody>
      </p:sp>
      <p:sp>
        <p:nvSpPr>
          <p:cNvPr id="158" name="Shape 52">
            <a:extLst>
              <a:ext uri="{FF2B5EF4-FFF2-40B4-BE49-F238E27FC236}">
                <a16:creationId xmlns:a16="http://schemas.microsoft.com/office/drawing/2014/main" id="{F6DEFEFD-3247-9413-A812-24AC5EC5190E}"/>
              </a:ext>
            </a:extLst>
          </p:cNvPr>
          <p:cNvSpPr/>
          <p:nvPr/>
        </p:nvSpPr>
        <p:spPr>
          <a:xfrm>
            <a:off x="4923083" y="3236498"/>
            <a:ext cx="475488" cy="160020"/>
          </a:xfrm>
          <a:prstGeom prst="roundRect">
            <a:avLst>
              <a:gd name="adj" fmla="val 45714"/>
            </a:avLst>
          </a:prstGeom>
          <a:solidFill>
            <a:srgbClr val="FF6B35"/>
          </a:solidFill>
          <a:ln w="12700">
            <a:solidFill>
              <a:srgbClr val="FF6B35"/>
            </a:solidFill>
            <a:prstDash val="solid"/>
          </a:ln>
        </p:spPr>
        <p:txBody>
          <a:bodyPr/>
          <a:lstStyle/>
          <a:p>
            <a:endParaRPr lang="en-MY"/>
          </a:p>
        </p:txBody>
      </p:sp>
      <p:sp>
        <p:nvSpPr>
          <p:cNvPr id="160" name="Text 53">
            <a:extLst>
              <a:ext uri="{FF2B5EF4-FFF2-40B4-BE49-F238E27FC236}">
                <a16:creationId xmlns:a16="http://schemas.microsoft.com/office/drawing/2014/main" id="{4B5C3CBC-CB71-00F8-D05A-4458BDD80989}"/>
              </a:ext>
            </a:extLst>
          </p:cNvPr>
          <p:cNvSpPr/>
          <p:nvPr/>
        </p:nvSpPr>
        <p:spPr>
          <a:xfrm>
            <a:off x="4923083" y="3236498"/>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BO3</a:t>
            </a:r>
            <a:endParaRPr lang="en-US" sz="750" dirty="0"/>
          </a:p>
        </p:txBody>
      </p:sp>
    </p:spTree>
    <p:extLst>
      <p:ext uri="{BB962C8B-B14F-4D97-AF65-F5344CB8AC3E}">
        <p14:creationId xmlns:p14="http://schemas.microsoft.com/office/powerpoint/2010/main" val="3978355018"/>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a:extLst>
            <a:ext uri="{FF2B5EF4-FFF2-40B4-BE49-F238E27FC236}">
              <a16:creationId xmlns:a16="http://schemas.microsoft.com/office/drawing/2014/main" id="{34BC7807-8BDB-9C5B-990A-F7E52FC7536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16F328-B9DB-B6C0-F647-A8E0A9321198}"/>
              </a:ext>
            </a:extLst>
          </p:cNvPr>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a:extLst>
              <a:ext uri="{FF2B5EF4-FFF2-40B4-BE49-F238E27FC236}">
                <a16:creationId xmlns:a16="http://schemas.microsoft.com/office/drawing/2014/main" id="{CE2B523B-1A13-E27E-73BA-C9F308C2E21E}"/>
              </a:ext>
            </a:extLst>
          </p:cNvPr>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7" name="Text 5">
            <a:extLst>
              <a:ext uri="{FF2B5EF4-FFF2-40B4-BE49-F238E27FC236}">
                <a16:creationId xmlns:a16="http://schemas.microsoft.com/office/drawing/2014/main" id="{27C8FB5B-59D1-0069-1384-8D62504781F3}"/>
              </a:ext>
            </a:extLst>
          </p:cNvPr>
          <p:cNvSpPr/>
          <p:nvPr/>
        </p:nvSpPr>
        <p:spPr>
          <a:xfrm>
            <a:off x="1063767" y="219075"/>
            <a:ext cx="7360920" cy="438912"/>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Business Objective 4 – Marketing Funnel</a:t>
            </a:r>
            <a:endParaRPr lang="en-US" sz="2800" dirty="0"/>
          </a:p>
        </p:txBody>
      </p:sp>
      <p:pic>
        <p:nvPicPr>
          <p:cNvPr id="54" name="Picture 53">
            <a:extLst>
              <a:ext uri="{FF2B5EF4-FFF2-40B4-BE49-F238E27FC236}">
                <a16:creationId xmlns:a16="http://schemas.microsoft.com/office/drawing/2014/main" id="{45469B0B-6E9A-183B-7E0E-71E810C6F26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grpSp>
        <p:nvGrpSpPr>
          <p:cNvPr id="128" name="Group 127">
            <a:extLst>
              <a:ext uri="{FF2B5EF4-FFF2-40B4-BE49-F238E27FC236}">
                <a16:creationId xmlns:a16="http://schemas.microsoft.com/office/drawing/2014/main" id="{8A63E2C1-A91C-B42F-48BF-E82EC307D786}"/>
              </a:ext>
            </a:extLst>
          </p:cNvPr>
          <p:cNvGrpSpPr/>
          <p:nvPr/>
        </p:nvGrpSpPr>
        <p:grpSpPr>
          <a:xfrm>
            <a:off x="4853174" y="1004649"/>
            <a:ext cx="4142796" cy="1039873"/>
            <a:chOff x="4696405" y="960120"/>
            <a:chExt cx="4343400" cy="1147169"/>
          </a:xfrm>
        </p:grpSpPr>
        <p:sp>
          <p:nvSpPr>
            <p:cNvPr id="98" name="Shape 26">
              <a:extLst>
                <a:ext uri="{FF2B5EF4-FFF2-40B4-BE49-F238E27FC236}">
                  <a16:creationId xmlns:a16="http://schemas.microsoft.com/office/drawing/2014/main" id="{0F98A591-0727-033B-FDAA-E4E53B04EF12}"/>
                </a:ext>
              </a:extLst>
            </p:cNvPr>
            <p:cNvSpPr/>
            <p:nvPr/>
          </p:nvSpPr>
          <p:spPr>
            <a:xfrm>
              <a:off x="4696405" y="1025271"/>
              <a:ext cx="4343400" cy="1082018"/>
            </a:xfrm>
            <a:prstGeom prst="roundRect">
              <a:avLst>
                <a:gd name="adj" fmla="val 3333"/>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dirty="0"/>
            </a:p>
          </p:txBody>
        </p:sp>
        <p:sp>
          <p:nvSpPr>
            <p:cNvPr id="100" name="Shape 27">
              <a:extLst>
                <a:ext uri="{FF2B5EF4-FFF2-40B4-BE49-F238E27FC236}">
                  <a16:creationId xmlns:a16="http://schemas.microsoft.com/office/drawing/2014/main" id="{76B014E0-9D7A-495C-382F-ADA45D72EBB8}"/>
                </a:ext>
              </a:extLst>
            </p:cNvPr>
            <p:cNvSpPr/>
            <p:nvPr/>
          </p:nvSpPr>
          <p:spPr>
            <a:xfrm>
              <a:off x="4696405" y="960120"/>
              <a:ext cx="4343400" cy="310896"/>
            </a:xfrm>
            <a:prstGeom prst="roundRect">
              <a:avLst>
                <a:gd name="adj" fmla="val 35294"/>
              </a:avLst>
            </a:prstGeom>
            <a:solidFill>
              <a:srgbClr val="9C27B0"/>
            </a:solidFill>
            <a:ln w="12700">
              <a:solidFill>
                <a:srgbClr val="9C27B0"/>
              </a:solidFill>
              <a:prstDash val="solid"/>
            </a:ln>
          </p:spPr>
          <p:txBody>
            <a:bodyPr/>
            <a:lstStyle/>
            <a:p>
              <a:endParaRPr lang="en-MY" dirty="0">
                <a:solidFill>
                  <a:srgbClr val="4CAF50"/>
                </a:solidFill>
                <a:effectLst>
                  <a:outerShdw blurRad="50800" dist="38100" dir="2700000" algn="tl" rotWithShape="0">
                    <a:prstClr val="black">
                      <a:alpha val="40000"/>
                    </a:prstClr>
                  </a:outerShdw>
                </a:effectLst>
              </a:endParaRPr>
            </a:p>
          </p:txBody>
        </p:sp>
        <p:sp>
          <p:nvSpPr>
            <p:cNvPr id="102" name="Shape 28">
              <a:extLst>
                <a:ext uri="{FF2B5EF4-FFF2-40B4-BE49-F238E27FC236}">
                  <a16:creationId xmlns:a16="http://schemas.microsoft.com/office/drawing/2014/main" id="{8685D1ED-C113-CDEA-BA07-41D6B5F10762}"/>
                </a:ext>
              </a:extLst>
            </p:cNvPr>
            <p:cNvSpPr/>
            <p:nvPr/>
          </p:nvSpPr>
          <p:spPr>
            <a:xfrm>
              <a:off x="4696405" y="1143000"/>
              <a:ext cx="4343400" cy="128016"/>
            </a:xfrm>
            <a:prstGeom prst="rect">
              <a:avLst/>
            </a:prstGeom>
            <a:solidFill>
              <a:srgbClr val="9C27B0"/>
            </a:solidFill>
            <a:ln w="12700">
              <a:solidFill>
                <a:srgbClr val="9C27B0"/>
              </a:solidFill>
              <a:prstDash val="solid"/>
            </a:ln>
          </p:spPr>
          <p:txBody>
            <a:bodyPr/>
            <a:lstStyle/>
            <a:p>
              <a:endParaRPr lang="en-MY"/>
            </a:p>
          </p:txBody>
        </p:sp>
        <p:sp>
          <p:nvSpPr>
            <p:cNvPr id="104" name="Text 29">
              <a:extLst>
                <a:ext uri="{FF2B5EF4-FFF2-40B4-BE49-F238E27FC236}">
                  <a16:creationId xmlns:a16="http://schemas.microsoft.com/office/drawing/2014/main" id="{D5B3BBC4-267B-E581-CDBA-D8F82A055740}"/>
                </a:ext>
              </a:extLst>
            </p:cNvPr>
            <p:cNvSpPr/>
            <p:nvPr/>
          </p:nvSpPr>
          <p:spPr>
            <a:xfrm>
              <a:off x="4815277" y="969264"/>
              <a:ext cx="4160520" cy="292608"/>
            </a:xfrm>
            <a:prstGeom prst="rect">
              <a:avLst/>
            </a:prstGeom>
            <a:noFill/>
            <a:ln/>
          </p:spPr>
          <p:txBody>
            <a:bodyPr wrap="square" lIns="0" tIns="0" rIns="0" bIns="0" rtlCol="0" anchor="ctr"/>
            <a:lstStyle/>
            <a:p>
              <a:pPr marL="0" indent="0">
                <a:buNone/>
              </a:pPr>
              <a:r>
                <a:rPr lang="en-US" sz="11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Business Objectives 4</a:t>
              </a:r>
              <a:endParaRPr lang="en-US" sz="1100" dirty="0">
                <a:effectLst>
                  <a:outerShdw blurRad="50800" dist="38100" dir="2700000" algn="tl" rotWithShape="0">
                    <a:prstClr val="black">
                      <a:alpha val="40000"/>
                    </a:prstClr>
                  </a:outerShdw>
                </a:effectLst>
              </a:endParaRPr>
            </a:p>
          </p:txBody>
        </p:sp>
        <p:sp>
          <p:nvSpPr>
            <p:cNvPr id="106" name="Shape 30">
              <a:extLst>
                <a:ext uri="{FF2B5EF4-FFF2-40B4-BE49-F238E27FC236}">
                  <a16:creationId xmlns:a16="http://schemas.microsoft.com/office/drawing/2014/main" id="{B51E9A10-7808-ABFD-FBA0-D75FFCD76EE2}"/>
                </a:ext>
              </a:extLst>
            </p:cNvPr>
            <p:cNvSpPr/>
            <p:nvPr/>
          </p:nvSpPr>
          <p:spPr>
            <a:xfrm>
              <a:off x="4842709" y="1432843"/>
              <a:ext cx="452706" cy="457201"/>
            </a:xfrm>
            <a:prstGeom prst="roundRect">
              <a:avLst>
                <a:gd name="adj" fmla="val 12000"/>
              </a:avLst>
            </a:prstGeom>
            <a:solidFill>
              <a:srgbClr val="9C27B0"/>
            </a:solidFill>
            <a:ln w="12700">
              <a:solidFill>
                <a:srgbClr val="9C27B0"/>
              </a:solidFill>
              <a:prstDash val="solid"/>
            </a:ln>
          </p:spPr>
          <p:txBody>
            <a:bodyPr/>
            <a:lstStyle/>
            <a:p>
              <a:endParaRPr lang="en-MY">
                <a:solidFill>
                  <a:srgbClr val="FF6B35"/>
                </a:solidFill>
              </a:endParaRPr>
            </a:p>
          </p:txBody>
        </p:sp>
        <p:sp>
          <p:nvSpPr>
            <p:cNvPr id="108" name="Text 31">
              <a:extLst>
                <a:ext uri="{FF2B5EF4-FFF2-40B4-BE49-F238E27FC236}">
                  <a16:creationId xmlns:a16="http://schemas.microsoft.com/office/drawing/2014/main" id="{F546D5AC-EBF3-7169-F717-3BEAB02D81DE}"/>
                </a:ext>
              </a:extLst>
            </p:cNvPr>
            <p:cNvSpPr/>
            <p:nvPr/>
          </p:nvSpPr>
          <p:spPr>
            <a:xfrm>
              <a:off x="4842709" y="1432843"/>
              <a:ext cx="452706" cy="457201"/>
            </a:xfrm>
            <a:prstGeom prst="rect">
              <a:avLst/>
            </a:prstGeom>
            <a:noFill/>
            <a:ln/>
          </p:spPr>
          <p:txBody>
            <a:bodyPr wrap="square" lIns="0" tIns="0" rIns="0" bIns="0" rtlCol="0" anchor="ctr"/>
            <a:lstStyle/>
            <a:p>
              <a:pPr marL="0" indent="0" algn="ctr">
                <a:buNone/>
              </a:pPr>
              <a:r>
                <a:rPr lang="en-US" sz="9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BO4</a:t>
              </a:r>
              <a:endParaRPr lang="en-US" sz="900" dirty="0">
                <a:effectLst>
                  <a:outerShdw blurRad="50800" dist="38100" dir="2700000" algn="tl" rotWithShape="0">
                    <a:prstClr val="black">
                      <a:alpha val="40000"/>
                    </a:prstClr>
                  </a:outerShdw>
                </a:effectLst>
              </a:endParaRPr>
            </a:p>
          </p:txBody>
        </p:sp>
        <p:sp>
          <p:nvSpPr>
            <p:cNvPr id="110" name="Text 32">
              <a:extLst>
                <a:ext uri="{FF2B5EF4-FFF2-40B4-BE49-F238E27FC236}">
                  <a16:creationId xmlns:a16="http://schemas.microsoft.com/office/drawing/2014/main" id="{1AE7F3BC-FAC1-7552-ED8C-79CFBB6EF744}"/>
                </a:ext>
              </a:extLst>
            </p:cNvPr>
            <p:cNvSpPr/>
            <p:nvPr/>
          </p:nvSpPr>
          <p:spPr>
            <a:xfrm>
              <a:off x="5409637" y="1345830"/>
              <a:ext cx="3474720" cy="201169"/>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Marketing Funnel</a:t>
              </a:r>
              <a:endParaRPr lang="en-US" sz="950" dirty="0"/>
            </a:p>
          </p:txBody>
        </p:sp>
        <p:sp>
          <p:nvSpPr>
            <p:cNvPr id="112" name="Text 33">
              <a:extLst>
                <a:ext uri="{FF2B5EF4-FFF2-40B4-BE49-F238E27FC236}">
                  <a16:creationId xmlns:a16="http://schemas.microsoft.com/office/drawing/2014/main" id="{9AB6397D-9BD1-070B-279E-F81ABEF324AF}"/>
                </a:ext>
              </a:extLst>
            </p:cNvPr>
            <p:cNvSpPr/>
            <p:nvPr/>
          </p:nvSpPr>
          <p:spPr>
            <a:xfrm>
              <a:off x="5409637" y="1537253"/>
              <a:ext cx="3474720" cy="457202"/>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To assess the efficiency of lead generation and conversion across various channels of acquisition. Determine the best channels for customer acquisition and offers insights into marketing effectiveness.</a:t>
              </a:r>
              <a:endParaRPr lang="en-US" sz="800" dirty="0"/>
            </a:p>
          </p:txBody>
        </p:sp>
      </p:grpSp>
      <p:sp>
        <p:nvSpPr>
          <p:cNvPr id="86" name="Shape 21">
            <a:extLst>
              <a:ext uri="{FF2B5EF4-FFF2-40B4-BE49-F238E27FC236}">
                <a16:creationId xmlns:a16="http://schemas.microsoft.com/office/drawing/2014/main" id="{523DAFD0-46D5-6C52-E434-3EF43B758F3B}"/>
              </a:ext>
            </a:extLst>
          </p:cNvPr>
          <p:cNvSpPr/>
          <p:nvPr/>
        </p:nvSpPr>
        <p:spPr>
          <a:xfrm>
            <a:off x="4846824" y="3071596"/>
            <a:ext cx="4142796" cy="613741"/>
          </a:xfrm>
          <a:prstGeom prst="rect">
            <a:avLst/>
          </a:prstGeom>
          <a:solidFill>
            <a:srgbClr val="0B1E34"/>
          </a:solidFill>
          <a:ln w="3810">
            <a:solidFill>
              <a:srgbClr val="1A3055"/>
            </a:solidFill>
            <a:prstDash val="solid"/>
          </a:ln>
        </p:spPr>
        <p:txBody>
          <a:bodyPr/>
          <a:lstStyle/>
          <a:p>
            <a:endParaRPr lang="en-MY">
              <a:solidFill>
                <a:srgbClr val="4CAF50"/>
              </a:solidFill>
            </a:endParaRPr>
          </a:p>
        </p:txBody>
      </p:sp>
      <p:sp>
        <p:nvSpPr>
          <p:cNvPr id="8" name="Shape 4">
            <a:extLst>
              <a:ext uri="{FF2B5EF4-FFF2-40B4-BE49-F238E27FC236}">
                <a16:creationId xmlns:a16="http://schemas.microsoft.com/office/drawing/2014/main" id="{2342DF61-565A-C575-6EF7-DED20394716D}"/>
              </a:ext>
            </a:extLst>
          </p:cNvPr>
          <p:cNvSpPr/>
          <p:nvPr/>
        </p:nvSpPr>
        <p:spPr>
          <a:xfrm>
            <a:off x="4846824" y="2109965"/>
            <a:ext cx="4142796" cy="451281"/>
          </a:xfrm>
          <a:prstGeom prst="rect">
            <a:avLst/>
          </a:prstGeom>
          <a:solidFill>
            <a:srgbClr val="0F2646"/>
          </a:solidFill>
          <a:ln w="6350">
            <a:solidFill>
              <a:srgbClr val="1A3055"/>
            </a:solidFill>
            <a:prstDash val="solid"/>
          </a:ln>
        </p:spPr>
        <p:txBody>
          <a:bodyPr/>
          <a:lstStyle/>
          <a:p>
            <a:endParaRPr lang="en-MY">
              <a:solidFill>
                <a:srgbClr val="4CAF50"/>
              </a:solidFill>
            </a:endParaRPr>
          </a:p>
        </p:txBody>
      </p:sp>
      <p:sp>
        <p:nvSpPr>
          <p:cNvPr id="12" name="Text 6">
            <a:extLst>
              <a:ext uri="{FF2B5EF4-FFF2-40B4-BE49-F238E27FC236}">
                <a16:creationId xmlns:a16="http://schemas.microsoft.com/office/drawing/2014/main" id="{5E1CAC3C-9399-EE0A-0164-A12F285F5B4F}"/>
              </a:ext>
            </a:extLst>
          </p:cNvPr>
          <p:cNvSpPr/>
          <p:nvPr/>
        </p:nvSpPr>
        <p:spPr>
          <a:xfrm>
            <a:off x="5483263" y="2102668"/>
            <a:ext cx="893637" cy="237744"/>
          </a:xfrm>
          <a:prstGeom prst="rect">
            <a:avLst/>
          </a:prstGeom>
          <a:noFill/>
          <a:ln/>
        </p:spPr>
        <p:txBody>
          <a:bodyPr wrap="square" lIns="0" tIns="0" rIns="0" bIns="0" rtlCol="0" anchor="ctr"/>
          <a:lstStyle/>
          <a:p>
            <a:pPr marL="0" indent="0">
              <a:buNone/>
            </a:pPr>
            <a:r>
              <a:rPr lang="en-US" sz="750" b="1" dirty="0">
                <a:solidFill>
                  <a:srgbClr val="9C27B0"/>
                </a:solidFill>
              </a:rPr>
              <a:t>MEASURE</a:t>
            </a:r>
            <a:endParaRPr lang="en-US" sz="750" dirty="0">
              <a:solidFill>
                <a:srgbClr val="9C27B0"/>
              </a:solidFill>
            </a:endParaRPr>
          </a:p>
        </p:txBody>
      </p:sp>
      <p:sp>
        <p:nvSpPr>
          <p:cNvPr id="52" name="Text 7">
            <a:extLst>
              <a:ext uri="{FF2B5EF4-FFF2-40B4-BE49-F238E27FC236}">
                <a16:creationId xmlns:a16="http://schemas.microsoft.com/office/drawing/2014/main" id="{89153F9E-BF80-B0A4-6AA1-CCD1E381F63B}"/>
              </a:ext>
            </a:extLst>
          </p:cNvPr>
          <p:cNvSpPr/>
          <p:nvPr/>
        </p:nvSpPr>
        <p:spPr>
          <a:xfrm>
            <a:off x="6145833" y="2107198"/>
            <a:ext cx="1860013" cy="237744"/>
          </a:xfrm>
          <a:prstGeom prst="rect">
            <a:avLst/>
          </a:prstGeom>
          <a:noFill/>
          <a:ln/>
        </p:spPr>
        <p:txBody>
          <a:bodyPr wrap="square" lIns="0" tIns="0" rIns="0" bIns="0" rtlCol="0" anchor="ctr"/>
          <a:lstStyle/>
          <a:p>
            <a:pPr marL="0" indent="0">
              <a:buNone/>
            </a:pPr>
            <a:r>
              <a:rPr lang="en-US" sz="750" b="1" dirty="0">
                <a:solidFill>
                  <a:srgbClr val="9C27B0"/>
                </a:solidFill>
              </a:rPr>
              <a:t>DAX FORMULA</a:t>
            </a:r>
            <a:endParaRPr lang="en-US" sz="750" dirty="0">
              <a:solidFill>
                <a:srgbClr val="9C27B0"/>
              </a:solidFill>
            </a:endParaRPr>
          </a:p>
        </p:txBody>
      </p:sp>
      <p:sp>
        <p:nvSpPr>
          <p:cNvPr id="55" name="Text 8">
            <a:extLst>
              <a:ext uri="{FF2B5EF4-FFF2-40B4-BE49-F238E27FC236}">
                <a16:creationId xmlns:a16="http://schemas.microsoft.com/office/drawing/2014/main" id="{1DDEB4CD-2CAD-DC36-140A-F8B757FFD6C8}"/>
              </a:ext>
            </a:extLst>
          </p:cNvPr>
          <p:cNvSpPr/>
          <p:nvPr/>
        </p:nvSpPr>
        <p:spPr>
          <a:xfrm>
            <a:off x="7448828" y="2102641"/>
            <a:ext cx="1513869" cy="237744"/>
          </a:xfrm>
          <a:prstGeom prst="rect">
            <a:avLst/>
          </a:prstGeom>
          <a:noFill/>
          <a:ln/>
        </p:spPr>
        <p:txBody>
          <a:bodyPr wrap="square" lIns="0" tIns="0" rIns="0" bIns="0" rtlCol="0" anchor="ctr"/>
          <a:lstStyle/>
          <a:p>
            <a:pPr marL="0" indent="0">
              <a:buNone/>
            </a:pPr>
            <a:r>
              <a:rPr lang="en-US" sz="750" b="1" dirty="0">
                <a:solidFill>
                  <a:srgbClr val="9C27B0"/>
                </a:solidFill>
              </a:rPr>
              <a:t>BUSINESS IMPORTANCE</a:t>
            </a:r>
            <a:endParaRPr lang="en-US" sz="750" dirty="0">
              <a:solidFill>
                <a:srgbClr val="9C27B0"/>
              </a:solidFill>
            </a:endParaRPr>
          </a:p>
        </p:txBody>
      </p:sp>
      <p:sp>
        <p:nvSpPr>
          <p:cNvPr id="62" name="Shape 9">
            <a:extLst>
              <a:ext uri="{FF2B5EF4-FFF2-40B4-BE49-F238E27FC236}">
                <a16:creationId xmlns:a16="http://schemas.microsoft.com/office/drawing/2014/main" id="{A0AB1501-5732-BA03-5574-CC8B4B6B72EE}"/>
              </a:ext>
            </a:extLst>
          </p:cNvPr>
          <p:cNvSpPr/>
          <p:nvPr/>
        </p:nvSpPr>
        <p:spPr>
          <a:xfrm>
            <a:off x="4846824" y="2300093"/>
            <a:ext cx="4142796" cy="777029"/>
          </a:xfrm>
          <a:prstGeom prst="rect">
            <a:avLst/>
          </a:prstGeom>
          <a:solidFill>
            <a:srgbClr val="0B1E34"/>
          </a:solidFill>
          <a:ln w="3810">
            <a:solidFill>
              <a:srgbClr val="1A3055"/>
            </a:solidFill>
            <a:prstDash val="solid"/>
          </a:ln>
        </p:spPr>
        <p:txBody>
          <a:bodyPr/>
          <a:lstStyle/>
          <a:p>
            <a:endParaRPr lang="en-MY">
              <a:solidFill>
                <a:srgbClr val="4CAF50"/>
              </a:solidFill>
            </a:endParaRPr>
          </a:p>
        </p:txBody>
      </p:sp>
      <p:sp>
        <p:nvSpPr>
          <p:cNvPr id="114" name="Text 5">
            <a:extLst>
              <a:ext uri="{FF2B5EF4-FFF2-40B4-BE49-F238E27FC236}">
                <a16:creationId xmlns:a16="http://schemas.microsoft.com/office/drawing/2014/main" id="{FB6A2DE4-510B-EF43-6D29-2A2A8540728D}"/>
              </a:ext>
            </a:extLst>
          </p:cNvPr>
          <p:cNvSpPr/>
          <p:nvPr/>
        </p:nvSpPr>
        <p:spPr>
          <a:xfrm>
            <a:off x="5012910" y="2098957"/>
            <a:ext cx="322125" cy="237744"/>
          </a:xfrm>
          <a:prstGeom prst="rect">
            <a:avLst/>
          </a:prstGeom>
          <a:noFill/>
          <a:ln/>
        </p:spPr>
        <p:txBody>
          <a:bodyPr wrap="square" lIns="0" tIns="0" rIns="0" bIns="0" rtlCol="0" anchor="ctr"/>
          <a:lstStyle/>
          <a:p>
            <a:pPr marL="0" indent="0">
              <a:buNone/>
            </a:pPr>
            <a:r>
              <a:rPr lang="en-US" sz="750" b="1" dirty="0">
                <a:solidFill>
                  <a:srgbClr val="9C27B0"/>
                </a:solidFill>
              </a:rPr>
              <a:t>BO</a:t>
            </a:r>
            <a:endParaRPr lang="en-US" sz="750" dirty="0">
              <a:solidFill>
                <a:srgbClr val="9C27B0"/>
              </a:solidFill>
            </a:endParaRPr>
          </a:p>
        </p:txBody>
      </p:sp>
      <p:sp>
        <p:nvSpPr>
          <p:cNvPr id="41" name="Text 30">
            <a:extLst>
              <a:ext uri="{FF2B5EF4-FFF2-40B4-BE49-F238E27FC236}">
                <a16:creationId xmlns:a16="http://schemas.microsoft.com/office/drawing/2014/main" id="{62BB0866-DB43-4D2D-E06A-C4A6F257344E}"/>
              </a:ext>
            </a:extLst>
          </p:cNvPr>
          <p:cNvSpPr/>
          <p:nvPr/>
        </p:nvSpPr>
        <p:spPr>
          <a:xfrm>
            <a:off x="5490011" y="2488505"/>
            <a:ext cx="597571" cy="223114"/>
          </a:xfrm>
          <a:prstGeom prst="rect">
            <a:avLst/>
          </a:prstGeom>
          <a:noFill/>
          <a:ln/>
        </p:spPr>
        <p:txBody>
          <a:bodyPr wrap="square" lIns="0" tIns="0" rIns="0" bIns="0" rtlCol="0" anchor="ctr"/>
          <a:lstStyle/>
          <a:p>
            <a:r>
              <a:rPr lang="en-US" sz="850" b="1" dirty="0">
                <a:solidFill>
                  <a:srgbClr val="FFFFFF"/>
                </a:solidFill>
              </a:rPr>
              <a:t>Lead Conversion Rate</a:t>
            </a:r>
            <a:endParaRPr lang="en-US" sz="850" dirty="0"/>
          </a:p>
        </p:txBody>
      </p:sp>
      <p:sp>
        <p:nvSpPr>
          <p:cNvPr id="43" name="Text 31">
            <a:extLst>
              <a:ext uri="{FF2B5EF4-FFF2-40B4-BE49-F238E27FC236}">
                <a16:creationId xmlns:a16="http://schemas.microsoft.com/office/drawing/2014/main" id="{7C40542F-BEEC-93C9-F901-A132361B64E2}"/>
              </a:ext>
            </a:extLst>
          </p:cNvPr>
          <p:cNvSpPr/>
          <p:nvPr/>
        </p:nvSpPr>
        <p:spPr>
          <a:xfrm>
            <a:off x="6208035" y="2603594"/>
            <a:ext cx="1018780" cy="241402"/>
          </a:xfrm>
          <a:prstGeom prst="rect">
            <a:avLst/>
          </a:prstGeom>
          <a:noFill/>
          <a:ln/>
        </p:spPr>
        <p:txBody>
          <a:bodyPr wrap="square" lIns="0" tIns="0" rIns="0" bIns="0" rtlCol="0" anchor="ctr"/>
          <a:lstStyle/>
          <a:p>
            <a:r>
              <a:rPr lang="en-US" sz="620" dirty="0">
                <a:solidFill>
                  <a:srgbClr val="9C27B0"/>
                </a:solidFill>
                <a:latin typeface="Courier New" pitchFamily="34" charset="0"/>
                <a:ea typeface="Courier New" pitchFamily="34" charset="-122"/>
                <a:cs typeface="Courier New" pitchFamily="34" charset="-120"/>
              </a:rPr>
              <a:t>DIVIDE(  COUNTROWS(olist_closed_deals_dataset),  CALCULATE(ALL(olist_closed_deals),    ALL(olist_marketing_qualified_leads)))</a:t>
            </a:r>
            <a:endParaRPr lang="en-US" sz="620" dirty="0">
              <a:solidFill>
                <a:srgbClr val="9C27B0"/>
              </a:solidFill>
            </a:endParaRPr>
          </a:p>
        </p:txBody>
      </p:sp>
      <p:sp>
        <p:nvSpPr>
          <p:cNvPr id="46" name="Text 32">
            <a:extLst>
              <a:ext uri="{FF2B5EF4-FFF2-40B4-BE49-F238E27FC236}">
                <a16:creationId xmlns:a16="http://schemas.microsoft.com/office/drawing/2014/main" id="{28EEEE58-49D1-BB16-22AF-AFF643D48657}"/>
              </a:ext>
            </a:extLst>
          </p:cNvPr>
          <p:cNvSpPr/>
          <p:nvPr/>
        </p:nvSpPr>
        <p:spPr>
          <a:xfrm>
            <a:off x="7405288" y="2445494"/>
            <a:ext cx="1479740" cy="241402"/>
          </a:xfrm>
          <a:prstGeom prst="rect">
            <a:avLst/>
          </a:prstGeom>
          <a:noFill/>
          <a:ln/>
        </p:spPr>
        <p:txBody>
          <a:bodyPr wrap="square" lIns="0" tIns="0" rIns="0" bIns="0" rtlCol="0" anchor="ctr"/>
          <a:lstStyle/>
          <a:p>
            <a:r>
              <a:rPr lang="en-US" sz="720" dirty="0">
                <a:solidFill>
                  <a:srgbClr val="B0BEC5"/>
                </a:solidFill>
              </a:rPr>
              <a:t>ALL() removes filter context for true funnel-wide rate. </a:t>
            </a:r>
            <a:endParaRPr lang="en-US" sz="720" dirty="0"/>
          </a:p>
        </p:txBody>
      </p:sp>
      <p:sp>
        <p:nvSpPr>
          <p:cNvPr id="59" name="Text 36">
            <a:extLst>
              <a:ext uri="{FF2B5EF4-FFF2-40B4-BE49-F238E27FC236}">
                <a16:creationId xmlns:a16="http://schemas.microsoft.com/office/drawing/2014/main" id="{32887170-BB04-F787-98A5-538B4DAD8019}"/>
              </a:ext>
            </a:extLst>
          </p:cNvPr>
          <p:cNvSpPr/>
          <p:nvPr/>
        </p:nvSpPr>
        <p:spPr>
          <a:xfrm>
            <a:off x="5490012" y="3219263"/>
            <a:ext cx="632934" cy="223114"/>
          </a:xfrm>
          <a:prstGeom prst="rect">
            <a:avLst/>
          </a:prstGeom>
          <a:noFill/>
          <a:ln/>
        </p:spPr>
        <p:txBody>
          <a:bodyPr wrap="square" lIns="0" tIns="0" rIns="0" bIns="0" rtlCol="0" anchor="ctr"/>
          <a:lstStyle/>
          <a:p>
            <a:r>
              <a:rPr lang="en-US" sz="850" b="1" dirty="0">
                <a:solidFill>
                  <a:srgbClr val="FFFFFF"/>
                </a:solidFill>
              </a:rPr>
              <a:t>Avg Days to Close</a:t>
            </a:r>
            <a:endParaRPr lang="en-US" sz="850" dirty="0"/>
          </a:p>
        </p:txBody>
      </p:sp>
      <p:sp>
        <p:nvSpPr>
          <p:cNvPr id="61" name="Text 37">
            <a:extLst>
              <a:ext uri="{FF2B5EF4-FFF2-40B4-BE49-F238E27FC236}">
                <a16:creationId xmlns:a16="http://schemas.microsoft.com/office/drawing/2014/main" id="{BB373656-11AF-7271-96E8-F908400603BF}"/>
              </a:ext>
            </a:extLst>
          </p:cNvPr>
          <p:cNvSpPr/>
          <p:nvPr/>
        </p:nvSpPr>
        <p:spPr>
          <a:xfrm>
            <a:off x="6208035" y="3257242"/>
            <a:ext cx="1018780" cy="241402"/>
          </a:xfrm>
          <a:prstGeom prst="rect">
            <a:avLst/>
          </a:prstGeom>
          <a:noFill/>
          <a:ln/>
        </p:spPr>
        <p:txBody>
          <a:bodyPr wrap="square" lIns="0" tIns="0" rIns="0" bIns="0" rtlCol="0" anchor="ctr"/>
          <a:lstStyle/>
          <a:p>
            <a:r>
              <a:rPr lang="en-US" sz="620" dirty="0">
                <a:solidFill>
                  <a:srgbClr val="9C27B0"/>
                </a:solidFill>
                <a:latin typeface="Courier New" pitchFamily="34" charset="0"/>
                <a:ea typeface="Courier New" pitchFamily="34" charset="-122"/>
                <a:cs typeface="Courier New" pitchFamily="34" charset="-120"/>
              </a:rPr>
              <a:t>AVERAGE(  olist_closed_deals_dataset  [won_date] -  olist_mql_dataset[first_contact_date])</a:t>
            </a:r>
            <a:endParaRPr lang="en-US" sz="620" dirty="0">
              <a:solidFill>
                <a:srgbClr val="9C27B0"/>
              </a:solidFill>
            </a:endParaRPr>
          </a:p>
        </p:txBody>
      </p:sp>
      <p:sp>
        <p:nvSpPr>
          <p:cNvPr id="64" name="Text 38">
            <a:extLst>
              <a:ext uri="{FF2B5EF4-FFF2-40B4-BE49-F238E27FC236}">
                <a16:creationId xmlns:a16="http://schemas.microsoft.com/office/drawing/2014/main" id="{F0EDBFE0-7199-B4D7-63AF-B5D94A25490F}"/>
              </a:ext>
            </a:extLst>
          </p:cNvPr>
          <p:cNvSpPr/>
          <p:nvPr/>
        </p:nvSpPr>
        <p:spPr>
          <a:xfrm>
            <a:off x="7375620" y="3182509"/>
            <a:ext cx="1544799" cy="241402"/>
          </a:xfrm>
          <a:prstGeom prst="rect">
            <a:avLst/>
          </a:prstGeom>
          <a:noFill/>
          <a:ln/>
        </p:spPr>
        <p:txBody>
          <a:bodyPr wrap="square" lIns="0" tIns="0" rIns="0" bIns="0" rtlCol="0" anchor="ctr"/>
          <a:lstStyle/>
          <a:p>
            <a:r>
              <a:rPr lang="en-US" sz="720" dirty="0">
                <a:solidFill>
                  <a:srgbClr val="B0BEC5"/>
                </a:solidFill>
              </a:rPr>
              <a:t>Measures sales cycle length per channel. Social media: longest close time. </a:t>
            </a:r>
            <a:endParaRPr lang="en-US" sz="720"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50" name="Add-in 149">
                <a:extLst>
                  <a:ext uri="{FF2B5EF4-FFF2-40B4-BE49-F238E27FC236}">
                    <a16:creationId xmlns:a16="http://schemas.microsoft.com/office/drawing/2014/main" id="{A31B6227-023C-D1F3-EA6C-0686B62EAD7E}"/>
                  </a:ext>
                </a:extLst>
              </p:cNvPr>
              <p:cNvGraphicFramePr>
                <a:graphicFrameLocks noGrp="1"/>
              </p:cNvGraphicFramePr>
              <p:nvPr/>
            </p:nvGraphicFramePr>
            <p:xfrm>
              <a:off x="152452" y="1051941"/>
              <a:ext cx="4609282" cy="3849912"/>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150" name="Add-in 149">
                <a:extLst>
                  <a:ext uri="{FF2B5EF4-FFF2-40B4-BE49-F238E27FC236}">
                    <a16:creationId xmlns:a16="http://schemas.microsoft.com/office/drawing/2014/main" id="{A31B6227-023C-D1F3-EA6C-0686B62EAD7E}"/>
                  </a:ext>
                </a:extLst>
              </p:cNvPr>
              <p:cNvPicPr>
                <a:picLocks noGrp="1" noRot="1" noChangeAspect="1" noMove="1" noResize="1" noEditPoints="1" noAdjustHandles="1" noChangeArrowheads="1" noChangeShapeType="1"/>
              </p:cNvPicPr>
              <p:nvPr/>
            </p:nvPicPr>
            <p:blipFill>
              <a:blip r:embed="rId6"/>
              <a:stretch>
                <a:fillRect/>
              </a:stretch>
            </p:blipFill>
            <p:spPr>
              <a:xfrm>
                <a:off x="152452" y="1051941"/>
                <a:ext cx="4609282" cy="3849912"/>
              </a:xfrm>
              <a:prstGeom prst="rect">
                <a:avLst/>
              </a:prstGeom>
            </p:spPr>
          </p:pic>
        </mc:Fallback>
      </mc:AlternateContent>
      <p:sp>
        <p:nvSpPr>
          <p:cNvPr id="154" name="Shape 46">
            <a:extLst>
              <a:ext uri="{FF2B5EF4-FFF2-40B4-BE49-F238E27FC236}">
                <a16:creationId xmlns:a16="http://schemas.microsoft.com/office/drawing/2014/main" id="{BFD16D33-8DEB-FCE6-F341-7F1C1E1DFBF8}"/>
              </a:ext>
            </a:extLst>
          </p:cNvPr>
          <p:cNvSpPr/>
          <p:nvPr/>
        </p:nvSpPr>
        <p:spPr>
          <a:xfrm>
            <a:off x="4916733" y="2506909"/>
            <a:ext cx="475488" cy="160020"/>
          </a:xfrm>
          <a:prstGeom prst="roundRect">
            <a:avLst>
              <a:gd name="adj" fmla="val 45714"/>
            </a:avLst>
          </a:prstGeom>
          <a:solidFill>
            <a:srgbClr val="9C27B0"/>
          </a:solidFill>
          <a:ln w="12700">
            <a:solidFill>
              <a:srgbClr val="9C27B0"/>
            </a:solidFill>
            <a:prstDash val="solid"/>
          </a:ln>
        </p:spPr>
        <p:txBody>
          <a:bodyPr/>
          <a:lstStyle/>
          <a:p>
            <a:endParaRPr lang="en-MY"/>
          </a:p>
        </p:txBody>
      </p:sp>
      <p:sp>
        <p:nvSpPr>
          <p:cNvPr id="156" name="Text 47">
            <a:extLst>
              <a:ext uri="{FF2B5EF4-FFF2-40B4-BE49-F238E27FC236}">
                <a16:creationId xmlns:a16="http://schemas.microsoft.com/office/drawing/2014/main" id="{ADDBB00A-3D2B-7C83-23DE-7D0965704BDD}"/>
              </a:ext>
            </a:extLst>
          </p:cNvPr>
          <p:cNvSpPr/>
          <p:nvPr/>
        </p:nvSpPr>
        <p:spPr>
          <a:xfrm>
            <a:off x="4916733" y="2506909"/>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BO4</a:t>
            </a:r>
            <a:endParaRPr lang="en-US" sz="750" dirty="0"/>
          </a:p>
        </p:txBody>
      </p:sp>
      <p:sp>
        <p:nvSpPr>
          <p:cNvPr id="158" name="Shape 52">
            <a:extLst>
              <a:ext uri="{FF2B5EF4-FFF2-40B4-BE49-F238E27FC236}">
                <a16:creationId xmlns:a16="http://schemas.microsoft.com/office/drawing/2014/main" id="{81DFC7B8-D2A8-EE53-1867-4F60C72D95A5}"/>
              </a:ext>
            </a:extLst>
          </p:cNvPr>
          <p:cNvSpPr/>
          <p:nvPr/>
        </p:nvSpPr>
        <p:spPr>
          <a:xfrm>
            <a:off x="4923083" y="3236498"/>
            <a:ext cx="475488" cy="160020"/>
          </a:xfrm>
          <a:prstGeom prst="roundRect">
            <a:avLst>
              <a:gd name="adj" fmla="val 45714"/>
            </a:avLst>
          </a:prstGeom>
          <a:solidFill>
            <a:srgbClr val="9C27B0"/>
          </a:solidFill>
          <a:ln w="12700">
            <a:solidFill>
              <a:srgbClr val="9C27B0"/>
            </a:solidFill>
            <a:prstDash val="solid"/>
          </a:ln>
        </p:spPr>
        <p:txBody>
          <a:bodyPr/>
          <a:lstStyle/>
          <a:p>
            <a:endParaRPr lang="en-MY"/>
          </a:p>
        </p:txBody>
      </p:sp>
      <p:sp>
        <p:nvSpPr>
          <p:cNvPr id="160" name="Text 53">
            <a:extLst>
              <a:ext uri="{FF2B5EF4-FFF2-40B4-BE49-F238E27FC236}">
                <a16:creationId xmlns:a16="http://schemas.microsoft.com/office/drawing/2014/main" id="{D9BEBA5C-B18C-0038-F63E-DE0866F48321}"/>
              </a:ext>
            </a:extLst>
          </p:cNvPr>
          <p:cNvSpPr/>
          <p:nvPr/>
        </p:nvSpPr>
        <p:spPr>
          <a:xfrm>
            <a:off x="4923083" y="3236498"/>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BO3</a:t>
            </a:r>
            <a:endParaRPr lang="en-US" sz="750" dirty="0"/>
          </a:p>
        </p:txBody>
      </p:sp>
      <p:sp>
        <p:nvSpPr>
          <p:cNvPr id="9" name="Shape 41">
            <a:extLst>
              <a:ext uri="{FF2B5EF4-FFF2-40B4-BE49-F238E27FC236}">
                <a16:creationId xmlns:a16="http://schemas.microsoft.com/office/drawing/2014/main" id="{C72F8689-3FBE-E2F2-D932-F2F2A640BAD5}"/>
              </a:ext>
            </a:extLst>
          </p:cNvPr>
          <p:cNvSpPr/>
          <p:nvPr/>
        </p:nvSpPr>
        <p:spPr>
          <a:xfrm>
            <a:off x="4853174" y="3780470"/>
            <a:ext cx="4142796" cy="1227256"/>
          </a:xfrm>
          <a:prstGeom prst="roundRect">
            <a:avLst>
              <a:gd name="adj" fmla="val 6486"/>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sz="2000"/>
          </a:p>
        </p:txBody>
      </p:sp>
      <p:sp>
        <p:nvSpPr>
          <p:cNvPr id="14" name="Shape 43">
            <a:extLst>
              <a:ext uri="{FF2B5EF4-FFF2-40B4-BE49-F238E27FC236}">
                <a16:creationId xmlns:a16="http://schemas.microsoft.com/office/drawing/2014/main" id="{68309C0E-62CC-27B1-D877-78A99B3E0031}"/>
              </a:ext>
            </a:extLst>
          </p:cNvPr>
          <p:cNvSpPr/>
          <p:nvPr/>
        </p:nvSpPr>
        <p:spPr>
          <a:xfrm>
            <a:off x="4977427" y="3966140"/>
            <a:ext cx="2011680" cy="104487"/>
          </a:xfrm>
          <a:prstGeom prst="roundRect">
            <a:avLst>
              <a:gd name="adj" fmla="val 16000"/>
            </a:avLst>
          </a:prstGeom>
          <a:solidFill>
            <a:srgbClr val="9C27B0">
              <a:alpha val="80000"/>
            </a:srgbClr>
          </a:solidFill>
          <a:ln/>
        </p:spPr>
        <p:txBody>
          <a:bodyPr/>
          <a:lstStyle/>
          <a:p>
            <a:endParaRPr lang="en-MY"/>
          </a:p>
        </p:txBody>
      </p:sp>
      <p:sp>
        <p:nvSpPr>
          <p:cNvPr id="18" name="Text 44">
            <a:extLst>
              <a:ext uri="{FF2B5EF4-FFF2-40B4-BE49-F238E27FC236}">
                <a16:creationId xmlns:a16="http://schemas.microsoft.com/office/drawing/2014/main" id="{7DED6AA3-0C97-EBE2-0D28-1DC3D064FED1}"/>
              </a:ext>
            </a:extLst>
          </p:cNvPr>
          <p:cNvSpPr/>
          <p:nvPr/>
        </p:nvSpPr>
        <p:spPr>
          <a:xfrm>
            <a:off x="7088632" y="3888626"/>
            <a:ext cx="1645920" cy="228600"/>
          </a:xfrm>
          <a:prstGeom prst="rect">
            <a:avLst/>
          </a:prstGeom>
          <a:noFill/>
          <a:ln/>
        </p:spPr>
        <p:txBody>
          <a:bodyPr wrap="square" lIns="0" tIns="0" rIns="0" bIns="0" rtlCol="0" anchor="ctr"/>
          <a:lstStyle/>
          <a:p>
            <a:pPr marL="0" indent="0">
              <a:buNone/>
            </a:pPr>
            <a:r>
              <a:rPr lang="en-US" sz="800" dirty="0">
                <a:solidFill>
                  <a:srgbClr val="FFFFFF"/>
                </a:solidFill>
              </a:rPr>
              <a:t>Total MQLs</a:t>
            </a:r>
            <a:endParaRPr lang="en-US" sz="800" dirty="0"/>
          </a:p>
        </p:txBody>
      </p:sp>
      <p:sp>
        <p:nvSpPr>
          <p:cNvPr id="22" name="Text 45">
            <a:extLst>
              <a:ext uri="{FF2B5EF4-FFF2-40B4-BE49-F238E27FC236}">
                <a16:creationId xmlns:a16="http://schemas.microsoft.com/office/drawing/2014/main" id="{CA3783E8-7568-834F-8C6E-E8DFB902CBEA}"/>
              </a:ext>
            </a:extLst>
          </p:cNvPr>
          <p:cNvSpPr/>
          <p:nvPr/>
        </p:nvSpPr>
        <p:spPr>
          <a:xfrm>
            <a:off x="8323072" y="3888626"/>
            <a:ext cx="548640" cy="228600"/>
          </a:xfrm>
          <a:prstGeom prst="rect">
            <a:avLst/>
          </a:prstGeom>
          <a:noFill/>
          <a:ln/>
        </p:spPr>
        <p:txBody>
          <a:bodyPr wrap="square" lIns="0" tIns="0" rIns="0" bIns="0" rtlCol="0" anchor="ctr"/>
          <a:lstStyle/>
          <a:p>
            <a:pPr marL="0" indent="0" algn="r">
              <a:buNone/>
            </a:pPr>
            <a:r>
              <a:rPr lang="en-US" sz="800" b="1" dirty="0">
                <a:solidFill>
                  <a:srgbClr val="FFFFFF"/>
                </a:solidFill>
              </a:rPr>
              <a:t>8K</a:t>
            </a:r>
            <a:endParaRPr lang="en-US" sz="800" dirty="0"/>
          </a:p>
        </p:txBody>
      </p:sp>
      <p:sp>
        <p:nvSpPr>
          <p:cNvPr id="26" name="Shape 46">
            <a:extLst>
              <a:ext uri="{FF2B5EF4-FFF2-40B4-BE49-F238E27FC236}">
                <a16:creationId xmlns:a16="http://schemas.microsoft.com/office/drawing/2014/main" id="{7926B53C-A16E-4EFA-E939-5E53DA362C1A}"/>
              </a:ext>
            </a:extLst>
          </p:cNvPr>
          <p:cNvSpPr/>
          <p:nvPr/>
        </p:nvSpPr>
        <p:spPr>
          <a:xfrm>
            <a:off x="5137447" y="4142164"/>
            <a:ext cx="1691640" cy="104487"/>
          </a:xfrm>
          <a:prstGeom prst="roundRect">
            <a:avLst>
              <a:gd name="adj" fmla="val 16000"/>
            </a:avLst>
          </a:prstGeom>
          <a:solidFill>
            <a:srgbClr val="9C27B0">
              <a:alpha val="65000"/>
            </a:srgbClr>
          </a:solidFill>
          <a:ln/>
        </p:spPr>
        <p:txBody>
          <a:bodyPr/>
          <a:lstStyle/>
          <a:p>
            <a:endParaRPr lang="en-MY"/>
          </a:p>
        </p:txBody>
      </p:sp>
      <p:sp>
        <p:nvSpPr>
          <p:cNvPr id="30" name="Text 47">
            <a:extLst>
              <a:ext uri="{FF2B5EF4-FFF2-40B4-BE49-F238E27FC236}">
                <a16:creationId xmlns:a16="http://schemas.microsoft.com/office/drawing/2014/main" id="{031F74E6-3156-CF77-DFAE-4DF8175730A9}"/>
              </a:ext>
            </a:extLst>
          </p:cNvPr>
          <p:cNvSpPr/>
          <p:nvPr/>
        </p:nvSpPr>
        <p:spPr>
          <a:xfrm>
            <a:off x="7088632" y="4075487"/>
            <a:ext cx="1645920" cy="228600"/>
          </a:xfrm>
          <a:prstGeom prst="rect">
            <a:avLst/>
          </a:prstGeom>
          <a:noFill/>
          <a:ln/>
        </p:spPr>
        <p:txBody>
          <a:bodyPr wrap="square" lIns="0" tIns="0" rIns="0" bIns="0" rtlCol="0" anchor="ctr"/>
          <a:lstStyle/>
          <a:p>
            <a:pPr marL="0" indent="0">
              <a:buNone/>
            </a:pPr>
            <a:r>
              <a:rPr lang="en-US" sz="800" dirty="0">
                <a:solidFill>
                  <a:srgbClr val="FFFFFF"/>
                </a:solidFill>
              </a:rPr>
              <a:t>MQLs Contacted</a:t>
            </a:r>
            <a:endParaRPr lang="en-US" sz="800" dirty="0"/>
          </a:p>
        </p:txBody>
      </p:sp>
      <p:sp>
        <p:nvSpPr>
          <p:cNvPr id="34" name="Text 48">
            <a:extLst>
              <a:ext uri="{FF2B5EF4-FFF2-40B4-BE49-F238E27FC236}">
                <a16:creationId xmlns:a16="http://schemas.microsoft.com/office/drawing/2014/main" id="{64273843-7559-ACCA-5AF3-960F8708E25A}"/>
              </a:ext>
            </a:extLst>
          </p:cNvPr>
          <p:cNvSpPr/>
          <p:nvPr/>
        </p:nvSpPr>
        <p:spPr>
          <a:xfrm>
            <a:off x="8323072" y="4075487"/>
            <a:ext cx="548640" cy="228600"/>
          </a:xfrm>
          <a:prstGeom prst="rect">
            <a:avLst/>
          </a:prstGeom>
          <a:noFill/>
          <a:ln/>
        </p:spPr>
        <p:txBody>
          <a:bodyPr wrap="square" lIns="0" tIns="0" rIns="0" bIns="0" rtlCol="0" anchor="ctr"/>
          <a:lstStyle/>
          <a:p>
            <a:pPr marL="0" indent="0" algn="r">
              <a:buNone/>
            </a:pPr>
            <a:r>
              <a:rPr lang="en-US" sz="800" b="1" dirty="0">
                <a:solidFill>
                  <a:srgbClr val="FFFFFF"/>
                </a:solidFill>
              </a:rPr>
              <a:t>5K</a:t>
            </a:r>
            <a:endParaRPr lang="en-US" sz="800" dirty="0"/>
          </a:p>
        </p:txBody>
      </p:sp>
      <p:sp>
        <p:nvSpPr>
          <p:cNvPr id="37" name="Shape 49">
            <a:extLst>
              <a:ext uri="{FF2B5EF4-FFF2-40B4-BE49-F238E27FC236}">
                <a16:creationId xmlns:a16="http://schemas.microsoft.com/office/drawing/2014/main" id="{E70C59B6-A128-E612-02A5-CC9FB9E7F2C7}"/>
              </a:ext>
            </a:extLst>
          </p:cNvPr>
          <p:cNvSpPr/>
          <p:nvPr/>
        </p:nvSpPr>
        <p:spPr>
          <a:xfrm>
            <a:off x="5297467" y="4305754"/>
            <a:ext cx="1371600" cy="104487"/>
          </a:xfrm>
          <a:prstGeom prst="roundRect">
            <a:avLst>
              <a:gd name="adj" fmla="val 16000"/>
            </a:avLst>
          </a:prstGeom>
          <a:solidFill>
            <a:srgbClr val="9C27B0">
              <a:alpha val="50000"/>
            </a:srgbClr>
          </a:solidFill>
          <a:ln/>
        </p:spPr>
        <p:txBody>
          <a:bodyPr/>
          <a:lstStyle/>
          <a:p>
            <a:endParaRPr lang="en-MY"/>
          </a:p>
        </p:txBody>
      </p:sp>
      <p:sp>
        <p:nvSpPr>
          <p:cNvPr id="40" name="Text 50">
            <a:extLst>
              <a:ext uri="{FF2B5EF4-FFF2-40B4-BE49-F238E27FC236}">
                <a16:creationId xmlns:a16="http://schemas.microsoft.com/office/drawing/2014/main" id="{45331E95-5841-AB55-B447-EE594AB07543}"/>
              </a:ext>
            </a:extLst>
          </p:cNvPr>
          <p:cNvSpPr/>
          <p:nvPr/>
        </p:nvSpPr>
        <p:spPr>
          <a:xfrm>
            <a:off x="7088632" y="4243690"/>
            <a:ext cx="1645920" cy="228600"/>
          </a:xfrm>
          <a:prstGeom prst="rect">
            <a:avLst/>
          </a:prstGeom>
          <a:noFill/>
          <a:ln/>
        </p:spPr>
        <p:txBody>
          <a:bodyPr wrap="square" lIns="0" tIns="0" rIns="0" bIns="0" rtlCol="0" anchor="ctr"/>
          <a:lstStyle/>
          <a:p>
            <a:pPr marL="0" indent="0">
              <a:buNone/>
            </a:pPr>
            <a:r>
              <a:rPr lang="en-US" sz="800" dirty="0">
                <a:solidFill>
                  <a:srgbClr val="FFFFFF"/>
                </a:solidFill>
              </a:rPr>
              <a:t>Qualified Leads</a:t>
            </a:r>
            <a:endParaRPr lang="en-US" sz="800" dirty="0"/>
          </a:p>
        </p:txBody>
      </p:sp>
      <p:sp>
        <p:nvSpPr>
          <p:cNvPr id="47" name="Text 51">
            <a:extLst>
              <a:ext uri="{FF2B5EF4-FFF2-40B4-BE49-F238E27FC236}">
                <a16:creationId xmlns:a16="http://schemas.microsoft.com/office/drawing/2014/main" id="{A254FB45-CD7A-C363-0BC4-92D3977E60D6}"/>
              </a:ext>
            </a:extLst>
          </p:cNvPr>
          <p:cNvSpPr/>
          <p:nvPr/>
        </p:nvSpPr>
        <p:spPr>
          <a:xfrm>
            <a:off x="8323072" y="4243690"/>
            <a:ext cx="548640" cy="228600"/>
          </a:xfrm>
          <a:prstGeom prst="rect">
            <a:avLst/>
          </a:prstGeom>
          <a:noFill/>
          <a:ln/>
        </p:spPr>
        <p:txBody>
          <a:bodyPr wrap="square" lIns="0" tIns="0" rIns="0" bIns="0" rtlCol="0" anchor="ctr"/>
          <a:lstStyle/>
          <a:p>
            <a:pPr marL="0" indent="0" algn="r">
              <a:buNone/>
            </a:pPr>
            <a:r>
              <a:rPr lang="en-US" sz="800" b="1" dirty="0">
                <a:solidFill>
                  <a:srgbClr val="FFFFFF"/>
                </a:solidFill>
              </a:rPr>
              <a:t>2K</a:t>
            </a:r>
            <a:endParaRPr lang="en-US" sz="800" dirty="0"/>
          </a:p>
        </p:txBody>
      </p:sp>
      <p:sp>
        <p:nvSpPr>
          <p:cNvPr id="50" name="Shape 52">
            <a:extLst>
              <a:ext uri="{FF2B5EF4-FFF2-40B4-BE49-F238E27FC236}">
                <a16:creationId xmlns:a16="http://schemas.microsoft.com/office/drawing/2014/main" id="{767A4D66-D713-8B3F-63C1-1688B90DFEF7}"/>
              </a:ext>
            </a:extLst>
          </p:cNvPr>
          <p:cNvSpPr/>
          <p:nvPr/>
        </p:nvSpPr>
        <p:spPr>
          <a:xfrm>
            <a:off x="5457487" y="4465495"/>
            <a:ext cx="1051560" cy="104487"/>
          </a:xfrm>
          <a:prstGeom prst="roundRect">
            <a:avLst>
              <a:gd name="adj" fmla="val 16000"/>
            </a:avLst>
          </a:prstGeom>
          <a:solidFill>
            <a:srgbClr val="9C27B0">
              <a:alpha val="35000"/>
            </a:srgbClr>
          </a:solidFill>
          <a:ln/>
        </p:spPr>
        <p:txBody>
          <a:bodyPr/>
          <a:lstStyle/>
          <a:p>
            <a:endParaRPr lang="en-MY"/>
          </a:p>
        </p:txBody>
      </p:sp>
      <p:sp>
        <p:nvSpPr>
          <p:cNvPr id="56" name="Text 53">
            <a:extLst>
              <a:ext uri="{FF2B5EF4-FFF2-40B4-BE49-F238E27FC236}">
                <a16:creationId xmlns:a16="http://schemas.microsoft.com/office/drawing/2014/main" id="{0B16E056-65EA-7E08-EA8F-B0785A5F925E}"/>
              </a:ext>
            </a:extLst>
          </p:cNvPr>
          <p:cNvSpPr/>
          <p:nvPr/>
        </p:nvSpPr>
        <p:spPr>
          <a:xfrm>
            <a:off x="7088632" y="4405674"/>
            <a:ext cx="1645920" cy="228600"/>
          </a:xfrm>
          <a:prstGeom prst="rect">
            <a:avLst/>
          </a:prstGeom>
          <a:noFill/>
          <a:ln/>
        </p:spPr>
        <p:txBody>
          <a:bodyPr wrap="square" lIns="0" tIns="0" rIns="0" bIns="0" rtlCol="0" anchor="ctr"/>
          <a:lstStyle/>
          <a:p>
            <a:pPr marL="0" indent="0">
              <a:buNone/>
            </a:pPr>
            <a:r>
              <a:rPr lang="en-US" sz="800" dirty="0">
                <a:solidFill>
                  <a:srgbClr val="00BCD4"/>
                </a:solidFill>
              </a:rPr>
              <a:t>Closed Deals</a:t>
            </a:r>
            <a:endParaRPr lang="en-US" sz="800" dirty="0"/>
          </a:p>
        </p:txBody>
      </p:sp>
      <p:sp>
        <p:nvSpPr>
          <p:cNvPr id="63" name="Text 54">
            <a:extLst>
              <a:ext uri="{FF2B5EF4-FFF2-40B4-BE49-F238E27FC236}">
                <a16:creationId xmlns:a16="http://schemas.microsoft.com/office/drawing/2014/main" id="{5B2BDE81-0B76-016C-77C6-EB7BB41EAF58}"/>
              </a:ext>
            </a:extLst>
          </p:cNvPr>
          <p:cNvSpPr/>
          <p:nvPr/>
        </p:nvSpPr>
        <p:spPr>
          <a:xfrm>
            <a:off x="8323072" y="4405674"/>
            <a:ext cx="548640" cy="228600"/>
          </a:xfrm>
          <a:prstGeom prst="rect">
            <a:avLst/>
          </a:prstGeom>
          <a:noFill/>
          <a:ln/>
        </p:spPr>
        <p:txBody>
          <a:bodyPr wrap="square" lIns="0" tIns="0" rIns="0" bIns="0" rtlCol="0" anchor="ctr"/>
          <a:lstStyle/>
          <a:p>
            <a:pPr marL="0" indent="0" algn="r">
              <a:buNone/>
            </a:pPr>
            <a:r>
              <a:rPr lang="en-US" sz="800" b="1" dirty="0">
                <a:solidFill>
                  <a:srgbClr val="00BCD4"/>
                </a:solidFill>
              </a:rPr>
              <a:t>1K (10.5%)</a:t>
            </a:r>
            <a:endParaRPr lang="en-US" sz="800" dirty="0"/>
          </a:p>
        </p:txBody>
      </p:sp>
      <p:sp>
        <p:nvSpPr>
          <p:cNvPr id="68" name="Text 55">
            <a:extLst>
              <a:ext uri="{FF2B5EF4-FFF2-40B4-BE49-F238E27FC236}">
                <a16:creationId xmlns:a16="http://schemas.microsoft.com/office/drawing/2014/main" id="{736D55A9-B6C0-2BF7-8B5F-D1AE51C14998}"/>
              </a:ext>
            </a:extLst>
          </p:cNvPr>
          <p:cNvSpPr/>
          <p:nvPr/>
        </p:nvSpPr>
        <p:spPr>
          <a:xfrm>
            <a:off x="5076794" y="4725694"/>
            <a:ext cx="3840480" cy="201168"/>
          </a:xfrm>
          <a:prstGeom prst="rect">
            <a:avLst/>
          </a:prstGeom>
          <a:noFill/>
          <a:ln/>
        </p:spPr>
        <p:txBody>
          <a:bodyPr wrap="square" lIns="0" tIns="0" rIns="0" bIns="0" rtlCol="0" anchor="ctr"/>
          <a:lstStyle/>
          <a:p>
            <a:pPr marL="0" indent="0">
              <a:buNone/>
            </a:pPr>
            <a:r>
              <a:rPr lang="en-US" sz="800" dirty="0">
                <a:solidFill>
                  <a:srgbClr val="B0BEC5"/>
                </a:solidFill>
              </a:rPr>
              <a:t>Organic search: 3.4% conversion. Social media: &lt;1% with longest close time.</a:t>
            </a:r>
            <a:endParaRPr lang="en-US" sz="800" dirty="0"/>
          </a:p>
        </p:txBody>
      </p:sp>
      <p:sp>
        <p:nvSpPr>
          <p:cNvPr id="71" name="Shape 30">
            <a:extLst>
              <a:ext uri="{FF2B5EF4-FFF2-40B4-BE49-F238E27FC236}">
                <a16:creationId xmlns:a16="http://schemas.microsoft.com/office/drawing/2014/main" id="{8044E7F8-C292-D769-F432-1721F9EC6442}"/>
              </a:ext>
            </a:extLst>
          </p:cNvPr>
          <p:cNvSpPr/>
          <p:nvPr/>
        </p:nvSpPr>
        <p:spPr>
          <a:xfrm>
            <a:off x="5074254" y="4650712"/>
            <a:ext cx="3840480" cy="0"/>
          </a:xfrm>
          <a:prstGeom prst="line">
            <a:avLst/>
          </a:prstGeom>
          <a:noFill/>
          <a:ln w="6350">
            <a:solidFill>
              <a:srgbClr val="1E3A5F"/>
            </a:solidFill>
            <a:prstDash val="solid"/>
          </a:ln>
        </p:spPr>
        <p:txBody>
          <a:bodyPr/>
          <a:lstStyle/>
          <a:p>
            <a:endParaRPr lang="en-MY"/>
          </a:p>
        </p:txBody>
      </p:sp>
    </p:spTree>
    <p:extLst>
      <p:ext uri="{BB962C8B-B14F-4D97-AF65-F5344CB8AC3E}">
        <p14:creationId xmlns:p14="http://schemas.microsoft.com/office/powerpoint/2010/main" val="3832332945"/>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a:extLst>
            <a:ext uri="{FF2B5EF4-FFF2-40B4-BE49-F238E27FC236}">
              <a16:creationId xmlns:a16="http://schemas.microsoft.com/office/drawing/2014/main" id="{76E7EBA1-0CB9-88D9-8C69-5875E9F713E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798B9A6-789A-FB98-C5EF-3BA00CEF9E13}"/>
              </a:ext>
            </a:extLst>
          </p:cNvPr>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a:extLst>
              <a:ext uri="{FF2B5EF4-FFF2-40B4-BE49-F238E27FC236}">
                <a16:creationId xmlns:a16="http://schemas.microsoft.com/office/drawing/2014/main" id="{77D67CEB-32BA-8968-2B23-AD631A1F461B}"/>
              </a:ext>
            </a:extLst>
          </p:cNvPr>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7" name="Text 5">
            <a:extLst>
              <a:ext uri="{FF2B5EF4-FFF2-40B4-BE49-F238E27FC236}">
                <a16:creationId xmlns:a16="http://schemas.microsoft.com/office/drawing/2014/main" id="{90E0008F-6FE3-382F-C205-F26B6673C433}"/>
              </a:ext>
            </a:extLst>
          </p:cNvPr>
          <p:cNvSpPr/>
          <p:nvPr/>
        </p:nvSpPr>
        <p:spPr>
          <a:xfrm>
            <a:off x="1063767" y="219075"/>
            <a:ext cx="7360920" cy="438912"/>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Business Objective 5 – Customer Segmentation</a:t>
            </a:r>
            <a:endParaRPr lang="en-US" sz="2800" dirty="0"/>
          </a:p>
        </p:txBody>
      </p:sp>
      <p:pic>
        <p:nvPicPr>
          <p:cNvPr id="54" name="Picture 53">
            <a:extLst>
              <a:ext uri="{FF2B5EF4-FFF2-40B4-BE49-F238E27FC236}">
                <a16:creationId xmlns:a16="http://schemas.microsoft.com/office/drawing/2014/main" id="{1289FB9B-52A4-12A9-05E8-D00F19A9D26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grpSp>
        <p:nvGrpSpPr>
          <p:cNvPr id="128" name="Group 127">
            <a:extLst>
              <a:ext uri="{FF2B5EF4-FFF2-40B4-BE49-F238E27FC236}">
                <a16:creationId xmlns:a16="http://schemas.microsoft.com/office/drawing/2014/main" id="{E682BEA2-E6ED-A9FF-6AC7-9D84A68F3157}"/>
              </a:ext>
            </a:extLst>
          </p:cNvPr>
          <p:cNvGrpSpPr/>
          <p:nvPr/>
        </p:nvGrpSpPr>
        <p:grpSpPr>
          <a:xfrm>
            <a:off x="4853174" y="1004649"/>
            <a:ext cx="4142796" cy="1065384"/>
            <a:chOff x="4696405" y="960120"/>
            <a:chExt cx="4343400" cy="1175312"/>
          </a:xfrm>
        </p:grpSpPr>
        <p:sp>
          <p:nvSpPr>
            <p:cNvPr id="98" name="Shape 26">
              <a:extLst>
                <a:ext uri="{FF2B5EF4-FFF2-40B4-BE49-F238E27FC236}">
                  <a16:creationId xmlns:a16="http://schemas.microsoft.com/office/drawing/2014/main" id="{0D36BA38-0C48-7F20-18FD-82145CB2ACA5}"/>
                </a:ext>
              </a:extLst>
            </p:cNvPr>
            <p:cNvSpPr/>
            <p:nvPr/>
          </p:nvSpPr>
          <p:spPr>
            <a:xfrm>
              <a:off x="4696405" y="1025271"/>
              <a:ext cx="4343400" cy="1051399"/>
            </a:xfrm>
            <a:prstGeom prst="roundRect">
              <a:avLst>
                <a:gd name="adj" fmla="val 3333"/>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100" name="Shape 27">
              <a:extLst>
                <a:ext uri="{FF2B5EF4-FFF2-40B4-BE49-F238E27FC236}">
                  <a16:creationId xmlns:a16="http://schemas.microsoft.com/office/drawing/2014/main" id="{0DC908E7-A127-9541-1FB1-417B404644CC}"/>
                </a:ext>
              </a:extLst>
            </p:cNvPr>
            <p:cNvSpPr/>
            <p:nvPr/>
          </p:nvSpPr>
          <p:spPr>
            <a:xfrm>
              <a:off x="4696405" y="960120"/>
              <a:ext cx="4343400" cy="310896"/>
            </a:xfrm>
            <a:prstGeom prst="roundRect">
              <a:avLst>
                <a:gd name="adj" fmla="val 35294"/>
              </a:avLst>
            </a:prstGeom>
            <a:solidFill>
              <a:srgbClr val="FFC107"/>
            </a:solidFill>
            <a:ln w="12700">
              <a:solidFill>
                <a:srgbClr val="FFC107"/>
              </a:solidFill>
              <a:prstDash val="solid"/>
            </a:ln>
          </p:spPr>
          <p:txBody>
            <a:bodyPr/>
            <a:lstStyle/>
            <a:p>
              <a:endParaRPr lang="en-MY">
                <a:solidFill>
                  <a:srgbClr val="4CAF50"/>
                </a:solidFill>
                <a:effectLst>
                  <a:outerShdw blurRad="50800" dist="38100" dir="2700000" algn="tl" rotWithShape="0">
                    <a:prstClr val="black">
                      <a:alpha val="40000"/>
                    </a:prstClr>
                  </a:outerShdw>
                </a:effectLst>
              </a:endParaRPr>
            </a:p>
          </p:txBody>
        </p:sp>
        <p:sp>
          <p:nvSpPr>
            <p:cNvPr id="102" name="Shape 28">
              <a:extLst>
                <a:ext uri="{FF2B5EF4-FFF2-40B4-BE49-F238E27FC236}">
                  <a16:creationId xmlns:a16="http://schemas.microsoft.com/office/drawing/2014/main" id="{C47FC5B2-ABBD-BE89-F92A-4C9F492AF0BA}"/>
                </a:ext>
              </a:extLst>
            </p:cNvPr>
            <p:cNvSpPr/>
            <p:nvPr/>
          </p:nvSpPr>
          <p:spPr>
            <a:xfrm>
              <a:off x="4696405" y="1143000"/>
              <a:ext cx="4343400" cy="128016"/>
            </a:xfrm>
            <a:prstGeom prst="rect">
              <a:avLst/>
            </a:prstGeom>
            <a:solidFill>
              <a:srgbClr val="FFC107"/>
            </a:solidFill>
            <a:ln w="12700">
              <a:solidFill>
                <a:srgbClr val="FFC107"/>
              </a:solidFill>
              <a:prstDash val="solid"/>
            </a:ln>
          </p:spPr>
          <p:txBody>
            <a:bodyPr/>
            <a:lstStyle/>
            <a:p>
              <a:endParaRPr lang="en-MY"/>
            </a:p>
          </p:txBody>
        </p:sp>
        <p:sp>
          <p:nvSpPr>
            <p:cNvPr id="104" name="Text 29">
              <a:extLst>
                <a:ext uri="{FF2B5EF4-FFF2-40B4-BE49-F238E27FC236}">
                  <a16:creationId xmlns:a16="http://schemas.microsoft.com/office/drawing/2014/main" id="{989B4CFB-55D9-106F-9216-B99C8B49E31E}"/>
                </a:ext>
              </a:extLst>
            </p:cNvPr>
            <p:cNvSpPr/>
            <p:nvPr/>
          </p:nvSpPr>
          <p:spPr>
            <a:xfrm>
              <a:off x="4815277" y="969264"/>
              <a:ext cx="4160520" cy="292608"/>
            </a:xfrm>
            <a:prstGeom prst="rect">
              <a:avLst/>
            </a:prstGeom>
            <a:noFill/>
            <a:ln/>
          </p:spPr>
          <p:txBody>
            <a:bodyPr wrap="square" lIns="0" tIns="0" rIns="0" bIns="0" rtlCol="0" anchor="ctr"/>
            <a:lstStyle/>
            <a:p>
              <a:pPr marL="0" indent="0">
                <a:buNone/>
              </a:pPr>
              <a:r>
                <a:rPr lang="en-US" sz="11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Business Objectives 5</a:t>
              </a:r>
              <a:endParaRPr lang="en-US" sz="1100" dirty="0">
                <a:effectLst>
                  <a:outerShdw blurRad="50800" dist="38100" dir="2700000" algn="tl" rotWithShape="0">
                    <a:prstClr val="black">
                      <a:alpha val="40000"/>
                    </a:prstClr>
                  </a:outerShdw>
                </a:effectLst>
              </a:endParaRPr>
            </a:p>
          </p:txBody>
        </p:sp>
        <p:sp>
          <p:nvSpPr>
            <p:cNvPr id="106" name="Shape 30">
              <a:extLst>
                <a:ext uri="{FF2B5EF4-FFF2-40B4-BE49-F238E27FC236}">
                  <a16:creationId xmlns:a16="http://schemas.microsoft.com/office/drawing/2014/main" id="{F6ED4E7B-3DAB-5102-EAE9-39466E0EF040}"/>
                </a:ext>
              </a:extLst>
            </p:cNvPr>
            <p:cNvSpPr/>
            <p:nvPr/>
          </p:nvSpPr>
          <p:spPr>
            <a:xfrm>
              <a:off x="4842709" y="1432843"/>
              <a:ext cx="452706" cy="457201"/>
            </a:xfrm>
            <a:prstGeom prst="roundRect">
              <a:avLst>
                <a:gd name="adj" fmla="val 12000"/>
              </a:avLst>
            </a:prstGeom>
            <a:solidFill>
              <a:srgbClr val="FFC107"/>
            </a:solidFill>
            <a:ln w="12700">
              <a:solidFill>
                <a:srgbClr val="FFC107"/>
              </a:solidFill>
              <a:prstDash val="solid"/>
            </a:ln>
          </p:spPr>
          <p:txBody>
            <a:bodyPr/>
            <a:lstStyle/>
            <a:p>
              <a:endParaRPr lang="en-MY">
                <a:solidFill>
                  <a:srgbClr val="4CAF50"/>
                </a:solidFill>
              </a:endParaRPr>
            </a:p>
          </p:txBody>
        </p:sp>
        <p:sp>
          <p:nvSpPr>
            <p:cNvPr id="108" name="Text 31">
              <a:extLst>
                <a:ext uri="{FF2B5EF4-FFF2-40B4-BE49-F238E27FC236}">
                  <a16:creationId xmlns:a16="http://schemas.microsoft.com/office/drawing/2014/main" id="{5AE7194E-6E60-9308-6645-CC11BC7D536C}"/>
                </a:ext>
              </a:extLst>
            </p:cNvPr>
            <p:cNvSpPr/>
            <p:nvPr/>
          </p:nvSpPr>
          <p:spPr>
            <a:xfrm>
              <a:off x="4842709" y="1432843"/>
              <a:ext cx="452706" cy="457201"/>
            </a:xfrm>
            <a:prstGeom prst="rect">
              <a:avLst/>
            </a:prstGeom>
            <a:noFill/>
            <a:ln/>
          </p:spPr>
          <p:txBody>
            <a:bodyPr wrap="square" lIns="0" tIns="0" rIns="0" bIns="0" rtlCol="0" anchor="ctr"/>
            <a:lstStyle/>
            <a:p>
              <a:pPr marL="0" indent="0" algn="ctr">
                <a:buNone/>
              </a:pPr>
              <a:r>
                <a:rPr lang="en-US" sz="900" b="1" dirty="0">
                  <a:solidFill>
                    <a:srgbClr val="FFFFFF"/>
                  </a:solidFill>
                  <a:effectLst>
                    <a:outerShdw blurRad="50800" dist="38100" dir="2700000" algn="tl" rotWithShape="0">
                      <a:prstClr val="black">
                        <a:alpha val="40000"/>
                      </a:prstClr>
                    </a:outerShdw>
                  </a:effectLst>
                  <a:latin typeface="Calibri" pitchFamily="34" charset="0"/>
                  <a:ea typeface="Calibri" pitchFamily="34" charset="-122"/>
                  <a:cs typeface="Calibri" pitchFamily="34" charset="-120"/>
                </a:rPr>
                <a:t>BO5</a:t>
              </a:r>
              <a:endParaRPr lang="en-US" sz="900" dirty="0">
                <a:effectLst>
                  <a:outerShdw blurRad="50800" dist="38100" dir="2700000" algn="tl" rotWithShape="0">
                    <a:prstClr val="black">
                      <a:alpha val="40000"/>
                    </a:prstClr>
                  </a:outerShdw>
                </a:effectLst>
              </a:endParaRPr>
            </a:p>
          </p:txBody>
        </p:sp>
        <p:sp>
          <p:nvSpPr>
            <p:cNvPr id="110" name="Text 32">
              <a:extLst>
                <a:ext uri="{FF2B5EF4-FFF2-40B4-BE49-F238E27FC236}">
                  <a16:creationId xmlns:a16="http://schemas.microsoft.com/office/drawing/2014/main" id="{23C5E3F6-32EC-2624-9E5A-0EEB959E52DF}"/>
                </a:ext>
              </a:extLst>
            </p:cNvPr>
            <p:cNvSpPr/>
            <p:nvPr/>
          </p:nvSpPr>
          <p:spPr>
            <a:xfrm>
              <a:off x="5409637" y="1345830"/>
              <a:ext cx="3474720" cy="20116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Customer Segmentation</a:t>
              </a:r>
              <a:endParaRPr lang="en-US" sz="950" dirty="0"/>
            </a:p>
          </p:txBody>
        </p:sp>
        <p:sp>
          <p:nvSpPr>
            <p:cNvPr id="112" name="Text 33">
              <a:extLst>
                <a:ext uri="{FF2B5EF4-FFF2-40B4-BE49-F238E27FC236}">
                  <a16:creationId xmlns:a16="http://schemas.microsoft.com/office/drawing/2014/main" id="{1347644D-D63B-DC3E-CC7C-C87E47BB5759}"/>
                </a:ext>
              </a:extLst>
            </p:cNvPr>
            <p:cNvSpPr/>
            <p:nvPr/>
          </p:nvSpPr>
          <p:spPr>
            <a:xfrm>
              <a:off x="5403520" y="1678231"/>
              <a:ext cx="3636285" cy="457201"/>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To assist in customer retention along with long term revenue growth. To highlight customers at high risk of churn and estimate future business performance. To support targeted marketing efforts.</a:t>
              </a:r>
            </a:p>
            <a:p>
              <a:pPr marL="0" indent="0">
                <a:buNone/>
              </a:pPr>
              <a:r>
                <a:rPr lang="en-US" sz="800" dirty="0">
                  <a:solidFill>
                    <a:srgbClr val="8BA5C0"/>
                  </a:solidFill>
                  <a:latin typeface="Calibri" pitchFamily="34" charset="0"/>
                  <a:ea typeface="Calibri" pitchFamily="34" charset="-122"/>
                  <a:cs typeface="Calibri" pitchFamily="34" charset="-120"/>
                </a:rPr>
                <a:t> </a:t>
              </a:r>
            </a:p>
            <a:p>
              <a:pPr marL="0" indent="0">
                <a:buNone/>
              </a:pPr>
              <a:r>
                <a:rPr lang="en-US" sz="800" dirty="0">
                  <a:solidFill>
                    <a:srgbClr val="8BA5C0"/>
                  </a:solidFill>
                  <a:latin typeface="Calibri" pitchFamily="34" charset="0"/>
                  <a:ea typeface="Calibri" pitchFamily="34" charset="-122"/>
                  <a:cs typeface="Calibri" pitchFamily="34" charset="-120"/>
                </a:rPr>
                <a:t> </a:t>
              </a:r>
              <a:endParaRPr lang="en-US" sz="800" dirty="0"/>
            </a:p>
          </p:txBody>
        </p:sp>
      </p:grpSp>
      <p:grpSp>
        <p:nvGrpSpPr>
          <p:cNvPr id="127" name="Group 126">
            <a:extLst>
              <a:ext uri="{FF2B5EF4-FFF2-40B4-BE49-F238E27FC236}">
                <a16:creationId xmlns:a16="http://schemas.microsoft.com/office/drawing/2014/main" id="{9368A213-4B93-71D5-0D77-4D858DBA0D16}"/>
              </a:ext>
            </a:extLst>
          </p:cNvPr>
          <p:cNvGrpSpPr/>
          <p:nvPr/>
        </p:nvGrpSpPr>
        <p:grpSpPr>
          <a:xfrm>
            <a:off x="4853174" y="2054507"/>
            <a:ext cx="4142796" cy="1653739"/>
            <a:chOff x="4696405" y="2206377"/>
            <a:chExt cx="4343400" cy="1653739"/>
          </a:xfrm>
        </p:grpSpPr>
        <p:sp>
          <p:nvSpPr>
            <p:cNvPr id="86" name="Shape 21">
              <a:extLst>
                <a:ext uri="{FF2B5EF4-FFF2-40B4-BE49-F238E27FC236}">
                  <a16:creationId xmlns:a16="http://schemas.microsoft.com/office/drawing/2014/main" id="{EFE01198-007B-C8D8-1D6A-7947A6D0FD0C}"/>
                </a:ext>
              </a:extLst>
            </p:cNvPr>
            <p:cNvSpPr/>
            <p:nvPr/>
          </p:nvSpPr>
          <p:spPr>
            <a:xfrm>
              <a:off x="4696405" y="2918667"/>
              <a:ext cx="4343400" cy="480410"/>
            </a:xfrm>
            <a:prstGeom prst="rect">
              <a:avLst/>
            </a:prstGeom>
            <a:solidFill>
              <a:srgbClr val="0B1E34"/>
            </a:solidFill>
            <a:ln w="3810">
              <a:solidFill>
                <a:srgbClr val="1A3055"/>
              </a:solidFill>
              <a:prstDash val="solid"/>
            </a:ln>
          </p:spPr>
          <p:txBody>
            <a:bodyPr/>
            <a:lstStyle/>
            <a:p>
              <a:endParaRPr lang="en-MY">
                <a:solidFill>
                  <a:srgbClr val="4CAF50"/>
                </a:solidFill>
              </a:endParaRPr>
            </a:p>
          </p:txBody>
        </p:sp>
        <p:sp>
          <p:nvSpPr>
            <p:cNvPr id="8" name="Shape 4">
              <a:extLst>
                <a:ext uri="{FF2B5EF4-FFF2-40B4-BE49-F238E27FC236}">
                  <a16:creationId xmlns:a16="http://schemas.microsoft.com/office/drawing/2014/main" id="{AF31DE2E-87B0-E8F6-C7AD-8067664B9EB8}"/>
                </a:ext>
              </a:extLst>
            </p:cNvPr>
            <p:cNvSpPr/>
            <p:nvPr/>
          </p:nvSpPr>
          <p:spPr>
            <a:xfrm>
              <a:off x="4696405" y="2217385"/>
              <a:ext cx="4343400" cy="451281"/>
            </a:xfrm>
            <a:prstGeom prst="rect">
              <a:avLst/>
            </a:prstGeom>
            <a:solidFill>
              <a:srgbClr val="0F2646"/>
            </a:solidFill>
            <a:ln w="6350">
              <a:solidFill>
                <a:srgbClr val="1A3055"/>
              </a:solidFill>
              <a:prstDash val="solid"/>
            </a:ln>
          </p:spPr>
          <p:txBody>
            <a:bodyPr/>
            <a:lstStyle/>
            <a:p>
              <a:endParaRPr lang="en-MY">
                <a:solidFill>
                  <a:srgbClr val="4CAF50"/>
                </a:solidFill>
              </a:endParaRPr>
            </a:p>
          </p:txBody>
        </p:sp>
        <p:sp>
          <p:nvSpPr>
            <p:cNvPr id="12" name="Text 6">
              <a:extLst>
                <a:ext uri="{FF2B5EF4-FFF2-40B4-BE49-F238E27FC236}">
                  <a16:creationId xmlns:a16="http://schemas.microsoft.com/office/drawing/2014/main" id="{13EBF9B6-C4E8-EBB2-9346-C5E5CF602BA9}"/>
                </a:ext>
              </a:extLst>
            </p:cNvPr>
            <p:cNvSpPr/>
            <p:nvPr/>
          </p:nvSpPr>
          <p:spPr>
            <a:xfrm>
              <a:off x="5363662" y="2210088"/>
              <a:ext cx="936909" cy="237744"/>
            </a:xfrm>
            <a:prstGeom prst="rect">
              <a:avLst/>
            </a:prstGeom>
            <a:noFill/>
            <a:ln/>
          </p:spPr>
          <p:txBody>
            <a:bodyPr wrap="square" lIns="0" tIns="0" rIns="0" bIns="0" rtlCol="0" anchor="ctr"/>
            <a:lstStyle/>
            <a:p>
              <a:pPr marL="0" indent="0">
                <a:buNone/>
              </a:pPr>
              <a:r>
                <a:rPr lang="en-US" sz="750" b="1" dirty="0">
                  <a:solidFill>
                    <a:srgbClr val="FFC107"/>
                  </a:solidFill>
                </a:rPr>
                <a:t>MEASURE</a:t>
              </a:r>
              <a:endParaRPr lang="en-US" sz="750" dirty="0">
                <a:solidFill>
                  <a:srgbClr val="FFC107"/>
                </a:solidFill>
              </a:endParaRPr>
            </a:p>
          </p:txBody>
        </p:sp>
        <p:sp>
          <p:nvSpPr>
            <p:cNvPr id="52" name="Text 7">
              <a:extLst>
                <a:ext uri="{FF2B5EF4-FFF2-40B4-BE49-F238E27FC236}">
                  <a16:creationId xmlns:a16="http://schemas.microsoft.com/office/drawing/2014/main" id="{3CE31093-1C78-5B90-2C69-4785B6572370}"/>
                </a:ext>
              </a:extLst>
            </p:cNvPr>
            <p:cNvSpPr/>
            <p:nvPr/>
          </p:nvSpPr>
          <p:spPr>
            <a:xfrm>
              <a:off x="6058315" y="2214618"/>
              <a:ext cx="1950079" cy="237744"/>
            </a:xfrm>
            <a:prstGeom prst="rect">
              <a:avLst/>
            </a:prstGeom>
            <a:noFill/>
            <a:ln/>
          </p:spPr>
          <p:txBody>
            <a:bodyPr wrap="square" lIns="0" tIns="0" rIns="0" bIns="0" rtlCol="0" anchor="ctr"/>
            <a:lstStyle/>
            <a:p>
              <a:pPr marL="0" indent="0">
                <a:buNone/>
              </a:pPr>
              <a:r>
                <a:rPr lang="en-US" sz="750" b="1" dirty="0">
                  <a:solidFill>
                    <a:srgbClr val="FFC107"/>
                  </a:solidFill>
                </a:rPr>
                <a:t>DAX FORMULA</a:t>
              </a:r>
              <a:endParaRPr lang="en-US" sz="750" dirty="0">
                <a:solidFill>
                  <a:srgbClr val="FFC107"/>
                </a:solidFill>
              </a:endParaRPr>
            </a:p>
          </p:txBody>
        </p:sp>
        <p:sp>
          <p:nvSpPr>
            <p:cNvPr id="55" name="Text 8">
              <a:extLst>
                <a:ext uri="{FF2B5EF4-FFF2-40B4-BE49-F238E27FC236}">
                  <a16:creationId xmlns:a16="http://schemas.microsoft.com/office/drawing/2014/main" id="{F3A3A042-E9F0-A3CB-866F-D195F67C9364}"/>
                </a:ext>
              </a:extLst>
            </p:cNvPr>
            <p:cNvSpPr/>
            <p:nvPr/>
          </p:nvSpPr>
          <p:spPr>
            <a:xfrm>
              <a:off x="7424404" y="2210061"/>
              <a:ext cx="1587174" cy="237744"/>
            </a:xfrm>
            <a:prstGeom prst="rect">
              <a:avLst/>
            </a:prstGeom>
            <a:noFill/>
            <a:ln/>
          </p:spPr>
          <p:txBody>
            <a:bodyPr wrap="square" lIns="0" tIns="0" rIns="0" bIns="0" rtlCol="0" anchor="ctr"/>
            <a:lstStyle/>
            <a:p>
              <a:pPr marL="0" indent="0">
                <a:buNone/>
              </a:pPr>
              <a:r>
                <a:rPr lang="en-US" sz="750" b="1" dirty="0">
                  <a:solidFill>
                    <a:srgbClr val="FFC107"/>
                  </a:solidFill>
                </a:rPr>
                <a:t>BUSINESS IMPORTANCE</a:t>
              </a:r>
              <a:endParaRPr lang="en-US" sz="750" dirty="0">
                <a:solidFill>
                  <a:srgbClr val="FFC107"/>
                </a:solidFill>
              </a:endParaRPr>
            </a:p>
          </p:txBody>
        </p:sp>
        <p:sp>
          <p:nvSpPr>
            <p:cNvPr id="62" name="Shape 9">
              <a:extLst>
                <a:ext uri="{FF2B5EF4-FFF2-40B4-BE49-F238E27FC236}">
                  <a16:creationId xmlns:a16="http://schemas.microsoft.com/office/drawing/2014/main" id="{DCC60E1B-DAE6-7DDA-664B-AEFE76831149}"/>
                </a:ext>
              </a:extLst>
            </p:cNvPr>
            <p:cNvSpPr/>
            <p:nvPr/>
          </p:nvSpPr>
          <p:spPr>
            <a:xfrm>
              <a:off x="4696405" y="2407514"/>
              <a:ext cx="4343400" cy="516194"/>
            </a:xfrm>
            <a:prstGeom prst="rect">
              <a:avLst/>
            </a:prstGeom>
            <a:solidFill>
              <a:srgbClr val="0B1E34"/>
            </a:solidFill>
            <a:ln w="3810">
              <a:solidFill>
                <a:srgbClr val="1A3055"/>
              </a:solidFill>
              <a:prstDash val="solid"/>
            </a:ln>
          </p:spPr>
          <p:txBody>
            <a:bodyPr/>
            <a:lstStyle/>
            <a:p>
              <a:endParaRPr lang="en-MY">
                <a:solidFill>
                  <a:srgbClr val="4CAF50"/>
                </a:solidFill>
              </a:endParaRPr>
            </a:p>
          </p:txBody>
        </p:sp>
        <p:sp>
          <p:nvSpPr>
            <p:cNvPr id="74" name="Shape 15">
              <a:extLst>
                <a:ext uri="{FF2B5EF4-FFF2-40B4-BE49-F238E27FC236}">
                  <a16:creationId xmlns:a16="http://schemas.microsoft.com/office/drawing/2014/main" id="{179173DE-B191-D3CE-7C13-D89708D41903}"/>
                </a:ext>
              </a:extLst>
            </p:cNvPr>
            <p:cNvSpPr/>
            <p:nvPr/>
          </p:nvSpPr>
          <p:spPr>
            <a:xfrm>
              <a:off x="4696405" y="3370500"/>
              <a:ext cx="4343400" cy="489616"/>
            </a:xfrm>
            <a:prstGeom prst="rect">
              <a:avLst/>
            </a:prstGeom>
            <a:solidFill>
              <a:srgbClr val="0D1F35"/>
            </a:solidFill>
            <a:ln w="3810">
              <a:solidFill>
                <a:srgbClr val="1A3055"/>
              </a:solidFill>
              <a:prstDash val="solid"/>
            </a:ln>
          </p:spPr>
          <p:txBody>
            <a:bodyPr/>
            <a:lstStyle/>
            <a:p>
              <a:endParaRPr lang="en-MY" dirty="0">
                <a:solidFill>
                  <a:srgbClr val="4CAF50"/>
                </a:solidFill>
              </a:endParaRPr>
            </a:p>
          </p:txBody>
        </p:sp>
        <p:sp>
          <p:nvSpPr>
            <p:cNvPr id="114" name="Text 5">
              <a:extLst>
                <a:ext uri="{FF2B5EF4-FFF2-40B4-BE49-F238E27FC236}">
                  <a16:creationId xmlns:a16="http://schemas.microsoft.com/office/drawing/2014/main" id="{A1F484CB-160A-9FEA-567D-1B9707DAFF56}"/>
                </a:ext>
              </a:extLst>
            </p:cNvPr>
            <p:cNvSpPr/>
            <p:nvPr/>
          </p:nvSpPr>
          <p:spPr>
            <a:xfrm>
              <a:off x="4870533" y="2206377"/>
              <a:ext cx="337723" cy="237744"/>
            </a:xfrm>
            <a:prstGeom prst="rect">
              <a:avLst/>
            </a:prstGeom>
            <a:noFill/>
            <a:ln/>
          </p:spPr>
          <p:txBody>
            <a:bodyPr wrap="square" lIns="0" tIns="0" rIns="0" bIns="0" rtlCol="0" anchor="ctr"/>
            <a:lstStyle/>
            <a:p>
              <a:pPr marL="0" indent="0">
                <a:buNone/>
              </a:pPr>
              <a:r>
                <a:rPr lang="en-US" sz="750" b="1" dirty="0">
                  <a:solidFill>
                    <a:srgbClr val="FFC107"/>
                  </a:solidFill>
                </a:rPr>
                <a:t>BO</a:t>
              </a:r>
              <a:endParaRPr lang="en-US" sz="750" dirty="0">
                <a:solidFill>
                  <a:srgbClr val="FFC107"/>
                </a:solidFill>
              </a:endParaRPr>
            </a:p>
          </p:txBody>
        </p:sp>
      </p:grpSp>
      <p:sp>
        <p:nvSpPr>
          <p:cNvPr id="37" name="Shape 28">
            <a:extLst>
              <a:ext uri="{FF2B5EF4-FFF2-40B4-BE49-F238E27FC236}">
                <a16:creationId xmlns:a16="http://schemas.microsoft.com/office/drawing/2014/main" id="{58489DF2-A46A-1007-430F-70B0034C189F}"/>
              </a:ext>
            </a:extLst>
          </p:cNvPr>
          <p:cNvSpPr/>
          <p:nvPr/>
        </p:nvSpPr>
        <p:spPr>
          <a:xfrm>
            <a:off x="4922426" y="2423472"/>
            <a:ext cx="475488" cy="160020"/>
          </a:xfrm>
          <a:prstGeom prst="roundRect">
            <a:avLst>
              <a:gd name="adj" fmla="val 45714"/>
            </a:avLst>
          </a:prstGeom>
          <a:solidFill>
            <a:srgbClr val="FFC107"/>
          </a:solidFill>
          <a:ln w="12700">
            <a:solidFill>
              <a:srgbClr val="FFC107"/>
            </a:solidFill>
            <a:prstDash val="solid"/>
          </a:ln>
        </p:spPr>
        <p:txBody>
          <a:bodyPr/>
          <a:lstStyle/>
          <a:p>
            <a:endParaRPr lang="en-MY"/>
          </a:p>
        </p:txBody>
      </p:sp>
      <p:sp>
        <p:nvSpPr>
          <p:cNvPr id="39" name="Text 29">
            <a:extLst>
              <a:ext uri="{FF2B5EF4-FFF2-40B4-BE49-F238E27FC236}">
                <a16:creationId xmlns:a16="http://schemas.microsoft.com/office/drawing/2014/main" id="{4B739835-464D-F82D-23C3-DA7E63A31A47}"/>
              </a:ext>
            </a:extLst>
          </p:cNvPr>
          <p:cNvSpPr/>
          <p:nvPr/>
        </p:nvSpPr>
        <p:spPr>
          <a:xfrm>
            <a:off x="4922426" y="2423472"/>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BO5</a:t>
            </a:r>
            <a:endParaRPr lang="en-US" sz="750" dirty="0"/>
          </a:p>
        </p:txBody>
      </p:sp>
      <p:sp>
        <p:nvSpPr>
          <p:cNvPr id="41" name="Text 30">
            <a:extLst>
              <a:ext uri="{FF2B5EF4-FFF2-40B4-BE49-F238E27FC236}">
                <a16:creationId xmlns:a16="http://schemas.microsoft.com/office/drawing/2014/main" id="{7869EC30-C2CF-9E08-85AC-3C4F268CADCD}"/>
              </a:ext>
            </a:extLst>
          </p:cNvPr>
          <p:cNvSpPr/>
          <p:nvPr/>
        </p:nvSpPr>
        <p:spPr>
          <a:xfrm>
            <a:off x="5496361" y="2399605"/>
            <a:ext cx="597571" cy="223114"/>
          </a:xfrm>
          <a:prstGeom prst="rect">
            <a:avLst/>
          </a:prstGeom>
          <a:noFill/>
          <a:ln/>
        </p:spPr>
        <p:txBody>
          <a:bodyPr wrap="square" lIns="0" tIns="0" rIns="0" bIns="0" rtlCol="0" anchor="ctr"/>
          <a:lstStyle/>
          <a:p>
            <a:r>
              <a:rPr lang="en-US" sz="850" b="1" dirty="0">
                <a:solidFill>
                  <a:srgbClr val="FFFFFF"/>
                </a:solidFill>
              </a:rPr>
              <a:t>Churn Risk %</a:t>
            </a:r>
            <a:endParaRPr lang="en-US" sz="850" dirty="0"/>
          </a:p>
        </p:txBody>
      </p:sp>
      <p:sp>
        <p:nvSpPr>
          <p:cNvPr id="43" name="Text 31">
            <a:extLst>
              <a:ext uri="{FF2B5EF4-FFF2-40B4-BE49-F238E27FC236}">
                <a16:creationId xmlns:a16="http://schemas.microsoft.com/office/drawing/2014/main" id="{FF2E9784-7052-2BA8-A292-9150D0E6EE63}"/>
              </a:ext>
            </a:extLst>
          </p:cNvPr>
          <p:cNvSpPr/>
          <p:nvPr/>
        </p:nvSpPr>
        <p:spPr>
          <a:xfrm>
            <a:off x="6214385" y="2425794"/>
            <a:ext cx="1018780" cy="241402"/>
          </a:xfrm>
          <a:prstGeom prst="rect">
            <a:avLst/>
          </a:prstGeom>
          <a:noFill/>
          <a:ln/>
        </p:spPr>
        <p:txBody>
          <a:bodyPr wrap="square" lIns="0" tIns="0" rIns="0" bIns="0" rtlCol="0" anchor="ctr"/>
          <a:lstStyle/>
          <a:p>
            <a:r>
              <a:rPr lang="en-US" sz="620" dirty="0">
                <a:solidFill>
                  <a:srgbClr val="FFC107"/>
                </a:solidFill>
                <a:latin typeface="Courier New" pitchFamily="34" charset="0"/>
                <a:ea typeface="Courier New" pitchFamily="34" charset="-122"/>
                <a:cs typeface="Courier New" pitchFamily="34" charset="-120"/>
              </a:rPr>
              <a:t>AVERAGE(  ai_generated_data[churn_risk_score])  x 100</a:t>
            </a:r>
            <a:endParaRPr lang="en-US" sz="620" dirty="0">
              <a:solidFill>
                <a:srgbClr val="FFC107"/>
              </a:solidFill>
            </a:endParaRPr>
          </a:p>
        </p:txBody>
      </p:sp>
      <p:sp>
        <p:nvSpPr>
          <p:cNvPr id="46" name="Text 32">
            <a:extLst>
              <a:ext uri="{FF2B5EF4-FFF2-40B4-BE49-F238E27FC236}">
                <a16:creationId xmlns:a16="http://schemas.microsoft.com/office/drawing/2014/main" id="{6CBB48A3-1DF6-8949-A060-A5D66521507E}"/>
              </a:ext>
            </a:extLst>
          </p:cNvPr>
          <p:cNvSpPr/>
          <p:nvPr/>
        </p:nvSpPr>
        <p:spPr>
          <a:xfrm>
            <a:off x="7411638" y="2362944"/>
            <a:ext cx="1479740" cy="241402"/>
          </a:xfrm>
          <a:prstGeom prst="rect">
            <a:avLst/>
          </a:prstGeom>
          <a:noFill/>
          <a:ln/>
        </p:spPr>
        <p:txBody>
          <a:bodyPr wrap="square" lIns="0" tIns="0" rIns="0" bIns="0" rtlCol="0" anchor="ctr"/>
          <a:lstStyle/>
          <a:p>
            <a:r>
              <a:rPr lang="en-US" sz="720" dirty="0">
                <a:solidFill>
                  <a:srgbClr val="B0BEC5"/>
                </a:solidFill>
              </a:rPr>
              <a:t>Must be read with segment distribution.</a:t>
            </a:r>
            <a:endParaRPr lang="en-US" sz="720" dirty="0"/>
          </a:p>
        </p:txBody>
      </p:sp>
      <p:sp>
        <p:nvSpPr>
          <p:cNvPr id="50" name="Shape 34">
            <a:extLst>
              <a:ext uri="{FF2B5EF4-FFF2-40B4-BE49-F238E27FC236}">
                <a16:creationId xmlns:a16="http://schemas.microsoft.com/office/drawing/2014/main" id="{4893545C-2697-46AF-BFD8-09948729576E}"/>
              </a:ext>
            </a:extLst>
          </p:cNvPr>
          <p:cNvSpPr/>
          <p:nvPr/>
        </p:nvSpPr>
        <p:spPr>
          <a:xfrm>
            <a:off x="4922426" y="2893256"/>
            <a:ext cx="475488" cy="160020"/>
          </a:xfrm>
          <a:prstGeom prst="roundRect">
            <a:avLst>
              <a:gd name="adj" fmla="val 45714"/>
            </a:avLst>
          </a:prstGeom>
          <a:solidFill>
            <a:srgbClr val="FFC107"/>
          </a:solidFill>
          <a:ln w="12700">
            <a:solidFill>
              <a:srgbClr val="FFC107"/>
            </a:solidFill>
            <a:prstDash val="solid"/>
          </a:ln>
        </p:spPr>
        <p:txBody>
          <a:bodyPr/>
          <a:lstStyle/>
          <a:p>
            <a:endParaRPr lang="en-MY"/>
          </a:p>
        </p:txBody>
      </p:sp>
      <p:sp>
        <p:nvSpPr>
          <p:cNvPr id="53" name="Text 35">
            <a:extLst>
              <a:ext uri="{FF2B5EF4-FFF2-40B4-BE49-F238E27FC236}">
                <a16:creationId xmlns:a16="http://schemas.microsoft.com/office/drawing/2014/main" id="{65E662E3-8D62-B895-3B86-2AA9D1468C35}"/>
              </a:ext>
            </a:extLst>
          </p:cNvPr>
          <p:cNvSpPr/>
          <p:nvPr/>
        </p:nvSpPr>
        <p:spPr>
          <a:xfrm>
            <a:off x="4922426" y="2893256"/>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BO5</a:t>
            </a:r>
            <a:endParaRPr lang="en-US" sz="750" dirty="0"/>
          </a:p>
        </p:txBody>
      </p:sp>
      <p:sp>
        <p:nvSpPr>
          <p:cNvPr id="59" name="Text 36">
            <a:extLst>
              <a:ext uri="{FF2B5EF4-FFF2-40B4-BE49-F238E27FC236}">
                <a16:creationId xmlns:a16="http://schemas.microsoft.com/office/drawing/2014/main" id="{7A8DD89A-EE82-615E-BA9B-D6DE871E0E63}"/>
              </a:ext>
            </a:extLst>
          </p:cNvPr>
          <p:cNvSpPr/>
          <p:nvPr/>
        </p:nvSpPr>
        <p:spPr>
          <a:xfrm>
            <a:off x="5496361" y="2831913"/>
            <a:ext cx="705585" cy="223114"/>
          </a:xfrm>
          <a:prstGeom prst="rect">
            <a:avLst/>
          </a:prstGeom>
          <a:noFill/>
          <a:ln/>
        </p:spPr>
        <p:txBody>
          <a:bodyPr wrap="square" lIns="0" tIns="0" rIns="0" bIns="0" rtlCol="0" anchor="ctr"/>
          <a:lstStyle/>
          <a:p>
            <a:r>
              <a:rPr lang="en-US" sz="850" b="1" dirty="0">
                <a:solidFill>
                  <a:srgbClr val="FFFFFF"/>
                </a:solidFill>
              </a:rPr>
              <a:t>Avg CLV</a:t>
            </a:r>
            <a:endParaRPr lang="en-US" sz="850" dirty="0"/>
          </a:p>
        </p:txBody>
      </p:sp>
      <p:sp>
        <p:nvSpPr>
          <p:cNvPr id="61" name="Text 37">
            <a:extLst>
              <a:ext uri="{FF2B5EF4-FFF2-40B4-BE49-F238E27FC236}">
                <a16:creationId xmlns:a16="http://schemas.microsoft.com/office/drawing/2014/main" id="{4C2AAE57-EC7D-03C7-96EA-878018F4A3D7}"/>
              </a:ext>
            </a:extLst>
          </p:cNvPr>
          <p:cNvSpPr/>
          <p:nvPr/>
        </p:nvSpPr>
        <p:spPr>
          <a:xfrm>
            <a:off x="6214385" y="2882592"/>
            <a:ext cx="1018780" cy="241402"/>
          </a:xfrm>
          <a:prstGeom prst="rect">
            <a:avLst/>
          </a:prstGeom>
          <a:noFill/>
          <a:ln/>
        </p:spPr>
        <p:txBody>
          <a:bodyPr wrap="square" lIns="0" tIns="0" rIns="0" bIns="0" rtlCol="0" anchor="ctr"/>
          <a:lstStyle/>
          <a:p>
            <a:r>
              <a:rPr lang="en-US" sz="620" dirty="0">
                <a:solidFill>
                  <a:srgbClr val="FFC107"/>
                </a:solidFill>
                <a:latin typeface="Courier New" pitchFamily="34" charset="0"/>
                <a:ea typeface="Courier New" pitchFamily="34" charset="-122"/>
                <a:cs typeface="Courier New" pitchFamily="34" charset="-120"/>
              </a:rPr>
              <a:t>AVERAGE(  ai_generated_data  [estimated_customer_lifetime_value])</a:t>
            </a:r>
            <a:endParaRPr lang="en-US" sz="620" dirty="0">
              <a:solidFill>
                <a:srgbClr val="FFC107"/>
              </a:solidFill>
            </a:endParaRPr>
          </a:p>
        </p:txBody>
      </p:sp>
      <p:sp>
        <p:nvSpPr>
          <p:cNvPr id="64" name="Text 38">
            <a:extLst>
              <a:ext uri="{FF2B5EF4-FFF2-40B4-BE49-F238E27FC236}">
                <a16:creationId xmlns:a16="http://schemas.microsoft.com/office/drawing/2014/main" id="{097F219F-5143-ED2D-29AE-D963DB56DFC3}"/>
              </a:ext>
            </a:extLst>
          </p:cNvPr>
          <p:cNvSpPr/>
          <p:nvPr/>
        </p:nvSpPr>
        <p:spPr>
          <a:xfrm>
            <a:off x="7420070" y="2877709"/>
            <a:ext cx="1544799" cy="241402"/>
          </a:xfrm>
          <a:prstGeom prst="rect">
            <a:avLst/>
          </a:prstGeom>
          <a:noFill/>
          <a:ln/>
        </p:spPr>
        <p:txBody>
          <a:bodyPr wrap="square" lIns="0" tIns="0" rIns="0" bIns="0" rtlCol="0" anchor="ctr"/>
          <a:lstStyle/>
          <a:p>
            <a:r>
              <a:rPr lang="en-US" sz="720" dirty="0">
                <a:solidFill>
                  <a:srgbClr val="B0BEC5"/>
                </a:solidFill>
              </a:rPr>
              <a:t>Used in CLV vs Churn scatter and Decomposition Tree to identify retention targets.</a:t>
            </a:r>
            <a:endParaRPr lang="en-US" sz="720" dirty="0"/>
          </a:p>
        </p:txBody>
      </p:sp>
      <p:sp>
        <p:nvSpPr>
          <p:cNvPr id="69" name="Shape 40">
            <a:extLst>
              <a:ext uri="{FF2B5EF4-FFF2-40B4-BE49-F238E27FC236}">
                <a16:creationId xmlns:a16="http://schemas.microsoft.com/office/drawing/2014/main" id="{8DD13C08-F178-2B54-2756-77AE89ADF8E8}"/>
              </a:ext>
            </a:extLst>
          </p:cNvPr>
          <p:cNvSpPr/>
          <p:nvPr/>
        </p:nvSpPr>
        <p:spPr>
          <a:xfrm>
            <a:off x="4922426" y="3328481"/>
            <a:ext cx="475488" cy="160020"/>
          </a:xfrm>
          <a:prstGeom prst="roundRect">
            <a:avLst>
              <a:gd name="adj" fmla="val 45714"/>
            </a:avLst>
          </a:prstGeom>
          <a:solidFill>
            <a:srgbClr val="FFC107"/>
          </a:solidFill>
          <a:ln w="12700">
            <a:solidFill>
              <a:srgbClr val="FFC107"/>
            </a:solidFill>
            <a:prstDash val="solid"/>
          </a:ln>
        </p:spPr>
        <p:txBody>
          <a:bodyPr/>
          <a:lstStyle/>
          <a:p>
            <a:endParaRPr lang="en-MY"/>
          </a:p>
        </p:txBody>
      </p:sp>
      <p:sp>
        <p:nvSpPr>
          <p:cNvPr id="73" name="Text 41">
            <a:extLst>
              <a:ext uri="{FF2B5EF4-FFF2-40B4-BE49-F238E27FC236}">
                <a16:creationId xmlns:a16="http://schemas.microsoft.com/office/drawing/2014/main" id="{B6F5D2E0-8652-EBA4-A0FC-A63616B6DFD5}"/>
              </a:ext>
            </a:extLst>
          </p:cNvPr>
          <p:cNvSpPr/>
          <p:nvPr/>
        </p:nvSpPr>
        <p:spPr>
          <a:xfrm>
            <a:off x="4922426" y="3328481"/>
            <a:ext cx="475488" cy="160020"/>
          </a:xfrm>
          <a:prstGeom prst="rect">
            <a:avLst/>
          </a:prstGeom>
          <a:noFill/>
          <a:ln/>
        </p:spPr>
        <p:txBody>
          <a:bodyPr wrap="square" lIns="0" tIns="0" rIns="0" bIns="0" rtlCol="0" anchor="ctr"/>
          <a:lstStyle/>
          <a:p>
            <a:pPr marL="0" indent="0" algn="ctr">
              <a:buNone/>
            </a:pPr>
            <a:r>
              <a:rPr lang="en-US" sz="750" b="1" dirty="0">
                <a:solidFill>
                  <a:srgbClr val="0A1628"/>
                </a:solidFill>
              </a:rPr>
              <a:t>BO5</a:t>
            </a:r>
            <a:endParaRPr lang="en-US" sz="750" dirty="0"/>
          </a:p>
        </p:txBody>
      </p:sp>
      <p:sp>
        <p:nvSpPr>
          <p:cNvPr id="76" name="Text 42">
            <a:extLst>
              <a:ext uri="{FF2B5EF4-FFF2-40B4-BE49-F238E27FC236}">
                <a16:creationId xmlns:a16="http://schemas.microsoft.com/office/drawing/2014/main" id="{755E92F3-5BFD-BD3A-704C-5EA83B1F6DE3}"/>
              </a:ext>
            </a:extLst>
          </p:cNvPr>
          <p:cNvSpPr/>
          <p:nvPr/>
        </p:nvSpPr>
        <p:spPr>
          <a:xfrm>
            <a:off x="5496361" y="3304357"/>
            <a:ext cx="543655" cy="223114"/>
          </a:xfrm>
          <a:prstGeom prst="rect">
            <a:avLst/>
          </a:prstGeom>
          <a:noFill/>
          <a:ln/>
        </p:spPr>
        <p:txBody>
          <a:bodyPr wrap="square" lIns="0" tIns="0" rIns="0" bIns="0" rtlCol="0" anchor="ctr"/>
          <a:lstStyle/>
          <a:p>
            <a:r>
              <a:rPr lang="en-US" sz="850" b="1" dirty="0">
                <a:solidFill>
                  <a:srgbClr val="FFFFFF"/>
                </a:solidFill>
              </a:rPr>
              <a:t>Total CLV Flow</a:t>
            </a:r>
            <a:endParaRPr lang="en-US" sz="850" dirty="0"/>
          </a:p>
        </p:txBody>
      </p:sp>
      <p:sp>
        <p:nvSpPr>
          <p:cNvPr id="78" name="Text 43">
            <a:extLst>
              <a:ext uri="{FF2B5EF4-FFF2-40B4-BE49-F238E27FC236}">
                <a16:creationId xmlns:a16="http://schemas.microsoft.com/office/drawing/2014/main" id="{2B874D6F-8C96-AD82-5D70-C9C85F4455A9}"/>
              </a:ext>
            </a:extLst>
          </p:cNvPr>
          <p:cNvSpPr/>
          <p:nvPr/>
        </p:nvSpPr>
        <p:spPr>
          <a:xfrm>
            <a:off x="6214385" y="3341559"/>
            <a:ext cx="1018780" cy="241402"/>
          </a:xfrm>
          <a:prstGeom prst="rect">
            <a:avLst/>
          </a:prstGeom>
          <a:noFill/>
          <a:ln/>
        </p:spPr>
        <p:txBody>
          <a:bodyPr wrap="square" lIns="0" tIns="0" rIns="0" bIns="0" rtlCol="0" anchor="ctr"/>
          <a:lstStyle/>
          <a:p>
            <a:r>
              <a:rPr lang="en-US" sz="620" dirty="0">
                <a:solidFill>
                  <a:srgbClr val="FFC107"/>
                </a:solidFill>
                <a:latin typeface="Courier New" pitchFamily="34" charset="0"/>
                <a:ea typeface="Courier New" pitchFamily="34" charset="-122"/>
                <a:cs typeface="Courier New" pitchFamily="34" charset="-120"/>
              </a:rPr>
              <a:t>SUMX(  ai_generated_data,  [estimated_customer_lifetime_value])</a:t>
            </a:r>
            <a:endParaRPr lang="en-US" sz="620" dirty="0">
              <a:solidFill>
                <a:srgbClr val="FFC107"/>
              </a:solidFill>
            </a:endParaRPr>
          </a:p>
        </p:txBody>
      </p:sp>
      <p:sp>
        <p:nvSpPr>
          <p:cNvPr id="81" name="Text 44">
            <a:extLst>
              <a:ext uri="{FF2B5EF4-FFF2-40B4-BE49-F238E27FC236}">
                <a16:creationId xmlns:a16="http://schemas.microsoft.com/office/drawing/2014/main" id="{795229A9-C560-5352-A3D9-A4419F92A3D9}"/>
              </a:ext>
            </a:extLst>
          </p:cNvPr>
          <p:cNvSpPr/>
          <p:nvPr/>
        </p:nvSpPr>
        <p:spPr>
          <a:xfrm>
            <a:off x="7404221" y="3269828"/>
            <a:ext cx="1530697" cy="241402"/>
          </a:xfrm>
          <a:prstGeom prst="rect">
            <a:avLst/>
          </a:prstGeom>
          <a:noFill/>
          <a:ln/>
        </p:spPr>
        <p:txBody>
          <a:bodyPr wrap="square" lIns="0" tIns="0" rIns="0" bIns="0" rtlCol="0" anchor="ctr"/>
          <a:lstStyle/>
          <a:p>
            <a:r>
              <a:rPr lang="en-US" sz="720" dirty="0">
                <a:solidFill>
                  <a:srgbClr val="B0BEC5"/>
                </a:solidFill>
              </a:rPr>
              <a:t>Feeds the Sankey diagram. </a:t>
            </a:r>
            <a:endParaRPr lang="en-US" sz="720" dirty="0"/>
          </a:p>
        </p:txBody>
      </p:sp>
      <p:sp>
        <p:nvSpPr>
          <p:cNvPr id="88" name="Text 38">
            <a:extLst>
              <a:ext uri="{FF2B5EF4-FFF2-40B4-BE49-F238E27FC236}">
                <a16:creationId xmlns:a16="http://schemas.microsoft.com/office/drawing/2014/main" id="{9106AD84-A1DC-DBFD-32B4-59781F5702F6}"/>
              </a:ext>
            </a:extLst>
          </p:cNvPr>
          <p:cNvSpPr/>
          <p:nvPr/>
        </p:nvSpPr>
        <p:spPr>
          <a:xfrm>
            <a:off x="4939409" y="3685032"/>
            <a:ext cx="4099553" cy="274320"/>
          </a:xfrm>
          <a:prstGeom prst="rect">
            <a:avLst/>
          </a:prstGeom>
          <a:noFill/>
          <a:ln/>
        </p:spPr>
        <p:txBody>
          <a:bodyPr wrap="square" lIns="0" tIns="0" rIns="0" bIns="0" rtlCol="0" anchor="ctr"/>
          <a:lstStyle/>
          <a:p>
            <a:pPr marL="0" indent="0">
              <a:buNone/>
            </a:pPr>
            <a:endParaRPr lang="en-US" sz="1100"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Add-in 9">
                <a:extLst>
                  <a:ext uri="{FF2B5EF4-FFF2-40B4-BE49-F238E27FC236}">
                    <a16:creationId xmlns:a16="http://schemas.microsoft.com/office/drawing/2014/main" id="{B9CBDC2D-3AA5-C1C0-B8FF-DA29D8895405}"/>
                  </a:ext>
                </a:extLst>
              </p:cNvPr>
              <p:cNvGraphicFramePr>
                <a:graphicFrameLocks noGrp="1"/>
              </p:cNvGraphicFramePr>
              <p:nvPr>
                <p:extLst>
                  <p:ext uri="{D42A27DB-BD31-4B8C-83A1-F6EECF244321}">
                    <p14:modId xmlns:p14="http://schemas.microsoft.com/office/powerpoint/2010/main" val="1518046382"/>
                  </p:ext>
                </p:extLst>
              </p:nvPr>
            </p:nvGraphicFramePr>
            <p:xfrm>
              <a:off x="130603" y="1053737"/>
              <a:ext cx="4613350" cy="3858419"/>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10" name="Add-in 9">
                <a:extLst>
                  <a:ext uri="{FF2B5EF4-FFF2-40B4-BE49-F238E27FC236}">
                    <a16:creationId xmlns:a16="http://schemas.microsoft.com/office/drawing/2014/main" id="{B9CBDC2D-3AA5-C1C0-B8FF-DA29D8895405}"/>
                  </a:ext>
                </a:extLst>
              </p:cNvPr>
              <p:cNvPicPr>
                <a:picLocks noGrp="1" noRot="1" noChangeAspect="1" noMove="1" noResize="1" noEditPoints="1" noAdjustHandles="1" noChangeArrowheads="1" noChangeShapeType="1"/>
              </p:cNvPicPr>
              <p:nvPr/>
            </p:nvPicPr>
            <p:blipFill>
              <a:blip r:embed="rId6"/>
              <a:stretch>
                <a:fillRect/>
              </a:stretch>
            </p:blipFill>
            <p:spPr>
              <a:xfrm>
                <a:off x="130603" y="1053737"/>
                <a:ext cx="4613350" cy="3858419"/>
              </a:xfrm>
              <a:prstGeom prst="rect">
                <a:avLst/>
              </a:prstGeom>
            </p:spPr>
          </p:pic>
        </mc:Fallback>
      </mc:AlternateContent>
      <p:sp>
        <p:nvSpPr>
          <p:cNvPr id="15" name="Shape 31">
            <a:extLst>
              <a:ext uri="{FF2B5EF4-FFF2-40B4-BE49-F238E27FC236}">
                <a16:creationId xmlns:a16="http://schemas.microsoft.com/office/drawing/2014/main" id="{03F16FA5-5BF7-0221-486D-1F7E5159CB4A}"/>
              </a:ext>
            </a:extLst>
          </p:cNvPr>
          <p:cNvSpPr/>
          <p:nvPr/>
        </p:nvSpPr>
        <p:spPr>
          <a:xfrm>
            <a:off x="4841173" y="3805142"/>
            <a:ext cx="2047774" cy="1216141"/>
          </a:xfrm>
          <a:prstGeom prst="roundRect">
            <a:avLst>
              <a:gd name="adj" fmla="val 685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17" name="Text 5">
            <a:extLst>
              <a:ext uri="{FF2B5EF4-FFF2-40B4-BE49-F238E27FC236}">
                <a16:creationId xmlns:a16="http://schemas.microsoft.com/office/drawing/2014/main" id="{0880FEF1-D80B-5D1A-2E2A-31B2F134E091}"/>
              </a:ext>
            </a:extLst>
          </p:cNvPr>
          <p:cNvSpPr/>
          <p:nvPr/>
        </p:nvSpPr>
        <p:spPr>
          <a:xfrm>
            <a:off x="4944259" y="4088074"/>
            <a:ext cx="736001" cy="159497"/>
          </a:xfrm>
          <a:prstGeom prst="rect">
            <a:avLst/>
          </a:prstGeom>
          <a:noFill/>
          <a:ln/>
        </p:spPr>
        <p:txBody>
          <a:bodyPr wrap="square" lIns="0" tIns="0" rIns="0" bIns="0" rtlCol="0" anchor="ctr"/>
          <a:lstStyle/>
          <a:p>
            <a:pPr marL="0" indent="0">
              <a:buNone/>
            </a:pPr>
            <a:r>
              <a:rPr lang="en-US" sz="800" dirty="0">
                <a:solidFill>
                  <a:srgbClr val="FFFFFF"/>
                </a:solidFill>
              </a:rPr>
              <a:t>Regular</a:t>
            </a:r>
            <a:endParaRPr lang="en-US" sz="800" dirty="0"/>
          </a:p>
        </p:txBody>
      </p:sp>
      <p:sp>
        <p:nvSpPr>
          <p:cNvPr id="19" name="Shape 6">
            <a:extLst>
              <a:ext uri="{FF2B5EF4-FFF2-40B4-BE49-F238E27FC236}">
                <a16:creationId xmlns:a16="http://schemas.microsoft.com/office/drawing/2014/main" id="{FFA7F1B6-E373-8CF0-A469-44DA105FBD76}"/>
              </a:ext>
            </a:extLst>
          </p:cNvPr>
          <p:cNvSpPr/>
          <p:nvPr/>
        </p:nvSpPr>
        <p:spPr>
          <a:xfrm>
            <a:off x="5490361" y="4115506"/>
            <a:ext cx="969246" cy="115998"/>
          </a:xfrm>
          <a:prstGeom prst="roundRect">
            <a:avLst>
              <a:gd name="adj" fmla="val 25000"/>
            </a:avLst>
          </a:prstGeom>
          <a:solidFill>
            <a:srgbClr val="4CAF50"/>
          </a:solidFill>
          <a:ln/>
        </p:spPr>
        <p:txBody>
          <a:bodyPr/>
          <a:lstStyle/>
          <a:p>
            <a:endParaRPr lang="en-MY" sz="1600"/>
          </a:p>
        </p:txBody>
      </p:sp>
      <p:sp>
        <p:nvSpPr>
          <p:cNvPr id="21" name="Text 7">
            <a:extLst>
              <a:ext uri="{FF2B5EF4-FFF2-40B4-BE49-F238E27FC236}">
                <a16:creationId xmlns:a16="http://schemas.microsoft.com/office/drawing/2014/main" id="{785F7148-96BB-0E12-96E9-94AD4D0D158C}"/>
              </a:ext>
            </a:extLst>
          </p:cNvPr>
          <p:cNvSpPr/>
          <p:nvPr/>
        </p:nvSpPr>
        <p:spPr>
          <a:xfrm>
            <a:off x="6376658" y="4088074"/>
            <a:ext cx="398667" cy="159497"/>
          </a:xfrm>
          <a:prstGeom prst="rect">
            <a:avLst/>
          </a:prstGeom>
          <a:noFill/>
          <a:ln/>
        </p:spPr>
        <p:txBody>
          <a:bodyPr wrap="square" lIns="0" tIns="0" rIns="0" bIns="0" rtlCol="0" anchor="ctr"/>
          <a:lstStyle/>
          <a:p>
            <a:pPr marL="0" indent="0" algn="r">
              <a:buNone/>
            </a:pPr>
            <a:r>
              <a:rPr lang="en-US" sz="800" dirty="0">
                <a:solidFill>
                  <a:srgbClr val="4CAF50"/>
                </a:solidFill>
              </a:rPr>
              <a:t>57.7%</a:t>
            </a:r>
            <a:endParaRPr lang="en-US" sz="800" dirty="0"/>
          </a:p>
        </p:txBody>
      </p:sp>
      <p:sp>
        <p:nvSpPr>
          <p:cNvPr id="23" name="Text 8">
            <a:extLst>
              <a:ext uri="{FF2B5EF4-FFF2-40B4-BE49-F238E27FC236}">
                <a16:creationId xmlns:a16="http://schemas.microsoft.com/office/drawing/2014/main" id="{D34EEC2E-3C8C-831C-A123-D01D10B94132}"/>
              </a:ext>
            </a:extLst>
          </p:cNvPr>
          <p:cNvSpPr/>
          <p:nvPr/>
        </p:nvSpPr>
        <p:spPr>
          <a:xfrm>
            <a:off x="4944259" y="4252412"/>
            <a:ext cx="736001" cy="159497"/>
          </a:xfrm>
          <a:prstGeom prst="rect">
            <a:avLst/>
          </a:prstGeom>
          <a:noFill/>
          <a:ln/>
        </p:spPr>
        <p:txBody>
          <a:bodyPr wrap="square" lIns="0" tIns="0" rIns="0" bIns="0" rtlCol="0" anchor="ctr"/>
          <a:lstStyle/>
          <a:p>
            <a:pPr marL="0" indent="0">
              <a:buNone/>
            </a:pPr>
            <a:r>
              <a:rPr lang="en-US" sz="800" dirty="0">
                <a:solidFill>
                  <a:srgbClr val="FFFFFF"/>
                </a:solidFill>
              </a:rPr>
              <a:t>Occasional</a:t>
            </a:r>
            <a:endParaRPr lang="en-US" sz="800" dirty="0"/>
          </a:p>
        </p:txBody>
      </p:sp>
      <p:sp>
        <p:nvSpPr>
          <p:cNvPr id="25" name="Shape 9">
            <a:extLst>
              <a:ext uri="{FF2B5EF4-FFF2-40B4-BE49-F238E27FC236}">
                <a16:creationId xmlns:a16="http://schemas.microsoft.com/office/drawing/2014/main" id="{5F3A8EF4-6E1D-E43F-5647-280E1458D095}"/>
              </a:ext>
            </a:extLst>
          </p:cNvPr>
          <p:cNvSpPr/>
          <p:nvPr/>
        </p:nvSpPr>
        <p:spPr>
          <a:xfrm>
            <a:off x="5490361" y="4279844"/>
            <a:ext cx="403852" cy="115998"/>
          </a:xfrm>
          <a:prstGeom prst="roundRect">
            <a:avLst>
              <a:gd name="adj" fmla="val 25000"/>
            </a:avLst>
          </a:prstGeom>
          <a:solidFill>
            <a:srgbClr val="00BCD4"/>
          </a:solidFill>
          <a:ln/>
        </p:spPr>
        <p:txBody>
          <a:bodyPr/>
          <a:lstStyle/>
          <a:p>
            <a:endParaRPr lang="en-MY" sz="1600"/>
          </a:p>
        </p:txBody>
      </p:sp>
      <p:sp>
        <p:nvSpPr>
          <p:cNvPr id="27" name="Text 10">
            <a:extLst>
              <a:ext uri="{FF2B5EF4-FFF2-40B4-BE49-F238E27FC236}">
                <a16:creationId xmlns:a16="http://schemas.microsoft.com/office/drawing/2014/main" id="{A84B0D00-5271-B835-700D-C0FF8156A99C}"/>
              </a:ext>
            </a:extLst>
          </p:cNvPr>
          <p:cNvSpPr/>
          <p:nvPr/>
        </p:nvSpPr>
        <p:spPr>
          <a:xfrm>
            <a:off x="6376658" y="4252412"/>
            <a:ext cx="398667" cy="159497"/>
          </a:xfrm>
          <a:prstGeom prst="rect">
            <a:avLst/>
          </a:prstGeom>
          <a:noFill/>
          <a:ln/>
        </p:spPr>
        <p:txBody>
          <a:bodyPr wrap="square" lIns="0" tIns="0" rIns="0" bIns="0" rtlCol="0" anchor="ctr"/>
          <a:lstStyle/>
          <a:p>
            <a:pPr marL="0" indent="0" algn="r">
              <a:buNone/>
            </a:pPr>
            <a:r>
              <a:rPr lang="en-US" sz="800" dirty="0">
                <a:solidFill>
                  <a:srgbClr val="00BCD4"/>
                </a:solidFill>
              </a:rPr>
              <a:t>23.37%</a:t>
            </a:r>
            <a:endParaRPr lang="en-US" sz="800" dirty="0"/>
          </a:p>
        </p:txBody>
      </p:sp>
      <p:sp>
        <p:nvSpPr>
          <p:cNvPr id="29" name="Text 11">
            <a:extLst>
              <a:ext uri="{FF2B5EF4-FFF2-40B4-BE49-F238E27FC236}">
                <a16:creationId xmlns:a16="http://schemas.microsoft.com/office/drawing/2014/main" id="{9BFA05BF-2D49-76BF-C4D3-51E377765926}"/>
              </a:ext>
            </a:extLst>
          </p:cNvPr>
          <p:cNvSpPr/>
          <p:nvPr/>
        </p:nvSpPr>
        <p:spPr>
          <a:xfrm>
            <a:off x="4944259" y="4416750"/>
            <a:ext cx="736001" cy="159497"/>
          </a:xfrm>
          <a:prstGeom prst="rect">
            <a:avLst/>
          </a:prstGeom>
          <a:noFill/>
          <a:ln/>
        </p:spPr>
        <p:txBody>
          <a:bodyPr wrap="square" lIns="0" tIns="0" rIns="0" bIns="0" rtlCol="0" anchor="ctr"/>
          <a:lstStyle/>
          <a:p>
            <a:pPr marL="0" indent="0">
              <a:buNone/>
            </a:pPr>
            <a:r>
              <a:rPr lang="en-US" sz="800" dirty="0">
                <a:solidFill>
                  <a:srgbClr val="FFFFFF"/>
                </a:solidFill>
              </a:rPr>
              <a:t>New</a:t>
            </a:r>
            <a:endParaRPr lang="en-US" sz="800" dirty="0"/>
          </a:p>
        </p:txBody>
      </p:sp>
      <p:sp>
        <p:nvSpPr>
          <p:cNvPr id="31" name="Shape 12">
            <a:extLst>
              <a:ext uri="{FF2B5EF4-FFF2-40B4-BE49-F238E27FC236}">
                <a16:creationId xmlns:a16="http://schemas.microsoft.com/office/drawing/2014/main" id="{EC19D37C-FD86-1B82-24CE-52F5C5702634}"/>
              </a:ext>
            </a:extLst>
          </p:cNvPr>
          <p:cNvSpPr/>
          <p:nvPr/>
        </p:nvSpPr>
        <p:spPr>
          <a:xfrm>
            <a:off x="5490360" y="4444182"/>
            <a:ext cx="335198" cy="115998"/>
          </a:xfrm>
          <a:prstGeom prst="roundRect">
            <a:avLst>
              <a:gd name="adj" fmla="val 25000"/>
            </a:avLst>
          </a:prstGeom>
          <a:solidFill>
            <a:srgbClr val="FFC107"/>
          </a:solidFill>
          <a:ln/>
        </p:spPr>
        <p:txBody>
          <a:bodyPr/>
          <a:lstStyle/>
          <a:p>
            <a:endParaRPr lang="en-MY" sz="1600"/>
          </a:p>
        </p:txBody>
      </p:sp>
      <p:sp>
        <p:nvSpPr>
          <p:cNvPr id="33" name="Text 13">
            <a:extLst>
              <a:ext uri="{FF2B5EF4-FFF2-40B4-BE49-F238E27FC236}">
                <a16:creationId xmlns:a16="http://schemas.microsoft.com/office/drawing/2014/main" id="{7191FE2E-749C-8DC2-EBB9-74C241AA5D77}"/>
              </a:ext>
            </a:extLst>
          </p:cNvPr>
          <p:cNvSpPr/>
          <p:nvPr/>
        </p:nvSpPr>
        <p:spPr>
          <a:xfrm>
            <a:off x="6376658" y="4416750"/>
            <a:ext cx="398667" cy="159497"/>
          </a:xfrm>
          <a:prstGeom prst="rect">
            <a:avLst/>
          </a:prstGeom>
          <a:noFill/>
          <a:ln/>
        </p:spPr>
        <p:txBody>
          <a:bodyPr wrap="square" lIns="0" tIns="0" rIns="0" bIns="0" rtlCol="0" anchor="ctr"/>
          <a:lstStyle/>
          <a:p>
            <a:pPr marL="0" indent="0" algn="r">
              <a:buNone/>
            </a:pPr>
            <a:r>
              <a:rPr lang="en-US" sz="800" dirty="0">
                <a:solidFill>
                  <a:srgbClr val="FFC107"/>
                </a:solidFill>
              </a:rPr>
              <a:t>18.72%</a:t>
            </a:r>
            <a:endParaRPr lang="en-US" sz="800" dirty="0"/>
          </a:p>
        </p:txBody>
      </p:sp>
      <p:sp>
        <p:nvSpPr>
          <p:cNvPr id="35" name="Text 14">
            <a:extLst>
              <a:ext uri="{FF2B5EF4-FFF2-40B4-BE49-F238E27FC236}">
                <a16:creationId xmlns:a16="http://schemas.microsoft.com/office/drawing/2014/main" id="{D87FB49C-681E-8FF8-E3DB-5981493D2B50}"/>
              </a:ext>
            </a:extLst>
          </p:cNvPr>
          <p:cNvSpPr/>
          <p:nvPr/>
        </p:nvSpPr>
        <p:spPr>
          <a:xfrm>
            <a:off x="4944259" y="4581088"/>
            <a:ext cx="736001" cy="159497"/>
          </a:xfrm>
          <a:prstGeom prst="rect">
            <a:avLst/>
          </a:prstGeom>
          <a:noFill/>
          <a:ln/>
        </p:spPr>
        <p:txBody>
          <a:bodyPr wrap="square" lIns="0" tIns="0" rIns="0" bIns="0" rtlCol="0" anchor="ctr"/>
          <a:lstStyle/>
          <a:p>
            <a:pPr marL="0" indent="0">
              <a:buNone/>
            </a:pPr>
            <a:r>
              <a:rPr lang="en-US" sz="800" dirty="0">
                <a:solidFill>
                  <a:srgbClr val="FFFFFF"/>
                </a:solidFill>
              </a:rPr>
              <a:t>At Risk</a:t>
            </a:r>
            <a:endParaRPr lang="en-US" sz="800" dirty="0"/>
          </a:p>
        </p:txBody>
      </p:sp>
      <p:sp>
        <p:nvSpPr>
          <p:cNvPr id="38" name="Shape 15">
            <a:extLst>
              <a:ext uri="{FF2B5EF4-FFF2-40B4-BE49-F238E27FC236}">
                <a16:creationId xmlns:a16="http://schemas.microsoft.com/office/drawing/2014/main" id="{A7C7DD2A-184C-416D-10E6-802F59C34A07}"/>
              </a:ext>
            </a:extLst>
          </p:cNvPr>
          <p:cNvSpPr/>
          <p:nvPr/>
        </p:nvSpPr>
        <p:spPr>
          <a:xfrm>
            <a:off x="5490360" y="4608520"/>
            <a:ext cx="282697" cy="115998"/>
          </a:xfrm>
          <a:prstGeom prst="roundRect">
            <a:avLst>
              <a:gd name="adj" fmla="val 25000"/>
            </a:avLst>
          </a:prstGeom>
          <a:solidFill>
            <a:srgbClr val="FF6B35"/>
          </a:solidFill>
          <a:ln/>
        </p:spPr>
        <p:txBody>
          <a:bodyPr/>
          <a:lstStyle/>
          <a:p>
            <a:endParaRPr lang="en-MY" sz="1600"/>
          </a:p>
        </p:txBody>
      </p:sp>
      <p:sp>
        <p:nvSpPr>
          <p:cNvPr id="42" name="Text 16">
            <a:extLst>
              <a:ext uri="{FF2B5EF4-FFF2-40B4-BE49-F238E27FC236}">
                <a16:creationId xmlns:a16="http://schemas.microsoft.com/office/drawing/2014/main" id="{B357F24B-FF78-3665-B7A3-6744242F4D44}"/>
              </a:ext>
            </a:extLst>
          </p:cNvPr>
          <p:cNvSpPr/>
          <p:nvPr/>
        </p:nvSpPr>
        <p:spPr>
          <a:xfrm>
            <a:off x="6376658" y="4581088"/>
            <a:ext cx="398667" cy="159497"/>
          </a:xfrm>
          <a:prstGeom prst="rect">
            <a:avLst/>
          </a:prstGeom>
          <a:noFill/>
          <a:ln/>
        </p:spPr>
        <p:txBody>
          <a:bodyPr wrap="square" lIns="0" tIns="0" rIns="0" bIns="0" rtlCol="0" anchor="ctr"/>
          <a:lstStyle/>
          <a:p>
            <a:pPr marL="0" indent="0" algn="r">
              <a:buNone/>
            </a:pPr>
            <a:r>
              <a:rPr lang="en-US" sz="800" dirty="0">
                <a:solidFill>
                  <a:srgbClr val="FF6B35"/>
                </a:solidFill>
              </a:rPr>
              <a:t>~0.1%+</a:t>
            </a:r>
            <a:endParaRPr lang="en-US" sz="800" dirty="0"/>
          </a:p>
        </p:txBody>
      </p:sp>
      <p:sp>
        <p:nvSpPr>
          <p:cNvPr id="45" name="Text 17">
            <a:extLst>
              <a:ext uri="{FF2B5EF4-FFF2-40B4-BE49-F238E27FC236}">
                <a16:creationId xmlns:a16="http://schemas.microsoft.com/office/drawing/2014/main" id="{056693BA-4BDC-8F71-2555-89629A4A8761}"/>
              </a:ext>
            </a:extLst>
          </p:cNvPr>
          <p:cNvSpPr/>
          <p:nvPr/>
        </p:nvSpPr>
        <p:spPr>
          <a:xfrm>
            <a:off x="4944259" y="4745426"/>
            <a:ext cx="736001" cy="159497"/>
          </a:xfrm>
          <a:prstGeom prst="rect">
            <a:avLst/>
          </a:prstGeom>
          <a:noFill/>
          <a:ln/>
        </p:spPr>
        <p:txBody>
          <a:bodyPr wrap="square" lIns="0" tIns="0" rIns="0" bIns="0" rtlCol="0" anchor="ctr"/>
          <a:lstStyle/>
          <a:p>
            <a:pPr marL="0" indent="0">
              <a:buNone/>
            </a:pPr>
            <a:r>
              <a:rPr lang="en-US" sz="800" dirty="0">
                <a:solidFill>
                  <a:srgbClr val="FFFFFF"/>
                </a:solidFill>
              </a:rPr>
              <a:t>High Value</a:t>
            </a:r>
            <a:endParaRPr lang="en-US" sz="800" dirty="0"/>
          </a:p>
        </p:txBody>
      </p:sp>
      <p:sp>
        <p:nvSpPr>
          <p:cNvPr id="48" name="Shape 18">
            <a:extLst>
              <a:ext uri="{FF2B5EF4-FFF2-40B4-BE49-F238E27FC236}">
                <a16:creationId xmlns:a16="http://schemas.microsoft.com/office/drawing/2014/main" id="{143A7CE8-425F-BF1D-0F4B-2B511E0C72FF}"/>
              </a:ext>
            </a:extLst>
          </p:cNvPr>
          <p:cNvSpPr/>
          <p:nvPr/>
        </p:nvSpPr>
        <p:spPr>
          <a:xfrm>
            <a:off x="5490360" y="4772858"/>
            <a:ext cx="52045" cy="115998"/>
          </a:xfrm>
          <a:prstGeom prst="roundRect">
            <a:avLst>
              <a:gd name="adj" fmla="val 40000"/>
            </a:avLst>
          </a:prstGeom>
          <a:solidFill>
            <a:srgbClr val="FFFFFF"/>
          </a:solidFill>
          <a:ln/>
        </p:spPr>
        <p:txBody>
          <a:bodyPr/>
          <a:lstStyle/>
          <a:p>
            <a:endParaRPr lang="en-MY" sz="1600"/>
          </a:p>
        </p:txBody>
      </p:sp>
      <p:sp>
        <p:nvSpPr>
          <p:cNvPr id="51" name="Text 19">
            <a:extLst>
              <a:ext uri="{FF2B5EF4-FFF2-40B4-BE49-F238E27FC236}">
                <a16:creationId xmlns:a16="http://schemas.microsoft.com/office/drawing/2014/main" id="{0671EFBD-1FA6-5770-558E-893EC698B33E}"/>
              </a:ext>
            </a:extLst>
          </p:cNvPr>
          <p:cNvSpPr/>
          <p:nvPr/>
        </p:nvSpPr>
        <p:spPr>
          <a:xfrm>
            <a:off x="6376658" y="4745426"/>
            <a:ext cx="398667" cy="159497"/>
          </a:xfrm>
          <a:prstGeom prst="rect">
            <a:avLst/>
          </a:prstGeom>
          <a:noFill/>
          <a:ln/>
        </p:spPr>
        <p:txBody>
          <a:bodyPr wrap="square" lIns="0" tIns="0" rIns="0" bIns="0" rtlCol="0" anchor="ctr"/>
          <a:lstStyle/>
          <a:p>
            <a:pPr marL="0" indent="0" algn="r">
              <a:buNone/>
            </a:pPr>
            <a:r>
              <a:rPr lang="en-US" sz="800" dirty="0">
                <a:solidFill>
                  <a:srgbClr val="FFFFFF"/>
                </a:solidFill>
              </a:rPr>
              <a:t>0.1%</a:t>
            </a:r>
            <a:endParaRPr lang="en-US" sz="800" dirty="0"/>
          </a:p>
        </p:txBody>
      </p:sp>
      <p:sp>
        <p:nvSpPr>
          <p:cNvPr id="57" name="Shape 31">
            <a:extLst>
              <a:ext uri="{FF2B5EF4-FFF2-40B4-BE49-F238E27FC236}">
                <a16:creationId xmlns:a16="http://schemas.microsoft.com/office/drawing/2014/main" id="{5435A01A-551A-BE18-9484-698F065B0C3C}"/>
              </a:ext>
            </a:extLst>
          </p:cNvPr>
          <p:cNvSpPr/>
          <p:nvPr/>
        </p:nvSpPr>
        <p:spPr>
          <a:xfrm>
            <a:off x="6948196" y="3805143"/>
            <a:ext cx="2047774" cy="1216141"/>
          </a:xfrm>
          <a:prstGeom prst="roundRect">
            <a:avLst>
              <a:gd name="adj" fmla="val 6857"/>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60" name="Text 31">
            <a:extLst>
              <a:ext uri="{FF2B5EF4-FFF2-40B4-BE49-F238E27FC236}">
                <a16:creationId xmlns:a16="http://schemas.microsoft.com/office/drawing/2014/main" id="{F60601F1-58A5-4DC2-F90E-08CF8393413E}"/>
              </a:ext>
            </a:extLst>
          </p:cNvPr>
          <p:cNvSpPr/>
          <p:nvPr/>
        </p:nvSpPr>
        <p:spPr>
          <a:xfrm>
            <a:off x="7066695" y="3941064"/>
            <a:ext cx="1848705" cy="173736"/>
          </a:xfrm>
          <a:prstGeom prst="rect">
            <a:avLst/>
          </a:prstGeom>
          <a:noFill/>
          <a:ln/>
        </p:spPr>
        <p:txBody>
          <a:bodyPr wrap="square" lIns="0" tIns="0" rIns="0" bIns="0" rtlCol="0" anchor="ctr"/>
          <a:lstStyle/>
          <a:p>
            <a:pPr marL="0" indent="0">
              <a:buNone/>
            </a:pPr>
            <a:r>
              <a:rPr lang="en-US" sz="800" b="1" dirty="0">
                <a:solidFill>
                  <a:srgbClr val="FFFFFF"/>
                </a:solidFill>
              </a:rPr>
              <a:t>Total CLV Flow: Seller Tier → Customer Segment → Churn Risk Band</a:t>
            </a:r>
            <a:endParaRPr lang="en-US" sz="800" dirty="0"/>
          </a:p>
        </p:txBody>
      </p:sp>
      <p:sp>
        <p:nvSpPr>
          <p:cNvPr id="65" name="Text 32">
            <a:extLst>
              <a:ext uri="{FF2B5EF4-FFF2-40B4-BE49-F238E27FC236}">
                <a16:creationId xmlns:a16="http://schemas.microsoft.com/office/drawing/2014/main" id="{0202E044-E496-B0A6-A02E-1077BB10219A}"/>
              </a:ext>
            </a:extLst>
          </p:cNvPr>
          <p:cNvSpPr/>
          <p:nvPr/>
        </p:nvSpPr>
        <p:spPr>
          <a:xfrm>
            <a:off x="7066695" y="4180595"/>
            <a:ext cx="1645920" cy="167531"/>
          </a:xfrm>
          <a:prstGeom prst="rect">
            <a:avLst/>
          </a:prstGeom>
          <a:noFill/>
          <a:ln/>
        </p:spPr>
        <p:txBody>
          <a:bodyPr wrap="square" lIns="0" tIns="0" rIns="0" bIns="0" rtlCol="0" anchor="ctr"/>
          <a:lstStyle/>
          <a:p>
            <a:pPr marL="0" indent="0">
              <a:buNone/>
            </a:pPr>
            <a:r>
              <a:rPr lang="en-US" sz="800" b="1" dirty="0">
                <a:solidFill>
                  <a:srgbClr val="00BCD4"/>
                </a:solidFill>
              </a:rPr>
              <a:t>Platinum ($5.1M)</a:t>
            </a:r>
            <a:endParaRPr lang="en-US" sz="800" dirty="0"/>
          </a:p>
        </p:txBody>
      </p:sp>
      <p:sp>
        <p:nvSpPr>
          <p:cNvPr id="67" name="Text 33">
            <a:extLst>
              <a:ext uri="{FF2B5EF4-FFF2-40B4-BE49-F238E27FC236}">
                <a16:creationId xmlns:a16="http://schemas.microsoft.com/office/drawing/2014/main" id="{F90FDBAF-E845-19C6-FD84-8934028B2D8A}"/>
              </a:ext>
            </a:extLst>
          </p:cNvPr>
          <p:cNvSpPr/>
          <p:nvPr/>
        </p:nvSpPr>
        <p:spPr>
          <a:xfrm>
            <a:off x="7912365" y="4224135"/>
            <a:ext cx="1071460" cy="167531"/>
          </a:xfrm>
          <a:prstGeom prst="rect">
            <a:avLst/>
          </a:prstGeom>
          <a:noFill/>
          <a:ln/>
        </p:spPr>
        <p:txBody>
          <a:bodyPr wrap="square" lIns="0" tIns="0" rIns="0" bIns="0" rtlCol="0" anchor="ctr"/>
          <a:lstStyle/>
          <a:p>
            <a:pPr marL="0" indent="0">
              <a:buNone/>
            </a:pPr>
            <a:r>
              <a:rPr lang="en-US" sz="700" dirty="0">
                <a:solidFill>
                  <a:srgbClr val="B0BEC5"/>
                </a:solidFill>
              </a:rPr>
              <a:t>→ Primarily Low/Medium Risk churn</a:t>
            </a:r>
            <a:endParaRPr lang="en-US" sz="700" dirty="0"/>
          </a:p>
        </p:txBody>
      </p:sp>
      <p:sp>
        <p:nvSpPr>
          <p:cNvPr id="70" name="Text 34">
            <a:extLst>
              <a:ext uri="{FF2B5EF4-FFF2-40B4-BE49-F238E27FC236}">
                <a16:creationId xmlns:a16="http://schemas.microsoft.com/office/drawing/2014/main" id="{CB2C215F-C5B2-4C1E-0921-B511088C0024}"/>
              </a:ext>
            </a:extLst>
          </p:cNvPr>
          <p:cNvSpPr/>
          <p:nvPr/>
        </p:nvSpPr>
        <p:spPr>
          <a:xfrm>
            <a:off x="7066695" y="4479045"/>
            <a:ext cx="1645920" cy="167531"/>
          </a:xfrm>
          <a:prstGeom prst="rect">
            <a:avLst/>
          </a:prstGeom>
          <a:noFill/>
          <a:ln/>
        </p:spPr>
        <p:txBody>
          <a:bodyPr wrap="square" lIns="0" tIns="0" rIns="0" bIns="0" rtlCol="0" anchor="ctr"/>
          <a:lstStyle/>
          <a:p>
            <a:pPr marL="0" indent="0">
              <a:buNone/>
            </a:pPr>
            <a:r>
              <a:rPr lang="en-US" sz="800" b="1" dirty="0">
                <a:solidFill>
                  <a:srgbClr val="FF6B35"/>
                </a:solidFill>
              </a:rPr>
              <a:t>Bronze ($3.6M)</a:t>
            </a:r>
            <a:endParaRPr lang="en-US" sz="800" dirty="0"/>
          </a:p>
        </p:txBody>
      </p:sp>
      <p:sp>
        <p:nvSpPr>
          <p:cNvPr id="72" name="Text 35">
            <a:extLst>
              <a:ext uri="{FF2B5EF4-FFF2-40B4-BE49-F238E27FC236}">
                <a16:creationId xmlns:a16="http://schemas.microsoft.com/office/drawing/2014/main" id="{D3435A25-42A8-9825-FAFF-82BF8CD36009}"/>
              </a:ext>
            </a:extLst>
          </p:cNvPr>
          <p:cNvSpPr/>
          <p:nvPr/>
        </p:nvSpPr>
        <p:spPr>
          <a:xfrm>
            <a:off x="7912366" y="4479045"/>
            <a:ext cx="947052" cy="167531"/>
          </a:xfrm>
          <a:prstGeom prst="rect">
            <a:avLst/>
          </a:prstGeom>
          <a:noFill/>
          <a:ln/>
        </p:spPr>
        <p:txBody>
          <a:bodyPr wrap="square" lIns="0" tIns="0" rIns="0" bIns="0" rtlCol="0" anchor="ctr"/>
          <a:lstStyle/>
          <a:p>
            <a:pPr marL="0" indent="0">
              <a:buNone/>
            </a:pPr>
            <a:r>
              <a:rPr lang="en-US" sz="700" dirty="0">
                <a:solidFill>
                  <a:srgbClr val="B0BEC5"/>
                </a:solidFill>
              </a:rPr>
              <a:t>→ Spread across all risk levels incl. High Risk</a:t>
            </a:r>
            <a:endParaRPr lang="en-US" sz="700" dirty="0"/>
          </a:p>
        </p:txBody>
      </p:sp>
      <p:sp>
        <p:nvSpPr>
          <p:cNvPr id="77" name="Text 36">
            <a:extLst>
              <a:ext uri="{FF2B5EF4-FFF2-40B4-BE49-F238E27FC236}">
                <a16:creationId xmlns:a16="http://schemas.microsoft.com/office/drawing/2014/main" id="{2F95DF43-F923-3789-B126-9077B4D202C9}"/>
              </a:ext>
            </a:extLst>
          </p:cNvPr>
          <p:cNvSpPr/>
          <p:nvPr/>
        </p:nvSpPr>
        <p:spPr>
          <a:xfrm>
            <a:off x="7066695" y="4752616"/>
            <a:ext cx="858809" cy="167531"/>
          </a:xfrm>
          <a:prstGeom prst="rect">
            <a:avLst/>
          </a:prstGeom>
          <a:noFill/>
          <a:ln/>
        </p:spPr>
        <p:txBody>
          <a:bodyPr wrap="square" lIns="0" tIns="0" rIns="0" bIns="0" rtlCol="0" anchor="ctr"/>
          <a:lstStyle/>
          <a:p>
            <a:pPr marL="0" indent="0">
              <a:buNone/>
            </a:pPr>
            <a:r>
              <a:rPr lang="en-US" sz="800" b="1" dirty="0">
                <a:solidFill>
                  <a:srgbClr val="FFC107"/>
                </a:solidFill>
              </a:rPr>
              <a:t>Gold ($4.0M)</a:t>
            </a:r>
            <a:endParaRPr lang="en-US" sz="800" dirty="0"/>
          </a:p>
        </p:txBody>
      </p:sp>
      <p:sp>
        <p:nvSpPr>
          <p:cNvPr id="80" name="Text 37">
            <a:extLst>
              <a:ext uri="{FF2B5EF4-FFF2-40B4-BE49-F238E27FC236}">
                <a16:creationId xmlns:a16="http://schemas.microsoft.com/office/drawing/2014/main" id="{5E8C6330-77A1-E5D2-586E-1F612088E130}"/>
              </a:ext>
            </a:extLst>
          </p:cNvPr>
          <p:cNvSpPr/>
          <p:nvPr/>
        </p:nvSpPr>
        <p:spPr>
          <a:xfrm>
            <a:off x="7912365" y="4752616"/>
            <a:ext cx="1121223" cy="167531"/>
          </a:xfrm>
          <a:prstGeom prst="rect">
            <a:avLst/>
          </a:prstGeom>
          <a:noFill/>
          <a:ln/>
        </p:spPr>
        <p:txBody>
          <a:bodyPr wrap="square" lIns="0" tIns="0" rIns="0" bIns="0" rtlCol="0" anchor="ctr"/>
          <a:lstStyle/>
          <a:p>
            <a:pPr marL="0" indent="0">
              <a:buNone/>
            </a:pPr>
            <a:r>
              <a:rPr lang="en-US" sz="700" dirty="0">
                <a:solidFill>
                  <a:srgbClr val="B0BEC5"/>
                </a:solidFill>
              </a:rPr>
              <a:t>→ Balanced distribution across segments</a:t>
            </a:r>
            <a:endParaRPr lang="en-US" sz="700" dirty="0"/>
          </a:p>
        </p:txBody>
      </p:sp>
      <p:sp>
        <p:nvSpPr>
          <p:cNvPr id="83" name="TextBox 82">
            <a:extLst>
              <a:ext uri="{FF2B5EF4-FFF2-40B4-BE49-F238E27FC236}">
                <a16:creationId xmlns:a16="http://schemas.microsoft.com/office/drawing/2014/main" id="{F6D8B0A7-F5E9-97EF-D1EF-CC18374782D9}"/>
              </a:ext>
            </a:extLst>
          </p:cNvPr>
          <p:cNvSpPr txBox="1"/>
          <p:nvPr/>
        </p:nvSpPr>
        <p:spPr>
          <a:xfrm>
            <a:off x="4841172" y="3859827"/>
            <a:ext cx="1358363" cy="230832"/>
          </a:xfrm>
          <a:prstGeom prst="rect">
            <a:avLst/>
          </a:prstGeom>
          <a:noFill/>
        </p:spPr>
        <p:txBody>
          <a:bodyPr wrap="square">
            <a:spAutoFit/>
          </a:bodyPr>
          <a:lstStyle/>
          <a:p>
            <a:pPr marL="0" indent="0">
              <a:buNone/>
            </a:pPr>
            <a:r>
              <a:rPr lang="en-US" sz="900" b="1" dirty="0">
                <a:solidFill>
                  <a:srgbClr val="FFFFFF"/>
                </a:solidFill>
              </a:rPr>
              <a:t>Customer Segments</a:t>
            </a:r>
          </a:p>
        </p:txBody>
      </p:sp>
    </p:spTree>
    <p:extLst>
      <p:ext uri="{BB962C8B-B14F-4D97-AF65-F5344CB8AC3E}">
        <p14:creationId xmlns:p14="http://schemas.microsoft.com/office/powerpoint/2010/main" val="3689865313"/>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B1929"/>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11" name="Shape 9"/>
          <p:cNvSpPr/>
          <p:nvPr/>
        </p:nvSpPr>
        <p:spPr>
          <a:xfrm>
            <a:off x="228600" y="987552"/>
            <a:ext cx="822960" cy="274320"/>
          </a:xfrm>
          <a:prstGeom prst="roundRect">
            <a:avLst>
              <a:gd name="adj" fmla="val 13333"/>
            </a:avLst>
          </a:prstGeom>
          <a:solidFill>
            <a:srgbClr val="EF6820"/>
          </a:solidFill>
          <a:ln w="12700">
            <a:solidFill>
              <a:srgbClr val="EF6820"/>
            </a:solidFill>
            <a:prstDash val="solid"/>
          </a:ln>
        </p:spPr>
        <p:txBody>
          <a:bodyPr/>
          <a:lstStyle/>
          <a:p>
            <a:endParaRPr lang="en-MY"/>
          </a:p>
        </p:txBody>
      </p:sp>
      <p:sp>
        <p:nvSpPr>
          <p:cNvPr id="12" name="Text 10"/>
          <p:cNvSpPr/>
          <p:nvPr/>
        </p:nvSpPr>
        <p:spPr>
          <a:xfrm>
            <a:off x="228600" y="987552"/>
            <a:ext cx="82296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WHO</a:t>
            </a:r>
            <a:endParaRPr lang="en-US" sz="800" dirty="0"/>
          </a:p>
        </p:txBody>
      </p:sp>
      <p:sp>
        <p:nvSpPr>
          <p:cNvPr id="13" name="Shape 11"/>
          <p:cNvSpPr/>
          <p:nvPr/>
        </p:nvSpPr>
        <p:spPr>
          <a:xfrm>
            <a:off x="1097280" y="987552"/>
            <a:ext cx="1005840" cy="274320"/>
          </a:xfrm>
          <a:prstGeom prst="roundRect">
            <a:avLst>
              <a:gd name="adj" fmla="val 13333"/>
            </a:avLst>
          </a:prstGeom>
          <a:solidFill>
            <a:srgbClr val="EF6820"/>
          </a:solidFill>
          <a:ln w="12700">
            <a:solidFill>
              <a:srgbClr val="EF6820"/>
            </a:solidFill>
            <a:prstDash val="solid"/>
          </a:ln>
        </p:spPr>
        <p:txBody>
          <a:bodyPr/>
          <a:lstStyle/>
          <a:p>
            <a:endParaRPr lang="en-MY"/>
          </a:p>
        </p:txBody>
      </p:sp>
      <p:sp>
        <p:nvSpPr>
          <p:cNvPr id="14" name="Text 12"/>
          <p:cNvSpPr/>
          <p:nvPr/>
        </p:nvSpPr>
        <p:spPr>
          <a:xfrm>
            <a:off x="1097280" y="987552"/>
            <a:ext cx="100584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a:t>
            </a:r>
            <a:endParaRPr lang="en-US" sz="800" dirty="0"/>
          </a:p>
        </p:txBody>
      </p:sp>
      <p:sp>
        <p:nvSpPr>
          <p:cNvPr id="15" name="Shape 13"/>
          <p:cNvSpPr/>
          <p:nvPr/>
        </p:nvSpPr>
        <p:spPr>
          <a:xfrm>
            <a:off x="2148840" y="987552"/>
            <a:ext cx="2971800" cy="274320"/>
          </a:xfrm>
          <a:prstGeom prst="roundRect">
            <a:avLst>
              <a:gd name="adj" fmla="val 13333"/>
            </a:avLst>
          </a:prstGeom>
          <a:solidFill>
            <a:srgbClr val="EF6820"/>
          </a:solidFill>
          <a:ln w="12700">
            <a:solidFill>
              <a:srgbClr val="EF6820"/>
            </a:solidFill>
            <a:prstDash val="solid"/>
          </a:ln>
        </p:spPr>
        <p:txBody>
          <a:bodyPr/>
          <a:lstStyle/>
          <a:p>
            <a:endParaRPr lang="en-MY"/>
          </a:p>
        </p:txBody>
      </p:sp>
      <p:sp>
        <p:nvSpPr>
          <p:cNvPr id="16" name="Text 14"/>
          <p:cNvSpPr/>
          <p:nvPr/>
        </p:nvSpPr>
        <p:spPr>
          <a:xfrm>
            <a:off x="2148840" y="987552"/>
            <a:ext cx="297180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WHAT ACTION</a:t>
            </a:r>
            <a:endParaRPr lang="en-US" sz="800" dirty="0"/>
          </a:p>
        </p:txBody>
      </p:sp>
      <p:sp>
        <p:nvSpPr>
          <p:cNvPr id="17" name="Shape 15"/>
          <p:cNvSpPr/>
          <p:nvPr/>
        </p:nvSpPr>
        <p:spPr>
          <a:xfrm>
            <a:off x="5166360" y="987552"/>
            <a:ext cx="2240280" cy="274320"/>
          </a:xfrm>
          <a:prstGeom prst="roundRect">
            <a:avLst>
              <a:gd name="adj" fmla="val 13333"/>
            </a:avLst>
          </a:prstGeom>
          <a:solidFill>
            <a:srgbClr val="EF6820"/>
          </a:solidFill>
          <a:ln w="12700">
            <a:solidFill>
              <a:srgbClr val="EF6820"/>
            </a:solidFill>
            <a:prstDash val="solid"/>
          </a:ln>
        </p:spPr>
        <p:txBody>
          <a:bodyPr/>
          <a:lstStyle/>
          <a:p>
            <a:endParaRPr lang="en-MY"/>
          </a:p>
        </p:txBody>
      </p:sp>
      <p:sp>
        <p:nvSpPr>
          <p:cNvPr id="18" name="Text 16"/>
          <p:cNvSpPr/>
          <p:nvPr/>
        </p:nvSpPr>
        <p:spPr>
          <a:xfrm>
            <a:off x="5166360" y="987552"/>
            <a:ext cx="224028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WHY (evidence)</a:t>
            </a:r>
            <a:endParaRPr lang="en-US" sz="800" dirty="0"/>
          </a:p>
        </p:txBody>
      </p:sp>
      <p:sp>
        <p:nvSpPr>
          <p:cNvPr id="19" name="Shape 17"/>
          <p:cNvSpPr/>
          <p:nvPr/>
        </p:nvSpPr>
        <p:spPr>
          <a:xfrm>
            <a:off x="7452360" y="987552"/>
            <a:ext cx="1481328" cy="274320"/>
          </a:xfrm>
          <a:prstGeom prst="roundRect">
            <a:avLst>
              <a:gd name="adj" fmla="val 13333"/>
            </a:avLst>
          </a:prstGeom>
          <a:solidFill>
            <a:srgbClr val="EF6820"/>
          </a:solidFill>
          <a:ln w="12700">
            <a:solidFill>
              <a:srgbClr val="EF6820"/>
            </a:solidFill>
            <a:prstDash val="solid"/>
          </a:ln>
        </p:spPr>
        <p:txBody>
          <a:bodyPr/>
          <a:lstStyle/>
          <a:p>
            <a:endParaRPr lang="en-MY"/>
          </a:p>
        </p:txBody>
      </p:sp>
      <p:sp>
        <p:nvSpPr>
          <p:cNvPr id="20" name="Text 18"/>
          <p:cNvSpPr/>
          <p:nvPr/>
        </p:nvSpPr>
        <p:spPr>
          <a:xfrm>
            <a:off x="7452360" y="987552"/>
            <a:ext cx="148132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PRIORITY</a:t>
            </a:r>
            <a:endParaRPr lang="en-US" sz="800" dirty="0"/>
          </a:p>
        </p:txBody>
      </p:sp>
      <p:sp>
        <p:nvSpPr>
          <p:cNvPr id="21" name="Shape 19"/>
          <p:cNvSpPr/>
          <p:nvPr/>
        </p:nvSpPr>
        <p:spPr>
          <a:xfrm>
            <a:off x="228600" y="1325880"/>
            <a:ext cx="8705088" cy="566928"/>
          </a:xfrm>
          <a:prstGeom prst="rect">
            <a:avLst/>
          </a:prstGeom>
          <a:solidFill>
            <a:srgbClr val="132338"/>
          </a:solidFill>
          <a:ln w="3810">
            <a:solidFill>
              <a:srgbClr val="1E3A5F"/>
            </a:solidFill>
            <a:prstDash val="solid"/>
          </a:ln>
        </p:spPr>
        <p:txBody>
          <a:bodyPr/>
          <a:lstStyle/>
          <a:p>
            <a:endParaRPr lang="en-MY"/>
          </a:p>
        </p:txBody>
      </p:sp>
      <p:sp>
        <p:nvSpPr>
          <p:cNvPr id="22" name="Text 20"/>
          <p:cNvSpPr/>
          <p:nvPr/>
        </p:nvSpPr>
        <p:spPr>
          <a:xfrm>
            <a:off x="228600" y="1325880"/>
            <a:ext cx="822960" cy="566928"/>
          </a:xfrm>
          <a:prstGeom prst="rect">
            <a:avLst/>
          </a:prstGeom>
          <a:noFill/>
          <a:ln/>
        </p:spPr>
        <p:txBody>
          <a:bodyPr wrap="square" lIns="0" tIns="0" rIns="0" bIns="0" rtlCol="0" anchor="ctr"/>
          <a:lstStyle/>
          <a:p>
            <a:pPr marL="0" indent="0" algn="ctr">
              <a:buNone/>
            </a:pPr>
            <a:r>
              <a:rPr lang="en-US" sz="850" b="1" dirty="0">
                <a:solidFill>
                  <a:srgbClr val="EF6820"/>
                </a:solidFill>
                <a:latin typeface="Calibri" pitchFamily="34" charset="0"/>
                <a:ea typeface="Calibri" pitchFamily="34" charset="-122"/>
                <a:cs typeface="Calibri" pitchFamily="34" charset="-120"/>
              </a:rPr>
              <a:t>Logistics</a:t>
            </a:r>
            <a:endParaRPr lang="en-US" sz="850" dirty="0"/>
          </a:p>
        </p:txBody>
      </p:sp>
      <p:sp>
        <p:nvSpPr>
          <p:cNvPr id="23" name="Shape 21"/>
          <p:cNvSpPr/>
          <p:nvPr/>
        </p:nvSpPr>
        <p:spPr>
          <a:xfrm>
            <a:off x="1369568" y="1481328"/>
            <a:ext cx="457200" cy="256032"/>
          </a:xfrm>
          <a:prstGeom prst="roundRect">
            <a:avLst>
              <a:gd name="adj" fmla="val 14286"/>
            </a:avLst>
          </a:prstGeom>
          <a:solidFill>
            <a:srgbClr val="4472C4">
              <a:alpha val="70000"/>
            </a:srgbClr>
          </a:solidFill>
          <a:ln w="6350">
            <a:solidFill>
              <a:srgbClr val="4472C4"/>
            </a:solidFill>
            <a:prstDash val="solid"/>
          </a:ln>
        </p:spPr>
        <p:txBody>
          <a:bodyPr/>
          <a:lstStyle/>
          <a:p>
            <a:endParaRPr lang="en-MY"/>
          </a:p>
        </p:txBody>
      </p:sp>
      <p:sp>
        <p:nvSpPr>
          <p:cNvPr id="24" name="Text 22"/>
          <p:cNvSpPr/>
          <p:nvPr/>
        </p:nvSpPr>
        <p:spPr>
          <a:xfrm>
            <a:off x="1369568" y="1481328"/>
            <a:ext cx="4572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BO2</a:t>
            </a:r>
            <a:endParaRPr lang="en-US" sz="800" dirty="0"/>
          </a:p>
        </p:txBody>
      </p:sp>
      <p:sp>
        <p:nvSpPr>
          <p:cNvPr id="25" name="Text 23"/>
          <p:cNvSpPr/>
          <p:nvPr/>
        </p:nvSpPr>
        <p:spPr>
          <a:xfrm>
            <a:off x="2275840" y="1362456"/>
            <a:ext cx="2926080" cy="49377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Recalibrate checkout ETA 24→15 days</a:t>
            </a:r>
            <a:endParaRPr lang="en-US" sz="900" dirty="0"/>
          </a:p>
        </p:txBody>
      </p:sp>
      <p:sp>
        <p:nvSpPr>
          <p:cNvPr id="26" name="Text 24"/>
          <p:cNvSpPr/>
          <p:nvPr/>
        </p:nvSpPr>
        <p:spPr>
          <a:xfrm>
            <a:off x="5166360" y="1362456"/>
            <a:ext cx="2194560" cy="493776"/>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Already delivering in 12.5 days avg</a:t>
            </a:r>
            <a:endParaRPr lang="en-US" sz="800" dirty="0"/>
          </a:p>
        </p:txBody>
      </p:sp>
      <p:sp>
        <p:nvSpPr>
          <p:cNvPr id="27" name="Shape 25"/>
          <p:cNvSpPr/>
          <p:nvPr/>
        </p:nvSpPr>
        <p:spPr>
          <a:xfrm>
            <a:off x="7452360" y="1481328"/>
            <a:ext cx="1372985" cy="312836"/>
          </a:xfrm>
          <a:prstGeom prst="roundRect">
            <a:avLst>
              <a:gd name="adj" fmla="val 14286"/>
            </a:avLst>
          </a:prstGeom>
          <a:solidFill>
            <a:srgbClr val="F44336"/>
          </a:solidFill>
          <a:ln w="12700">
            <a:solidFill>
              <a:srgbClr val="F44336"/>
            </a:solidFill>
            <a:prstDash val="solid"/>
          </a:ln>
        </p:spPr>
        <p:txBody>
          <a:bodyPr/>
          <a:lstStyle/>
          <a:p>
            <a:endParaRPr lang="en-MY"/>
          </a:p>
        </p:txBody>
      </p:sp>
      <p:sp>
        <p:nvSpPr>
          <p:cNvPr id="28" name="Text 26"/>
          <p:cNvSpPr/>
          <p:nvPr/>
        </p:nvSpPr>
        <p:spPr>
          <a:xfrm>
            <a:off x="7452360" y="1481328"/>
            <a:ext cx="1372985" cy="31283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Immediate</a:t>
            </a:r>
            <a:endParaRPr lang="en-US" sz="750" dirty="0"/>
          </a:p>
        </p:txBody>
      </p:sp>
      <p:sp>
        <p:nvSpPr>
          <p:cNvPr id="29" name="Shape 27"/>
          <p:cNvSpPr/>
          <p:nvPr/>
        </p:nvSpPr>
        <p:spPr>
          <a:xfrm>
            <a:off x="228600" y="1920240"/>
            <a:ext cx="8705088" cy="566928"/>
          </a:xfrm>
          <a:prstGeom prst="rect">
            <a:avLst/>
          </a:prstGeom>
          <a:solidFill>
            <a:srgbClr val="0F1E30"/>
          </a:solidFill>
          <a:ln w="3810">
            <a:solidFill>
              <a:srgbClr val="1E3A5F"/>
            </a:solidFill>
            <a:prstDash val="solid"/>
          </a:ln>
        </p:spPr>
        <p:txBody>
          <a:bodyPr/>
          <a:lstStyle/>
          <a:p>
            <a:endParaRPr lang="en-MY"/>
          </a:p>
        </p:txBody>
      </p:sp>
      <p:sp>
        <p:nvSpPr>
          <p:cNvPr id="30" name="Text 28"/>
          <p:cNvSpPr/>
          <p:nvPr/>
        </p:nvSpPr>
        <p:spPr>
          <a:xfrm>
            <a:off x="228600" y="1920240"/>
            <a:ext cx="822960" cy="566928"/>
          </a:xfrm>
          <a:prstGeom prst="rect">
            <a:avLst/>
          </a:prstGeom>
          <a:noFill/>
          <a:ln/>
        </p:spPr>
        <p:txBody>
          <a:bodyPr wrap="square" lIns="0" tIns="0" rIns="0" bIns="0" rtlCol="0" anchor="ctr"/>
          <a:lstStyle/>
          <a:p>
            <a:pPr marL="0" indent="0" algn="ctr">
              <a:buNone/>
            </a:pPr>
            <a:r>
              <a:rPr lang="en-US" sz="850" b="1" dirty="0">
                <a:solidFill>
                  <a:srgbClr val="EF6820"/>
                </a:solidFill>
                <a:latin typeface="Calibri" pitchFamily="34" charset="0"/>
                <a:ea typeface="Calibri" pitchFamily="34" charset="-122"/>
                <a:cs typeface="Calibri" pitchFamily="34" charset="-120"/>
              </a:rPr>
              <a:t>Logistics</a:t>
            </a:r>
            <a:endParaRPr lang="en-US" sz="850" dirty="0"/>
          </a:p>
        </p:txBody>
      </p:sp>
      <p:sp>
        <p:nvSpPr>
          <p:cNvPr id="31" name="Shape 29"/>
          <p:cNvSpPr/>
          <p:nvPr/>
        </p:nvSpPr>
        <p:spPr>
          <a:xfrm>
            <a:off x="1369568" y="2075688"/>
            <a:ext cx="457200" cy="256032"/>
          </a:xfrm>
          <a:prstGeom prst="roundRect">
            <a:avLst>
              <a:gd name="adj" fmla="val 14286"/>
            </a:avLst>
          </a:prstGeom>
          <a:solidFill>
            <a:srgbClr val="4472C4">
              <a:alpha val="70000"/>
            </a:srgbClr>
          </a:solidFill>
          <a:ln w="6350">
            <a:solidFill>
              <a:srgbClr val="4472C4"/>
            </a:solidFill>
            <a:prstDash val="solid"/>
          </a:ln>
        </p:spPr>
        <p:txBody>
          <a:bodyPr/>
          <a:lstStyle/>
          <a:p>
            <a:endParaRPr lang="en-MY"/>
          </a:p>
        </p:txBody>
      </p:sp>
      <p:sp>
        <p:nvSpPr>
          <p:cNvPr id="32" name="Text 30"/>
          <p:cNvSpPr/>
          <p:nvPr/>
        </p:nvSpPr>
        <p:spPr>
          <a:xfrm>
            <a:off x="1369568" y="2075688"/>
            <a:ext cx="4572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BO2</a:t>
            </a:r>
            <a:endParaRPr lang="en-US" sz="800" dirty="0"/>
          </a:p>
        </p:txBody>
      </p:sp>
      <p:sp>
        <p:nvSpPr>
          <p:cNvPr id="33" name="Text 31"/>
          <p:cNvSpPr/>
          <p:nvPr/>
        </p:nvSpPr>
        <p:spPr>
          <a:xfrm>
            <a:off x="2275840" y="1956816"/>
            <a:ext cx="2926080" cy="49377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Renegotiate carriers RR/AP/AL corridor</a:t>
            </a:r>
            <a:endParaRPr lang="en-US" sz="900" dirty="0"/>
          </a:p>
        </p:txBody>
      </p:sp>
      <p:sp>
        <p:nvSpPr>
          <p:cNvPr id="34" name="Text 32"/>
          <p:cNvSpPr/>
          <p:nvPr/>
        </p:nvSpPr>
        <p:spPr>
          <a:xfrm>
            <a:off x="5166360" y="1956816"/>
            <a:ext cx="2194560" cy="493776"/>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~20% late rate (2.5× platform avg). High-cost slow-delivery quadrant on State Matrix</a:t>
            </a:r>
            <a:endParaRPr lang="en-US" sz="800" dirty="0"/>
          </a:p>
        </p:txBody>
      </p:sp>
      <p:sp>
        <p:nvSpPr>
          <p:cNvPr id="35" name="Shape 33"/>
          <p:cNvSpPr/>
          <p:nvPr/>
        </p:nvSpPr>
        <p:spPr>
          <a:xfrm>
            <a:off x="7452360" y="2075688"/>
            <a:ext cx="1372985" cy="312836"/>
          </a:xfrm>
          <a:prstGeom prst="roundRect">
            <a:avLst>
              <a:gd name="adj" fmla="val 14286"/>
            </a:avLst>
          </a:prstGeom>
          <a:solidFill>
            <a:srgbClr val="F44336"/>
          </a:solidFill>
          <a:ln w="12700">
            <a:solidFill>
              <a:srgbClr val="F44336"/>
            </a:solidFill>
            <a:prstDash val="solid"/>
          </a:ln>
        </p:spPr>
        <p:txBody>
          <a:bodyPr/>
          <a:lstStyle/>
          <a:p>
            <a:endParaRPr lang="en-MY"/>
          </a:p>
        </p:txBody>
      </p:sp>
      <p:sp>
        <p:nvSpPr>
          <p:cNvPr id="36" name="Text 34"/>
          <p:cNvSpPr/>
          <p:nvPr/>
        </p:nvSpPr>
        <p:spPr>
          <a:xfrm>
            <a:off x="7452360" y="2075688"/>
            <a:ext cx="1372985" cy="31283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Immediate</a:t>
            </a:r>
            <a:endParaRPr lang="en-US" sz="750" dirty="0"/>
          </a:p>
        </p:txBody>
      </p:sp>
      <p:sp>
        <p:nvSpPr>
          <p:cNvPr id="37" name="Shape 35"/>
          <p:cNvSpPr/>
          <p:nvPr/>
        </p:nvSpPr>
        <p:spPr>
          <a:xfrm>
            <a:off x="228600" y="2514600"/>
            <a:ext cx="8705088" cy="566928"/>
          </a:xfrm>
          <a:prstGeom prst="rect">
            <a:avLst/>
          </a:prstGeom>
          <a:solidFill>
            <a:srgbClr val="132338"/>
          </a:solidFill>
          <a:ln w="3810">
            <a:solidFill>
              <a:srgbClr val="1E3A5F"/>
            </a:solidFill>
            <a:prstDash val="solid"/>
          </a:ln>
        </p:spPr>
        <p:txBody>
          <a:bodyPr/>
          <a:lstStyle/>
          <a:p>
            <a:endParaRPr lang="en-MY"/>
          </a:p>
        </p:txBody>
      </p:sp>
      <p:sp>
        <p:nvSpPr>
          <p:cNvPr id="38" name="Text 36"/>
          <p:cNvSpPr/>
          <p:nvPr/>
        </p:nvSpPr>
        <p:spPr>
          <a:xfrm>
            <a:off x="228600" y="2514600"/>
            <a:ext cx="822960" cy="566928"/>
          </a:xfrm>
          <a:prstGeom prst="rect">
            <a:avLst/>
          </a:prstGeom>
          <a:noFill/>
          <a:ln/>
        </p:spPr>
        <p:txBody>
          <a:bodyPr wrap="square" lIns="0" tIns="0" rIns="0" bIns="0" rtlCol="0" anchor="ctr"/>
          <a:lstStyle/>
          <a:p>
            <a:pPr marL="0" indent="0" algn="ctr">
              <a:buNone/>
            </a:pPr>
            <a:r>
              <a:rPr lang="en-US" sz="850" b="1" dirty="0">
                <a:solidFill>
                  <a:srgbClr val="EF6820"/>
                </a:solidFill>
                <a:latin typeface="Calibri" pitchFamily="34" charset="0"/>
                <a:ea typeface="Calibri" pitchFamily="34" charset="-122"/>
                <a:cs typeface="Calibri" pitchFamily="34" charset="-120"/>
              </a:rPr>
              <a:t>Product</a:t>
            </a:r>
            <a:endParaRPr lang="en-US" sz="850" dirty="0"/>
          </a:p>
        </p:txBody>
      </p:sp>
      <p:sp>
        <p:nvSpPr>
          <p:cNvPr id="39" name="Shape 37"/>
          <p:cNvSpPr/>
          <p:nvPr/>
        </p:nvSpPr>
        <p:spPr>
          <a:xfrm>
            <a:off x="1369568" y="2670048"/>
            <a:ext cx="457200" cy="256032"/>
          </a:xfrm>
          <a:prstGeom prst="roundRect">
            <a:avLst>
              <a:gd name="adj" fmla="val 14286"/>
            </a:avLst>
          </a:prstGeom>
          <a:solidFill>
            <a:srgbClr val="4472C4">
              <a:alpha val="70000"/>
            </a:srgbClr>
          </a:solidFill>
          <a:ln w="6350">
            <a:solidFill>
              <a:srgbClr val="4472C4"/>
            </a:solidFill>
            <a:prstDash val="solid"/>
          </a:ln>
        </p:spPr>
        <p:txBody>
          <a:bodyPr/>
          <a:lstStyle/>
          <a:p>
            <a:endParaRPr lang="en-MY"/>
          </a:p>
        </p:txBody>
      </p:sp>
      <p:sp>
        <p:nvSpPr>
          <p:cNvPr id="40" name="Text 38"/>
          <p:cNvSpPr/>
          <p:nvPr/>
        </p:nvSpPr>
        <p:spPr>
          <a:xfrm>
            <a:off x="1369568" y="2670048"/>
            <a:ext cx="4572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BO1</a:t>
            </a:r>
            <a:endParaRPr lang="en-US" sz="800" dirty="0"/>
          </a:p>
        </p:txBody>
      </p:sp>
      <p:sp>
        <p:nvSpPr>
          <p:cNvPr id="41" name="Text 39"/>
          <p:cNvSpPr/>
          <p:nvPr/>
        </p:nvSpPr>
        <p:spPr>
          <a:xfrm>
            <a:off x="2275840" y="2551176"/>
            <a:ext cx="2926080" cy="49377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Boleto &amp; debit card incentive programme</a:t>
            </a:r>
            <a:endParaRPr lang="en-US" sz="900" dirty="0"/>
          </a:p>
        </p:txBody>
      </p:sp>
      <p:sp>
        <p:nvSpPr>
          <p:cNvPr id="42" name="Text 40"/>
          <p:cNvSpPr/>
          <p:nvPr/>
        </p:nvSpPr>
        <p:spPr>
          <a:xfrm>
            <a:off x="5166360" y="2551176"/>
            <a:ext cx="2194560" cy="493776"/>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78.09% credit card dependency. Single-rail infrastructure risk</a:t>
            </a:r>
            <a:endParaRPr lang="en-US" sz="800" dirty="0"/>
          </a:p>
        </p:txBody>
      </p:sp>
      <p:sp>
        <p:nvSpPr>
          <p:cNvPr id="43" name="Shape 41"/>
          <p:cNvSpPr/>
          <p:nvPr/>
        </p:nvSpPr>
        <p:spPr>
          <a:xfrm>
            <a:off x="7452360" y="2670048"/>
            <a:ext cx="1372985" cy="312836"/>
          </a:xfrm>
          <a:prstGeom prst="roundRect">
            <a:avLst>
              <a:gd name="adj" fmla="val 14286"/>
            </a:avLst>
          </a:prstGeom>
          <a:solidFill>
            <a:srgbClr val="FF9800"/>
          </a:solidFill>
          <a:ln w="12700">
            <a:solidFill>
              <a:srgbClr val="FF9800"/>
            </a:solidFill>
            <a:prstDash val="solid"/>
          </a:ln>
        </p:spPr>
        <p:txBody>
          <a:bodyPr/>
          <a:lstStyle/>
          <a:p>
            <a:endParaRPr lang="en-MY"/>
          </a:p>
        </p:txBody>
      </p:sp>
      <p:sp>
        <p:nvSpPr>
          <p:cNvPr id="44" name="Text 42"/>
          <p:cNvSpPr/>
          <p:nvPr/>
        </p:nvSpPr>
        <p:spPr>
          <a:xfrm>
            <a:off x="7452360" y="2670048"/>
            <a:ext cx="1372985" cy="31283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Medium-term</a:t>
            </a:r>
            <a:endParaRPr lang="en-US" sz="750" dirty="0"/>
          </a:p>
        </p:txBody>
      </p:sp>
      <p:sp>
        <p:nvSpPr>
          <p:cNvPr id="45" name="Shape 43"/>
          <p:cNvSpPr/>
          <p:nvPr/>
        </p:nvSpPr>
        <p:spPr>
          <a:xfrm>
            <a:off x="228600" y="3108960"/>
            <a:ext cx="8705088" cy="566928"/>
          </a:xfrm>
          <a:prstGeom prst="rect">
            <a:avLst/>
          </a:prstGeom>
          <a:solidFill>
            <a:srgbClr val="0F1E30"/>
          </a:solidFill>
          <a:ln w="3810">
            <a:solidFill>
              <a:srgbClr val="1E3A5F"/>
            </a:solidFill>
            <a:prstDash val="solid"/>
          </a:ln>
        </p:spPr>
        <p:txBody>
          <a:bodyPr/>
          <a:lstStyle/>
          <a:p>
            <a:endParaRPr lang="en-MY"/>
          </a:p>
        </p:txBody>
      </p:sp>
      <p:sp>
        <p:nvSpPr>
          <p:cNvPr id="46" name="Text 44"/>
          <p:cNvSpPr/>
          <p:nvPr/>
        </p:nvSpPr>
        <p:spPr>
          <a:xfrm>
            <a:off x="228600" y="3108960"/>
            <a:ext cx="822960" cy="566928"/>
          </a:xfrm>
          <a:prstGeom prst="rect">
            <a:avLst/>
          </a:prstGeom>
          <a:noFill/>
          <a:ln/>
        </p:spPr>
        <p:txBody>
          <a:bodyPr wrap="square" lIns="0" tIns="0" rIns="0" bIns="0" rtlCol="0" anchor="ctr"/>
          <a:lstStyle/>
          <a:p>
            <a:pPr marL="0" indent="0" algn="ctr">
              <a:buNone/>
            </a:pPr>
            <a:r>
              <a:rPr lang="en-US" sz="850" b="1" dirty="0">
                <a:solidFill>
                  <a:srgbClr val="EF6820"/>
                </a:solidFill>
                <a:latin typeface="Calibri" pitchFamily="34" charset="0"/>
                <a:ea typeface="Calibri" pitchFamily="34" charset="-122"/>
                <a:cs typeface="Calibri" pitchFamily="34" charset="-120"/>
              </a:rPr>
              <a:t>Seller Success</a:t>
            </a:r>
            <a:endParaRPr lang="en-US" sz="850" dirty="0"/>
          </a:p>
        </p:txBody>
      </p:sp>
      <p:sp>
        <p:nvSpPr>
          <p:cNvPr id="47" name="Shape 45"/>
          <p:cNvSpPr/>
          <p:nvPr/>
        </p:nvSpPr>
        <p:spPr>
          <a:xfrm>
            <a:off x="1369568" y="3264408"/>
            <a:ext cx="457200" cy="256032"/>
          </a:xfrm>
          <a:prstGeom prst="roundRect">
            <a:avLst>
              <a:gd name="adj" fmla="val 14286"/>
            </a:avLst>
          </a:prstGeom>
          <a:solidFill>
            <a:srgbClr val="4472C4">
              <a:alpha val="70000"/>
            </a:srgbClr>
          </a:solidFill>
          <a:ln w="6350">
            <a:solidFill>
              <a:srgbClr val="4472C4"/>
            </a:solidFill>
            <a:prstDash val="solid"/>
          </a:ln>
        </p:spPr>
        <p:txBody>
          <a:bodyPr/>
          <a:lstStyle/>
          <a:p>
            <a:endParaRPr lang="en-MY"/>
          </a:p>
        </p:txBody>
      </p:sp>
      <p:sp>
        <p:nvSpPr>
          <p:cNvPr id="48" name="Text 46"/>
          <p:cNvSpPr/>
          <p:nvPr/>
        </p:nvSpPr>
        <p:spPr>
          <a:xfrm>
            <a:off x="1369568" y="3264408"/>
            <a:ext cx="4572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BO3</a:t>
            </a:r>
            <a:endParaRPr lang="en-US" sz="800" dirty="0"/>
          </a:p>
        </p:txBody>
      </p:sp>
      <p:sp>
        <p:nvSpPr>
          <p:cNvPr id="49" name="Text 47"/>
          <p:cNvSpPr/>
          <p:nvPr/>
        </p:nvSpPr>
        <p:spPr>
          <a:xfrm>
            <a:off x="2275840" y="3145536"/>
            <a:ext cx="2926080" cy="49377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Platinum health monitor + Bronze fast-track</a:t>
            </a:r>
            <a:endParaRPr lang="en-US" sz="900" dirty="0"/>
          </a:p>
        </p:txBody>
      </p:sp>
      <p:sp>
        <p:nvSpPr>
          <p:cNvPr id="50" name="Text 48"/>
          <p:cNvSpPr/>
          <p:nvPr/>
        </p:nvSpPr>
        <p:spPr>
          <a:xfrm>
            <a:off x="5166360" y="3145536"/>
            <a:ext cx="2194560" cy="493776"/>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50 accounts = 32.29% GMV · Power-law concentration vulnerability</a:t>
            </a:r>
            <a:endParaRPr lang="en-US" sz="800" dirty="0"/>
          </a:p>
        </p:txBody>
      </p:sp>
      <p:sp>
        <p:nvSpPr>
          <p:cNvPr id="51" name="Shape 49"/>
          <p:cNvSpPr/>
          <p:nvPr/>
        </p:nvSpPr>
        <p:spPr>
          <a:xfrm>
            <a:off x="7452360" y="3264408"/>
            <a:ext cx="1372985" cy="312836"/>
          </a:xfrm>
          <a:prstGeom prst="roundRect">
            <a:avLst>
              <a:gd name="adj" fmla="val 14286"/>
            </a:avLst>
          </a:prstGeom>
          <a:solidFill>
            <a:srgbClr val="F44336"/>
          </a:solidFill>
          <a:ln w="12700">
            <a:solidFill>
              <a:srgbClr val="F44336"/>
            </a:solidFill>
            <a:prstDash val="solid"/>
          </a:ln>
        </p:spPr>
        <p:txBody>
          <a:bodyPr/>
          <a:lstStyle/>
          <a:p>
            <a:endParaRPr lang="en-MY"/>
          </a:p>
        </p:txBody>
      </p:sp>
      <p:sp>
        <p:nvSpPr>
          <p:cNvPr id="52" name="Text 50"/>
          <p:cNvSpPr/>
          <p:nvPr/>
        </p:nvSpPr>
        <p:spPr>
          <a:xfrm>
            <a:off x="7452360" y="3264408"/>
            <a:ext cx="1372985" cy="31283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Immediate</a:t>
            </a:r>
            <a:endParaRPr lang="en-US" sz="750" dirty="0"/>
          </a:p>
        </p:txBody>
      </p:sp>
      <p:sp>
        <p:nvSpPr>
          <p:cNvPr id="53" name="Shape 51"/>
          <p:cNvSpPr/>
          <p:nvPr/>
        </p:nvSpPr>
        <p:spPr>
          <a:xfrm>
            <a:off x="228600" y="3703320"/>
            <a:ext cx="8705088" cy="566928"/>
          </a:xfrm>
          <a:prstGeom prst="rect">
            <a:avLst/>
          </a:prstGeom>
          <a:solidFill>
            <a:srgbClr val="132338"/>
          </a:solidFill>
          <a:ln w="3810">
            <a:solidFill>
              <a:srgbClr val="1E3A5F"/>
            </a:solidFill>
            <a:prstDash val="solid"/>
          </a:ln>
        </p:spPr>
        <p:txBody>
          <a:bodyPr/>
          <a:lstStyle/>
          <a:p>
            <a:endParaRPr lang="en-MY"/>
          </a:p>
        </p:txBody>
      </p:sp>
      <p:sp>
        <p:nvSpPr>
          <p:cNvPr id="54" name="Text 52"/>
          <p:cNvSpPr/>
          <p:nvPr/>
        </p:nvSpPr>
        <p:spPr>
          <a:xfrm>
            <a:off x="228600" y="3703320"/>
            <a:ext cx="822960" cy="566928"/>
          </a:xfrm>
          <a:prstGeom prst="rect">
            <a:avLst/>
          </a:prstGeom>
          <a:noFill/>
          <a:ln/>
        </p:spPr>
        <p:txBody>
          <a:bodyPr wrap="square" lIns="0" tIns="0" rIns="0" bIns="0" rtlCol="0" anchor="ctr"/>
          <a:lstStyle/>
          <a:p>
            <a:pPr marL="0" indent="0" algn="ctr">
              <a:buNone/>
            </a:pPr>
            <a:r>
              <a:rPr lang="en-US" sz="850" b="1" dirty="0">
                <a:solidFill>
                  <a:srgbClr val="EF6820"/>
                </a:solidFill>
                <a:latin typeface="Calibri" pitchFamily="34" charset="0"/>
                <a:ea typeface="Calibri" pitchFamily="34" charset="-122"/>
                <a:cs typeface="Calibri" pitchFamily="34" charset="-120"/>
              </a:rPr>
              <a:t>Marketing</a:t>
            </a:r>
            <a:endParaRPr lang="en-US" sz="850" dirty="0"/>
          </a:p>
        </p:txBody>
      </p:sp>
      <p:sp>
        <p:nvSpPr>
          <p:cNvPr id="55" name="Shape 53"/>
          <p:cNvSpPr/>
          <p:nvPr/>
        </p:nvSpPr>
        <p:spPr>
          <a:xfrm>
            <a:off x="1369568" y="3858768"/>
            <a:ext cx="457200" cy="256032"/>
          </a:xfrm>
          <a:prstGeom prst="roundRect">
            <a:avLst>
              <a:gd name="adj" fmla="val 14286"/>
            </a:avLst>
          </a:prstGeom>
          <a:solidFill>
            <a:srgbClr val="4472C4">
              <a:alpha val="70000"/>
            </a:srgbClr>
          </a:solidFill>
          <a:ln w="6350">
            <a:solidFill>
              <a:srgbClr val="4472C4"/>
            </a:solidFill>
            <a:prstDash val="solid"/>
          </a:ln>
        </p:spPr>
        <p:txBody>
          <a:bodyPr/>
          <a:lstStyle/>
          <a:p>
            <a:endParaRPr lang="en-MY"/>
          </a:p>
        </p:txBody>
      </p:sp>
      <p:sp>
        <p:nvSpPr>
          <p:cNvPr id="56" name="Text 54"/>
          <p:cNvSpPr/>
          <p:nvPr/>
        </p:nvSpPr>
        <p:spPr>
          <a:xfrm>
            <a:off x="1369568" y="3858768"/>
            <a:ext cx="4572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BO4</a:t>
            </a:r>
            <a:endParaRPr lang="en-US" sz="800" dirty="0"/>
          </a:p>
        </p:txBody>
      </p:sp>
      <p:sp>
        <p:nvSpPr>
          <p:cNvPr id="57" name="Text 55"/>
          <p:cNvSpPr/>
          <p:nvPr/>
        </p:nvSpPr>
        <p:spPr>
          <a:xfrm>
            <a:off x="2275840" y="3739896"/>
            <a:ext cx="2926080" cy="49377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Shift social budget → organic search</a:t>
            </a:r>
            <a:endParaRPr lang="en-US" sz="900" dirty="0"/>
          </a:p>
        </p:txBody>
      </p:sp>
      <p:sp>
        <p:nvSpPr>
          <p:cNvPr id="58" name="Text 56"/>
          <p:cNvSpPr/>
          <p:nvPr/>
        </p:nvSpPr>
        <p:spPr>
          <a:xfrm>
            <a:off x="5166360" y="3739896"/>
            <a:ext cx="2194560" cy="493776"/>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Fastest close cycle with strongest seller GMV</a:t>
            </a:r>
            <a:endParaRPr lang="en-US" sz="800" dirty="0"/>
          </a:p>
        </p:txBody>
      </p:sp>
      <p:sp>
        <p:nvSpPr>
          <p:cNvPr id="59" name="Shape 57"/>
          <p:cNvSpPr/>
          <p:nvPr/>
        </p:nvSpPr>
        <p:spPr>
          <a:xfrm>
            <a:off x="7452360" y="3858768"/>
            <a:ext cx="1372985" cy="312836"/>
          </a:xfrm>
          <a:prstGeom prst="roundRect">
            <a:avLst>
              <a:gd name="adj" fmla="val 14286"/>
            </a:avLst>
          </a:prstGeom>
          <a:solidFill>
            <a:srgbClr val="FF9800"/>
          </a:solidFill>
          <a:ln w="12700">
            <a:solidFill>
              <a:srgbClr val="FF9800"/>
            </a:solidFill>
            <a:prstDash val="solid"/>
          </a:ln>
        </p:spPr>
        <p:txBody>
          <a:bodyPr/>
          <a:lstStyle/>
          <a:p>
            <a:endParaRPr lang="en-MY"/>
          </a:p>
        </p:txBody>
      </p:sp>
      <p:sp>
        <p:nvSpPr>
          <p:cNvPr id="60" name="Text 58"/>
          <p:cNvSpPr/>
          <p:nvPr/>
        </p:nvSpPr>
        <p:spPr>
          <a:xfrm>
            <a:off x="7452360" y="3858768"/>
            <a:ext cx="1372985" cy="31283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Short-term</a:t>
            </a:r>
            <a:endParaRPr lang="en-US" sz="750" dirty="0"/>
          </a:p>
        </p:txBody>
      </p:sp>
      <p:sp>
        <p:nvSpPr>
          <p:cNvPr id="61" name="Shape 59"/>
          <p:cNvSpPr/>
          <p:nvPr/>
        </p:nvSpPr>
        <p:spPr>
          <a:xfrm>
            <a:off x="228600" y="4297680"/>
            <a:ext cx="8705088" cy="566928"/>
          </a:xfrm>
          <a:prstGeom prst="rect">
            <a:avLst/>
          </a:prstGeom>
          <a:solidFill>
            <a:srgbClr val="0F1E30"/>
          </a:solidFill>
          <a:ln w="3810">
            <a:solidFill>
              <a:srgbClr val="1E3A5F"/>
            </a:solidFill>
            <a:prstDash val="solid"/>
          </a:ln>
        </p:spPr>
        <p:txBody>
          <a:bodyPr/>
          <a:lstStyle/>
          <a:p>
            <a:endParaRPr lang="en-MY"/>
          </a:p>
        </p:txBody>
      </p:sp>
      <p:sp>
        <p:nvSpPr>
          <p:cNvPr id="62" name="Text 60"/>
          <p:cNvSpPr/>
          <p:nvPr/>
        </p:nvSpPr>
        <p:spPr>
          <a:xfrm>
            <a:off x="228600" y="4297680"/>
            <a:ext cx="822960" cy="566928"/>
          </a:xfrm>
          <a:prstGeom prst="rect">
            <a:avLst/>
          </a:prstGeom>
          <a:noFill/>
          <a:ln/>
        </p:spPr>
        <p:txBody>
          <a:bodyPr wrap="square" lIns="0" tIns="0" rIns="0" bIns="0" rtlCol="0" anchor="ctr"/>
          <a:lstStyle/>
          <a:p>
            <a:pPr marL="0" indent="0" algn="ctr">
              <a:buNone/>
            </a:pPr>
            <a:r>
              <a:rPr lang="en-US" sz="850" b="1" dirty="0">
                <a:solidFill>
                  <a:srgbClr val="EF6820"/>
                </a:solidFill>
                <a:latin typeface="Calibri" pitchFamily="34" charset="0"/>
                <a:ea typeface="Calibri" pitchFamily="34" charset="-122"/>
                <a:cs typeface="Calibri" pitchFamily="34" charset="-120"/>
              </a:rPr>
              <a:t>Retention</a:t>
            </a:r>
            <a:endParaRPr lang="en-US" sz="850" dirty="0"/>
          </a:p>
        </p:txBody>
      </p:sp>
      <p:sp>
        <p:nvSpPr>
          <p:cNvPr id="63" name="Shape 61"/>
          <p:cNvSpPr/>
          <p:nvPr/>
        </p:nvSpPr>
        <p:spPr>
          <a:xfrm>
            <a:off x="1369568" y="4453128"/>
            <a:ext cx="457200" cy="256032"/>
          </a:xfrm>
          <a:prstGeom prst="roundRect">
            <a:avLst>
              <a:gd name="adj" fmla="val 14286"/>
            </a:avLst>
          </a:prstGeom>
          <a:solidFill>
            <a:srgbClr val="4472C4">
              <a:alpha val="70000"/>
            </a:srgbClr>
          </a:solidFill>
          <a:ln w="6350">
            <a:solidFill>
              <a:srgbClr val="4472C4"/>
            </a:solidFill>
            <a:prstDash val="solid"/>
          </a:ln>
        </p:spPr>
        <p:txBody>
          <a:bodyPr/>
          <a:lstStyle/>
          <a:p>
            <a:endParaRPr lang="en-MY"/>
          </a:p>
        </p:txBody>
      </p:sp>
      <p:sp>
        <p:nvSpPr>
          <p:cNvPr id="64" name="Text 62"/>
          <p:cNvSpPr/>
          <p:nvPr/>
        </p:nvSpPr>
        <p:spPr>
          <a:xfrm>
            <a:off x="1369568" y="4453128"/>
            <a:ext cx="4572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BO5</a:t>
            </a:r>
            <a:endParaRPr lang="en-US" sz="800" dirty="0"/>
          </a:p>
        </p:txBody>
      </p:sp>
      <p:sp>
        <p:nvSpPr>
          <p:cNvPr id="65" name="Text 63"/>
          <p:cNvSpPr/>
          <p:nvPr/>
        </p:nvSpPr>
        <p:spPr>
          <a:xfrm>
            <a:off x="2275840" y="4334256"/>
            <a:ext cx="2926080" cy="49377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Target At Risk cohort CLV BRL 2K–5K · churn &gt;60%</a:t>
            </a:r>
            <a:endParaRPr lang="en-US" sz="900" dirty="0"/>
          </a:p>
        </p:txBody>
      </p:sp>
      <p:sp>
        <p:nvSpPr>
          <p:cNvPr id="66" name="Text 64"/>
          <p:cNvSpPr/>
          <p:nvPr/>
        </p:nvSpPr>
        <p:spPr>
          <a:xfrm>
            <a:off x="5166360" y="4334256"/>
            <a:ext cx="2194560" cy="493776"/>
          </a:xfrm>
          <a:prstGeom prst="rect">
            <a:avLst/>
          </a:prstGeom>
          <a:noFill/>
          <a:ln/>
        </p:spPr>
        <p:txBody>
          <a:bodyPr wrap="square" lIns="0" tIns="0" rIns="0" bIns="0" rtlCol="0" anchor="ctr"/>
          <a:lstStyle/>
          <a:p>
            <a:pPr marL="0" indent="0">
              <a:buNone/>
            </a:pPr>
            <a:r>
              <a:rPr lang="en-US" sz="800" dirty="0">
                <a:solidFill>
                  <a:srgbClr val="8BA5C0"/>
                </a:solidFill>
                <a:latin typeface="Calibri" pitchFamily="34" charset="0"/>
                <a:ea typeface="Calibri" pitchFamily="34" charset="-122"/>
                <a:cs typeface="Calibri" pitchFamily="34" charset="-120"/>
              </a:rPr>
              <a:t>BRL 64,900 recoverable LTV from top 500 alone. Proactive &gt; reactive</a:t>
            </a:r>
            <a:endParaRPr lang="en-US" sz="800" dirty="0"/>
          </a:p>
        </p:txBody>
      </p:sp>
      <p:sp>
        <p:nvSpPr>
          <p:cNvPr id="67" name="Shape 65"/>
          <p:cNvSpPr/>
          <p:nvPr/>
        </p:nvSpPr>
        <p:spPr>
          <a:xfrm>
            <a:off x="7452360" y="4453128"/>
            <a:ext cx="1372985" cy="312836"/>
          </a:xfrm>
          <a:prstGeom prst="roundRect">
            <a:avLst>
              <a:gd name="adj" fmla="val 14286"/>
            </a:avLst>
          </a:prstGeom>
          <a:solidFill>
            <a:srgbClr val="FF9800"/>
          </a:solidFill>
          <a:ln w="12700">
            <a:solidFill>
              <a:srgbClr val="FF9800"/>
            </a:solidFill>
            <a:prstDash val="solid"/>
          </a:ln>
        </p:spPr>
        <p:txBody>
          <a:bodyPr/>
          <a:lstStyle/>
          <a:p>
            <a:endParaRPr lang="en-MY"/>
          </a:p>
        </p:txBody>
      </p:sp>
      <p:sp>
        <p:nvSpPr>
          <p:cNvPr id="68" name="Text 66"/>
          <p:cNvSpPr/>
          <p:nvPr/>
        </p:nvSpPr>
        <p:spPr>
          <a:xfrm>
            <a:off x="7452360" y="4453128"/>
            <a:ext cx="1372985" cy="31283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Short-term</a:t>
            </a:r>
            <a:endParaRPr lang="en-US" sz="750" dirty="0"/>
          </a:p>
        </p:txBody>
      </p:sp>
      <p:pic>
        <p:nvPicPr>
          <p:cNvPr id="69" name="Picture 68">
            <a:extLst>
              <a:ext uri="{FF2B5EF4-FFF2-40B4-BE49-F238E27FC236}">
                <a16:creationId xmlns:a16="http://schemas.microsoft.com/office/drawing/2014/main" id="{CD250432-50D9-0211-5B14-3EA7672A08B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sp>
        <p:nvSpPr>
          <p:cNvPr id="5" name="Text 5">
            <a:extLst>
              <a:ext uri="{FF2B5EF4-FFF2-40B4-BE49-F238E27FC236}">
                <a16:creationId xmlns:a16="http://schemas.microsoft.com/office/drawing/2014/main" id="{E42329D3-E6D3-2654-86B9-993F7A815370}"/>
              </a:ext>
            </a:extLst>
          </p:cNvPr>
          <p:cNvSpPr/>
          <p:nvPr/>
        </p:nvSpPr>
        <p:spPr>
          <a:xfrm>
            <a:off x="1023366" y="219456"/>
            <a:ext cx="5760720" cy="438912"/>
          </a:xfrm>
          <a:prstGeom prst="rect">
            <a:avLst/>
          </a:prstGeom>
          <a:noFill/>
          <a:ln/>
        </p:spPr>
        <p:txBody>
          <a:bodyPr wrap="square" lIns="0" tIns="0" rIns="0" bIns="0" rtlCol="0" anchor="ctr"/>
          <a:lstStyle/>
          <a:p>
            <a:r>
              <a:rPr lang="en-US" sz="2800" b="1" dirty="0">
                <a:solidFill>
                  <a:srgbClr val="FFFFFF"/>
                </a:solidFill>
                <a:latin typeface="Calibri" pitchFamily="34" charset="0"/>
                <a:ea typeface="Calibri" pitchFamily="34" charset="-122"/>
                <a:cs typeface="Calibri" pitchFamily="34" charset="-120"/>
              </a:rPr>
              <a:t>Strategic Recommendations</a:t>
            </a:r>
          </a:p>
        </p:txBody>
      </p:sp>
    </p:spTree>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a:extLst>
            <a:ext uri="{FF2B5EF4-FFF2-40B4-BE49-F238E27FC236}">
              <a16:creationId xmlns:a16="http://schemas.microsoft.com/office/drawing/2014/main" id="{4F756AD3-845B-8358-7895-01DDCE7AAE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E864942-4C83-2FF9-202A-E6364CD138F0}"/>
              </a:ext>
            </a:extLst>
          </p:cNvPr>
          <p:cNvSpPr/>
          <p:nvPr/>
        </p:nvSpPr>
        <p:spPr>
          <a:xfrm>
            <a:off x="0" y="0"/>
            <a:ext cx="9144000" cy="868680"/>
          </a:xfrm>
          <a:prstGeom prst="rect">
            <a:avLst/>
          </a:prstGeom>
          <a:solidFill>
            <a:srgbClr val="0B1929"/>
          </a:solidFill>
          <a:ln w="12700">
            <a:solidFill>
              <a:srgbClr val="0B1929"/>
            </a:solidFill>
            <a:prstDash val="solid"/>
          </a:ln>
        </p:spPr>
        <p:txBody>
          <a:bodyPr/>
          <a:lstStyle/>
          <a:p>
            <a:endParaRPr lang="en-MY"/>
          </a:p>
        </p:txBody>
      </p:sp>
      <p:sp>
        <p:nvSpPr>
          <p:cNvPr id="3" name="Shape 1">
            <a:extLst>
              <a:ext uri="{FF2B5EF4-FFF2-40B4-BE49-F238E27FC236}">
                <a16:creationId xmlns:a16="http://schemas.microsoft.com/office/drawing/2014/main" id="{A3BF3221-9032-F0FA-8157-B07848A6EA61}"/>
              </a:ext>
            </a:extLst>
          </p:cNvPr>
          <p:cNvSpPr/>
          <p:nvPr/>
        </p:nvSpPr>
        <p:spPr>
          <a:xfrm>
            <a:off x="0" y="841248"/>
            <a:ext cx="9144000" cy="36576"/>
          </a:xfrm>
          <a:prstGeom prst="rect">
            <a:avLst/>
          </a:prstGeom>
          <a:solidFill>
            <a:srgbClr val="EF6820"/>
          </a:solidFill>
          <a:ln w="12700">
            <a:solidFill>
              <a:srgbClr val="EF6820"/>
            </a:solidFill>
            <a:prstDash val="solid"/>
          </a:ln>
        </p:spPr>
        <p:txBody>
          <a:bodyPr/>
          <a:lstStyle/>
          <a:p>
            <a:endParaRPr lang="en-MY"/>
          </a:p>
        </p:txBody>
      </p:sp>
      <p:sp>
        <p:nvSpPr>
          <p:cNvPr id="7" name="Text 5">
            <a:extLst>
              <a:ext uri="{FF2B5EF4-FFF2-40B4-BE49-F238E27FC236}">
                <a16:creationId xmlns:a16="http://schemas.microsoft.com/office/drawing/2014/main" id="{B0531AA5-5869-CD05-6C0C-F087521135C5}"/>
              </a:ext>
            </a:extLst>
          </p:cNvPr>
          <p:cNvSpPr/>
          <p:nvPr/>
        </p:nvSpPr>
        <p:spPr>
          <a:xfrm>
            <a:off x="1089963" y="103445"/>
            <a:ext cx="5760720" cy="438912"/>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Reflection, Challenges &amp; Summary</a:t>
            </a:r>
          </a:p>
        </p:txBody>
      </p:sp>
      <p:sp>
        <p:nvSpPr>
          <p:cNvPr id="24" name="Shape 22">
            <a:extLst>
              <a:ext uri="{FF2B5EF4-FFF2-40B4-BE49-F238E27FC236}">
                <a16:creationId xmlns:a16="http://schemas.microsoft.com/office/drawing/2014/main" id="{90B9BC1C-93E7-5F75-CE56-20CD1636B159}"/>
              </a:ext>
            </a:extLst>
          </p:cNvPr>
          <p:cNvSpPr/>
          <p:nvPr/>
        </p:nvSpPr>
        <p:spPr>
          <a:xfrm>
            <a:off x="320040" y="985888"/>
            <a:ext cx="4251960" cy="2633472"/>
          </a:xfrm>
          <a:prstGeom prst="roundRect">
            <a:avLst>
              <a:gd name="adj" fmla="val 4167"/>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25" name="Shape 23">
            <a:extLst>
              <a:ext uri="{FF2B5EF4-FFF2-40B4-BE49-F238E27FC236}">
                <a16:creationId xmlns:a16="http://schemas.microsoft.com/office/drawing/2014/main" id="{32F352F7-FB79-BE33-E7B7-E0276BCFECFC}"/>
              </a:ext>
            </a:extLst>
          </p:cNvPr>
          <p:cNvSpPr/>
          <p:nvPr/>
        </p:nvSpPr>
        <p:spPr>
          <a:xfrm>
            <a:off x="320040" y="985888"/>
            <a:ext cx="4251960" cy="310896"/>
          </a:xfrm>
          <a:prstGeom prst="roundRect">
            <a:avLst>
              <a:gd name="adj" fmla="val 35294"/>
            </a:avLst>
          </a:prstGeom>
          <a:solidFill>
            <a:srgbClr val="00C4B4"/>
          </a:solidFill>
          <a:ln w="12700">
            <a:solidFill>
              <a:srgbClr val="00C4B4"/>
            </a:solidFill>
            <a:prstDash val="solid"/>
          </a:ln>
        </p:spPr>
        <p:txBody>
          <a:bodyPr/>
          <a:lstStyle/>
          <a:p>
            <a:endParaRPr lang="en-MY"/>
          </a:p>
        </p:txBody>
      </p:sp>
      <p:sp>
        <p:nvSpPr>
          <p:cNvPr id="26" name="Shape 24">
            <a:extLst>
              <a:ext uri="{FF2B5EF4-FFF2-40B4-BE49-F238E27FC236}">
                <a16:creationId xmlns:a16="http://schemas.microsoft.com/office/drawing/2014/main" id="{A7E3C25A-EF07-C2AC-7E1B-3FC301224BFC}"/>
              </a:ext>
            </a:extLst>
          </p:cNvPr>
          <p:cNvSpPr/>
          <p:nvPr/>
        </p:nvSpPr>
        <p:spPr>
          <a:xfrm>
            <a:off x="320040" y="1168768"/>
            <a:ext cx="4251960" cy="128016"/>
          </a:xfrm>
          <a:prstGeom prst="rect">
            <a:avLst/>
          </a:prstGeom>
          <a:solidFill>
            <a:srgbClr val="00C4B4"/>
          </a:solidFill>
          <a:ln w="12700">
            <a:solidFill>
              <a:srgbClr val="00C4B4"/>
            </a:solidFill>
            <a:prstDash val="solid"/>
          </a:ln>
        </p:spPr>
        <p:txBody>
          <a:bodyPr/>
          <a:lstStyle/>
          <a:p>
            <a:endParaRPr lang="en-MY"/>
          </a:p>
        </p:txBody>
      </p:sp>
      <p:sp>
        <p:nvSpPr>
          <p:cNvPr id="27" name="Text 25">
            <a:extLst>
              <a:ext uri="{FF2B5EF4-FFF2-40B4-BE49-F238E27FC236}">
                <a16:creationId xmlns:a16="http://schemas.microsoft.com/office/drawing/2014/main" id="{3E7F1250-0570-1B6A-F729-C2E841ABB02B}"/>
              </a:ext>
            </a:extLst>
          </p:cNvPr>
          <p:cNvSpPr/>
          <p:nvPr/>
        </p:nvSpPr>
        <p:spPr>
          <a:xfrm>
            <a:off x="448055" y="995032"/>
            <a:ext cx="3973143"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What We Learned</a:t>
            </a:r>
            <a:endParaRPr lang="en-US" sz="1000" dirty="0"/>
          </a:p>
        </p:txBody>
      </p:sp>
      <p:sp>
        <p:nvSpPr>
          <p:cNvPr id="28" name="Shape 26">
            <a:extLst>
              <a:ext uri="{FF2B5EF4-FFF2-40B4-BE49-F238E27FC236}">
                <a16:creationId xmlns:a16="http://schemas.microsoft.com/office/drawing/2014/main" id="{08F91FE7-BDEF-DCDA-FD2D-5296904A39DD}"/>
              </a:ext>
            </a:extLst>
          </p:cNvPr>
          <p:cNvSpPr/>
          <p:nvPr/>
        </p:nvSpPr>
        <p:spPr>
          <a:xfrm>
            <a:off x="410219" y="1453492"/>
            <a:ext cx="85039" cy="91440"/>
          </a:xfrm>
          <a:prstGeom prst="ellipse">
            <a:avLst/>
          </a:prstGeom>
          <a:solidFill>
            <a:srgbClr val="00C4B4"/>
          </a:solidFill>
          <a:ln w="12700">
            <a:solidFill>
              <a:srgbClr val="00C4B4"/>
            </a:solidFill>
            <a:prstDash val="solid"/>
          </a:ln>
        </p:spPr>
        <p:txBody>
          <a:bodyPr/>
          <a:lstStyle/>
          <a:p>
            <a:endParaRPr lang="en-MY"/>
          </a:p>
        </p:txBody>
      </p:sp>
      <p:sp>
        <p:nvSpPr>
          <p:cNvPr id="29" name="Text 27">
            <a:extLst>
              <a:ext uri="{FF2B5EF4-FFF2-40B4-BE49-F238E27FC236}">
                <a16:creationId xmlns:a16="http://schemas.microsoft.com/office/drawing/2014/main" id="{6589CE97-5D7D-D419-036C-E487E9545AFC}"/>
              </a:ext>
            </a:extLst>
          </p:cNvPr>
          <p:cNvSpPr/>
          <p:nvPr/>
        </p:nvSpPr>
        <p:spPr>
          <a:xfrm>
            <a:off x="585216" y="1379080"/>
            <a:ext cx="376403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Importance of Data Integration</a:t>
            </a:r>
            <a:endParaRPr lang="en-US" sz="900" dirty="0"/>
          </a:p>
        </p:txBody>
      </p:sp>
      <p:sp>
        <p:nvSpPr>
          <p:cNvPr id="30" name="Text 28">
            <a:extLst>
              <a:ext uri="{FF2B5EF4-FFF2-40B4-BE49-F238E27FC236}">
                <a16:creationId xmlns:a16="http://schemas.microsoft.com/office/drawing/2014/main" id="{7CC3F053-C748-31A3-2A7B-457BEC7771AE}"/>
              </a:ext>
            </a:extLst>
          </p:cNvPr>
          <p:cNvSpPr/>
          <p:nvPr/>
        </p:nvSpPr>
        <p:spPr>
          <a:xfrm>
            <a:off x="585216" y="1580248"/>
            <a:ext cx="3494347" cy="411480"/>
          </a:xfrm>
          <a:prstGeom prst="rect">
            <a:avLst/>
          </a:prstGeom>
          <a:noFill/>
          <a:ln/>
        </p:spPr>
        <p:txBody>
          <a:bodyPr wrap="square" lIns="0" tIns="0" rIns="0" bIns="0" rtlCol="0" anchor="ctr"/>
          <a:lstStyle/>
          <a:p>
            <a:pPr>
              <a:buSzPct val="100000"/>
            </a:pPr>
            <a:r>
              <a:rPr lang="en-US" sz="800" dirty="0">
                <a:solidFill>
                  <a:srgbClr val="FFFFFF"/>
                </a:solidFill>
              </a:rPr>
              <a:t>Combining datasets revealed insights invisible to any single source</a:t>
            </a:r>
            <a:endParaRPr lang="en-US" sz="800" dirty="0"/>
          </a:p>
        </p:txBody>
      </p:sp>
      <p:sp>
        <p:nvSpPr>
          <p:cNvPr id="31" name="Shape 29">
            <a:extLst>
              <a:ext uri="{FF2B5EF4-FFF2-40B4-BE49-F238E27FC236}">
                <a16:creationId xmlns:a16="http://schemas.microsoft.com/office/drawing/2014/main" id="{B03962B4-F72A-0D66-28D3-5B9D6DFE1C0F}"/>
              </a:ext>
            </a:extLst>
          </p:cNvPr>
          <p:cNvSpPr/>
          <p:nvPr/>
        </p:nvSpPr>
        <p:spPr>
          <a:xfrm>
            <a:off x="410219" y="2166724"/>
            <a:ext cx="85039" cy="91440"/>
          </a:xfrm>
          <a:prstGeom prst="ellipse">
            <a:avLst/>
          </a:prstGeom>
          <a:solidFill>
            <a:srgbClr val="00C4B4"/>
          </a:solidFill>
          <a:ln w="12700">
            <a:solidFill>
              <a:srgbClr val="00C4B4"/>
            </a:solidFill>
            <a:prstDash val="solid"/>
          </a:ln>
        </p:spPr>
        <p:txBody>
          <a:bodyPr/>
          <a:lstStyle/>
          <a:p>
            <a:endParaRPr lang="en-MY"/>
          </a:p>
        </p:txBody>
      </p:sp>
      <p:sp>
        <p:nvSpPr>
          <p:cNvPr id="32" name="Text 30">
            <a:extLst>
              <a:ext uri="{FF2B5EF4-FFF2-40B4-BE49-F238E27FC236}">
                <a16:creationId xmlns:a16="http://schemas.microsoft.com/office/drawing/2014/main" id="{CB7383BF-5BA1-79F5-691D-FAE7700EC7B5}"/>
              </a:ext>
            </a:extLst>
          </p:cNvPr>
          <p:cNvSpPr/>
          <p:nvPr/>
        </p:nvSpPr>
        <p:spPr>
          <a:xfrm>
            <a:off x="585216" y="2092312"/>
            <a:ext cx="376403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Power BI’s capabilities </a:t>
            </a:r>
            <a:endParaRPr lang="en-US" sz="900" dirty="0"/>
          </a:p>
        </p:txBody>
      </p:sp>
      <p:sp>
        <p:nvSpPr>
          <p:cNvPr id="33" name="Text 31">
            <a:extLst>
              <a:ext uri="{FF2B5EF4-FFF2-40B4-BE49-F238E27FC236}">
                <a16:creationId xmlns:a16="http://schemas.microsoft.com/office/drawing/2014/main" id="{85898D15-1A10-8854-BFAB-1702806F153C}"/>
              </a:ext>
            </a:extLst>
          </p:cNvPr>
          <p:cNvSpPr/>
          <p:nvPr/>
        </p:nvSpPr>
        <p:spPr>
          <a:xfrm>
            <a:off x="585216" y="2293480"/>
            <a:ext cx="3764030" cy="411480"/>
          </a:xfrm>
          <a:prstGeom prst="rect">
            <a:avLst/>
          </a:prstGeom>
          <a:noFill/>
          <a:ln/>
        </p:spPr>
        <p:txBody>
          <a:bodyPr wrap="square" lIns="0" tIns="0" rIns="0" bIns="0" rtlCol="0" anchor="ctr"/>
          <a:lstStyle/>
          <a:p>
            <a:r>
              <a:rPr lang="en-US" sz="800" dirty="0">
                <a:solidFill>
                  <a:srgbClr val="FFFFFF"/>
                </a:solidFill>
              </a:rPr>
              <a:t>Predictive analytics embedded in BI dashboards bridges the gap between data science and business users</a:t>
            </a:r>
            <a:endParaRPr lang="en-US" sz="800" dirty="0"/>
          </a:p>
          <a:p>
            <a:pPr marL="0" indent="0">
              <a:buNone/>
            </a:pPr>
            <a:endParaRPr lang="en-US" sz="800" dirty="0"/>
          </a:p>
        </p:txBody>
      </p:sp>
      <p:sp>
        <p:nvSpPr>
          <p:cNvPr id="34" name="Shape 32">
            <a:extLst>
              <a:ext uri="{FF2B5EF4-FFF2-40B4-BE49-F238E27FC236}">
                <a16:creationId xmlns:a16="http://schemas.microsoft.com/office/drawing/2014/main" id="{E9263BF7-4146-DD25-8DF5-C2651F6288FD}"/>
              </a:ext>
            </a:extLst>
          </p:cNvPr>
          <p:cNvSpPr/>
          <p:nvPr/>
        </p:nvSpPr>
        <p:spPr>
          <a:xfrm>
            <a:off x="410219" y="2879956"/>
            <a:ext cx="85039" cy="91440"/>
          </a:xfrm>
          <a:prstGeom prst="ellipse">
            <a:avLst/>
          </a:prstGeom>
          <a:solidFill>
            <a:srgbClr val="00C4B4"/>
          </a:solidFill>
          <a:ln w="12700">
            <a:solidFill>
              <a:srgbClr val="00C4B4"/>
            </a:solidFill>
            <a:prstDash val="solid"/>
          </a:ln>
        </p:spPr>
        <p:txBody>
          <a:bodyPr/>
          <a:lstStyle/>
          <a:p>
            <a:endParaRPr lang="en-MY"/>
          </a:p>
        </p:txBody>
      </p:sp>
      <p:sp>
        <p:nvSpPr>
          <p:cNvPr id="35" name="Text 33">
            <a:extLst>
              <a:ext uri="{FF2B5EF4-FFF2-40B4-BE49-F238E27FC236}">
                <a16:creationId xmlns:a16="http://schemas.microsoft.com/office/drawing/2014/main" id="{1D4F856C-5E79-CAC1-FB77-470EFC9CFCDB}"/>
              </a:ext>
            </a:extLst>
          </p:cNvPr>
          <p:cNvSpPr/>
          <p:nvPr/>
        </p:nvSpPr>
        <p:spPr>
          <a:xfrm>
            <a:off x="585216" y="2805544"/>
            <a:ext cx="376403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Disaggregate everything</a:t>
            </a:r>
            <a:endParaRPr lang="en-US" sz="900" dirty="0"/>
          </a:p>
        </p:txBody>
      </p:sp>
      <p:sp>
        <p:nvSpPr>
          <p:cNvPr id="36" name="Text 34">
            <a:extLst>
              <a:ext uri="{FF2B5EF4-FFF2-40B4-BE49-F238E27FC236}">
                <a16:creationId xmlns:a16="http://schemas.microsoft.com/office/drawing/2014/main" id="{576D854B-963A-C61C-9EA9-7E2CBAE2A306}"/>
              </a:ext>
            </a:extLst>
          </p:cNvPr>
          <p:cNvSpPr/>
          <p:nvPr/>
        </p:nvSpPr>
        <p:spPr>
          <a:xfrm>
            <a:off x="585216" y="3006712"/>
            <a:ext cx="3764030" cy="411480"/>
          </a:xfrm>
          <a:prstGeom prst="rect">
            <a:avLst/>
          </a:prstGeom>
          <a:noFill/>
          <a:ln/>
        </p:spPr>
        <p:txBody>
          <a:bodyPr wrap="square" lIns="0" tIns="0" rIns="0" bIns="0" rtlCol="0" anchor="ctr"/>
          <a:lstStyle/>
          <a:p>
            <a:pPr marL="0" indent="0">
              <a:buNone/>
            </a:pPr>
            <a:r>
              <a:rPr lang="en-US" sz="800" dirty="0">
                <a:solidFill>
                  <a:srgbClr val="E8EDF2"/>
                </a:solidFill>
                <a:latin typeface="Calibri" pitchFamily="34" charset="0"/>
                <a:ea typeface="Calibri" pitchFamily="34" charset="-122"/>
                <a:cs typeface="Calibri" pitchFamily="34" charset="-120"/>
              </a:rPr>
              <a:t>Every strong aggregate hides a structural risk. The 91.9% on-time rate masked a 20% late rate in the north.</a:t>
            </a:r>
            <a:endParaRPr lang="en-US" sz="800" dirty="0"/>
          </a:p>
        </p:txBody>
      </p:sp>
      <p:sp>
        <p:nvSpPr>
          <p:cNvPr id="37" name="Shape 35">
            <a:extLst>
              <a:ext uri="{FF2B5EF4-FFF2-40B4-BE49-F238E27FC236}">
                <a16:creationId xmlns:a16="http://schemas.microsoft.com/office/drawing/2014/main" id="{E2DD5F55-4835-7DD6-A4B5-117B19E9DE41}"/>
              </a:ext>
            </a:extLst>
          </p:cNvPr>
          <p:cNvSpPr/>
          <p:nvPr/>
        </p:nvSpPr>
        <p:spPr>
          <a:xfrm>
            <a:off x="4712627" y="1019556"/>
            <a:ext cx="4155002" cy="2633472"/>
          </a:xfrm>
          <a:prstGeom prst="roundRect">
            <a:avLst>
              <a:gd name="adj" fmla="val 4167"/>
            </a:avLst>
          </a:prstGeom>
          <a:solidFill>
            <a:srgbClr val="132338"/>
          </a:solidFill>
          <a:ln w="9525">
            <a:solidFill>
              <a:srgbClr val="1E3A5F"/>
            </a:solidFill>
            <a:prstDash val="solid"/>
          </a:ln>
          <a:effectLst>
            <a:outerShdw blurRad="127000" dist="38100" dir="2700000" algn="bl" rotWithShape="0">
              <a:srgbClr val="000000">
                <a:alpha val="30000"/>
              </a:srgbClr>
            </a:outerShdw>
          </a:effectLst>
        </p:spPr>
        <p:txBody>
          <a:bodyPr/>
          <a:lstStyle/>
          <a:p>
            <a:endParaRPr lang="en-MY"/>
          </a:p>
        </p:txBody>
      </p:sp>
      <p:sp>
        <p:nvSpPr>
          <p:cNvPr id="38" name="Shape 36">
            <a:extLst>
              <a:ext uri="{FF2B5EF4-FFF2-40B4-BE49-F238E27FC236}">
                <a16:creationId xmlns:a16="http://schemas.microsoft.com/office/drawing/2014/main" id="{625C0E6D-E81F-A407-2D83-08108C6D3991}"/>
              </a:ext>
            </a:extLst>
          </p:cNvPr>
          <p:cNvSpPr/>
          <p:nvPr/>
        </p:nvSpPr>
        <p:spPr>
          <a:xfrm>
            <a:off x="4691818" y="1010412"/>
            <a:ext cx="4155002" cy="310896"/>
          </a:xfrm>
          <a:prstGeom prst="roundRect">
            <a:avLst>
              <a:gd name="adj" fmla="val 35294"/>
            </a:avLst>
          </a:prstGeom>
          <a:solidFill>
            <a:srgbClr val="4472C4"/>
          </a:solidFill>
          <a:ln w="12700">
            <a:solidFill>
              <a:srgbClr val="4472C4"/>
            </a:solidFill>
            <a:prstDash val="solid"/>
          </a:ln>
        </p:spPr>
        <p:txBody>
          <a:bodyPr/>
          <a:lstStyle/>
          <a:p>
            <a:endParaRPr lang="en-MY"/>
          </a:p>
        </p:txBody>
      </p:sp>
      <p:sp>
        <p:nvSpPr>
          <p:cNvPr id="39" name="Shape 37">
            <a:extLst>
              <a:ext uri="{FF2B5EF4-FFF2-40B4-BE49-F238E27FC236}">
                <a16:creationId xmlns:a16="http://schemas.microsoft.com/office/drawing/2014/main" id="{4EAEB5A8-BF35-CB49-FBF1-41DA4F826CCD}"/>
              </a:ext>
            </a:extLst>
          </p:cNvPr>
          <p:cNvSpPr/>
          <p:nvPr/>
        </p:nvSpPr>
        <p:spPr>
          <a:xfrm>
            <a:off x="4691818" y="1193292"/>
            <a:ext cx="4155002" cy="128016"/>
          </a:xfrm>
          <a:prstGeom prst="rect">
            <a:avLst/>
          </a:prstGeom>
          <a:solidFill>
            <a:srgbClr val="4472C4"/>
          </a:solidFill>
          <a:ln w="12700">
            <a:solidFill>
              <a:srgbClr val="4472C4"/>
            </a:solidFill>
            <a:prstDash val="solid"/>
          </a:ln>
        </p:spPr>
        <p:txBody>
          <a:bodyPr/>
          <a:lstStyle/>
          <a:p>
            <a:endParaRPr lang="en-MY"/>
          </a:p>
        </p:txBody>
      </p:sp>
      <p:sp>
        <p:nvSpPr>
          <p:cNvPr id="40" name="Text 38">
            <a:extLst>
              <a:ext uri="{FF2B5EF4-FFF2-40B4-BE49-F238E27FC236}">
                <a16:creationId xmlns:a16="http://schemas.microsoft.com/office/drawing/2014/main" id="{3166F25E-A4D6-7AF3-98EE-52639527939B}"/>
              </a:ext>
            </a:extLst>
          </p:cNvPr>
          <p:cNvSpPr/>
          <p:nvPr/>
        </p:nvSpPr>
        <p:spPr>
          <a:xfrm>
            <a:off x="4909412" y="1019556"/>
            <a:ext cx="3882543"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Limitations &amp; Future Work</a:t>
            </a:r>
            <a:endParaRPr lang="en-US" sz="1000" dirty="0"/>
          </a:p>
        </p:txBody>
      </p:sp>
      <p:sp>
        <p:nvSpPr>
          <p:cNvPr id="41" name="Shape 39">
            <a:extLst>
              <a:ext uri="{FF2B5EF4-FFF2-40B4-BE49-F238E27FC236}">
                <a16:creationId xmlns:a16="http://schemas.microsoft.com/office/drawing/2014/main" id="{55EF2D36-7344-D048-E534-C19BF0BE10A0}"/>
              </a:ext>
            </a:extLst>
          </p:cNvPr>
          <p:cNvSpPr/>
          <p:nvPr/>
        </p:nvSpPr>
        <p:spPr>
          <a:xfrm>
            <a:off x="4928330" y="1463040"/>
            <a:ext cx="83100" cy="91440"/>
          </a:xfrm>
          <a:prstGeom prst="ellipse">
            <a:avLst/>
          </a:prstGeom>
          <a:solidFill>
            <a:srgbClr val="4472C4"/>
          </a:solidFill>
          <a:ln w="12700">
            <a:solidFill>
              <a:srgbClr val="4472C4"/>
            </a:solidFill>
            <a:prstDash val="solid"/>
          </a:ln>
        </p:spPr>
        <p:txBody>
          <a:bodyPr/>
          <a:lstStyle/>
          <a:p>
            <a:endParaRPr lang="en-MY"/>
          </a:p>
        </p:txBody>
      </p:sp>
      <p:sp>
        <p:nvSpPr>
          <p:cNvPr id="42" name="Text 40">
            <a:extLst>
              <a:ext uri="{FF2B5EF4-FFF2-40B4-BE49-F238E27FC236}">
                <a16:creationId xmlns:a16="http://schemas.microsoft.com/office/drawing/2014/main" id="{E08E9570-9EB3-26CB-D51A-7D37621DE7A3}"/>
              </a:ext>
            </a:extLst>
          </p:cNvPr>
          <p:cNvSpPr/>
          <p:nvPr/>
        </p:nvSpPr>
        <p:spPr>
          <a:xfrm>
            <a:off x="5113757" y="1403604"/>
            <a:ext cx="3678199"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DS3 is synthetic</a:t>
            </a:r>
            <a:endParaRPr lang="en-US" sz="900" dirty="0"/>
          </a:p>
        </p:txBody>
      </p:sp>
      <p:sp>
        <p:nvSpPr>
          <p:cNvPr id="43" name="Text 41">
            <a:extLst>
              <a:ext uri="{FF2B5EF4-FFF2-40B4-BE49-F238E27FC236}">
                <a16:creationId xmlns:a16="http://schemas.microsoft.com/office/drawing/2014/main" id="{3AC91B4E-B0D2-3965-8D7D-34395F8FD329}"/>
              </a:ext>
            </a:extLst>
          </p:cNvPr>
          <p:cNvSpPr/>
          <p:nvPr/>
        </p:nvSpPr>
        <p:spPr>
          <a:xfrm>
            <a:off x="5113757" y="1604772"/>
            <a:ext cx="3678199" cy="411480"/>
          </a:xfrm>
          <a:prstGeom prst="rect">
            <a:avLst/>
          </a:prstGeom>
          <a:noFill/>
          <a:ln/>
        </p:spPr>
        <p:txBody>
          <a:bodyPr wrap="square" lIns="0" tIns="0" rIns="0" bIns="0" rtlCol="0" anchor="ctr"/>
          <a:lstStyle/>
          <a:p>
            <a:pPr marL="0" indent="0">
              <a:buNone/>
            </a:pPr>
            <a:r>
              <a:rPr lang="en-US" sz="800" dirty="0">
                <a:solidFill>
                  <a:srgbClr val="E8EDF2"/>
                </a:solidFill>
                <a:latin typeface="Calibri" pitchFamily="34" charset="0"/>
                <a:ea typeface="Calibri" pitchFamily="34" charset="-122"/>
                <a:cs typeface="Calibri" pitchFamily="34" charset="-120"/>
              </a:rPr>
              <a:t>Churn scores are directional signals. Replace with real clickstream data for true individual-level prediction.</a:t>
            </a:r>
            <a:endParaRPr lang="en-US" sz="800" dirty="0"/>
          </a:p>
        </p:txBody>
      </p:sp>
      <p:sp>
        <p:nvSpPr>
          <p:cNvPr id="46" name="Text 44">
            <a:extLst>
              <a:ext uri="{FF2B5EF4-FFF2-40B4-BE49-F238E27FC236}">
                <a16:creationId xmlns:a16="http://schemas.microsoft.com/office/drawing/2014/main" id="{FE4F24D6-20FC-BEBF-7BCD-D57C76B437E5}"/>
              </a:ext>
            </a:extLst>
          </p:cNvPr>
          <p:cNvSpPr/>
          <p:nvPr/>
        </p:nvSpPr>
        <p:spPr>
          <a:xfrm>
            <a:off x="5113757" y="2318004"/>
            <a:ext cx="3678199" cy="411480"/>
          </a:xfrm>
          <a:prstGeom prst="rect">
            <a:avLst/>
          </a:prstGeom>
          <a:noFill/>
          <a:ln/>
        </p:spPr>
        <p:txBody>
          <a:bodyPr wrap="square" lIns="0" tIns="0" rIns="0" bIns="0" rtlCol="0" anchor="ctr"/>
          <a:lstStyle/>
          <a:p>
            <a:pPr marL="0" indent="0">
              <a:buNone/>
            </a:pPr>
            <a:r>
              <a:rPr lang="en-US" sz="800" dirty="0">
                <a:solidFill>
                  <a:srgbClr val="E8EDF2"/>
                </a:solidFill>
                <a:latin typeface="Calibri" pitchFamily="34" charset="0"/>
                <a:ea typeface="Calibri" pitchFamily="34" charset="-122"/>
                <a:cs typeface="Calibri" pitchFamily="34" charset="-120"/>
              </a:rPr>
              <a:t>Late 2018 deceleration may be boundary artefact. Validate against post-2018 actuals before drawing conclusions.</a:t>
            </a:r>
            <a:endParaRPr lang="en-US" sz="800" dirty="0"/>
          </a:p>
        </p:txBody>
      </p:sp>
      <p:sp>
        <p:nvSpPr>
          <p:cNvPr id="47" name="Shape 45">
            <a:extLst>
              <a:ext uri="{FF2B5EF4-FFF2-40B4-BE49-F238E27FC236}">
                <a16:creationId xmlns:a16="http://schemas.microsoft.com/office/drawing/2014/main" id="{9320B683-677C-FE0F-9613-CF38F417BF24}"/>
              </a:ext>
            </a:extLst>
          </p:cNvPr>
          <p:cNvSpPr/>
          <p:nvPr/>
        </p:nvSpPr>
        <p:spPr>
          <a:xfrm>
            <a:off x="4928330" y="2889504"/>
            <a:ext cx="83100" cy="91440"/>
          </a:xfrm>
          <a:prstGeom prst="ellipse">
            <a:avLst/>
          </a:prstGeom>
          <a:solidFill>
            <a:srgbClr val="4472C4"/>
          </a:solidFill>
          <a:ln w="12700">
            <a:solidFill>
              <a:srgbClr val="4472C4"/>
            </a:solidFill>
            <a:prstDash val="solid"/>
          </a:ln>
        </p:spPr>
        <p:txBody>
          <a:bodyPr/>
          <a:lstStyle/>
          <a:p>
            <a:endParaRPr lang="en-MY"/>
          </a:p>
        </p:txBody>
      </p:sp>
      <p:sp>
        <p:nvSpPr>
          <p:cNvPr id="48" name="Text 46">
            <a:extLst>
              <a:ext uri="{FF2B5EF4-FFF2-40B4-BE49-F238E27FC236}">
                <a16:creationId xmlns:a16="http://schemas.microsoft.com/office/drawing/2014/main" id="{D5716AFE-A41F-863D-F844-E986916FA2E9}"/>
              </a:ext>
            </a:extLst>
          </p:cNvPr>
          <p:cNvSpPr/>
          <p:nvPr/>
        </p:nvSpPr>
        <p:spPr>
          <a:xfrm>
            <a:off x="5113757" y="2830068"/>
            <a:ext cx="3678199"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CSV → Live DB</a:t>
            </a:r>
            <a:endParaRPr lang="en-US" sz="900" dirty="0"/>
          </a:p>
        </p:txBody>
      </p:sp>
      <p:sp>
        <p:nvSpPr>
          <p:cNvPr id="49" name="Text 47">
            <a:extLst>
              <a:ext uri="{FF2B5EF4-FFF2-40B4-BE49-F238E27FC236}">
                <a16:creationId xmlns:a16="http://schemas.microsoft.com/office/drawing/2014/main" id="{7B519A15-8F26-208D-0E3E-D8A2B502AEAA}"/>
              </a:ext>
            </a:extLst>
          </p:cNvPr>
          <p:cNvSpPr/>
          <p:nvPr/>
        </p:nvSpPr>
        <p:spPr>
          <a:xfrm>
            <a:off x="5113757" y="3031236"/>
            <a:ext cx="3678199" cy="411480"/>
          </a:xfrm>
          <a:prstGeom prst="rect">
            <a:avLst/>
          </a:prstGeom>
          <a:noFill/>
          <a:ln/>
        </p:spPr>
        <p:txBody>
          <a:bodyPr wrap="square" lIns="0" tIns="0" rIns="0" bIns="0" rtlCol="0" anchor="ctr"/>
          <a:lstStyle/>
          <a:p>
            <a:pPr marL="0" indent="0">
              <a:buNone/>
            </a:pPr>
            <a:r>
              <a:rPr lang="en-US" sz="800" dirty="0">
                <a:solidFill>
                  <a:srgbClr val="E8EDF2"/>
                </a:solidFill>
                <a:latin typeface="Calibri" pitchFamily="34" charset="0"/>
                <a:ea typeface="Calibri" pitchFamily="34" charset="-122"/>
                <a:cs typeface="Calibri" pitchFamily="34" charset="-120"/>
              </a:rPr>
              <a:t>Replace static CSV import with DirectQuery / scheduled refresh for real-time dashboard performance.</a:t>
            </a:r>
            <a:endParaRPr lang="en-US" sz="800" dirty="0"/>
          </a:p>
        </p:txBody>
      </p:sp>
      <p:pic>
        <p:nvPicPr>
          <p:cNvPr id="53" name="Picture 52">
            <a:extLst>
              <a:ext uri="{FF2B5EF4-FFF2-40B4-BE49-F238E27FC236}">
                <a16:creationId xmlns:a16="http://schemas.microsoft.com/office/drawing/2014/main" id="{D2739740-5857-3BD9-E5AB-F17BD6E493D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sp>
        <p:nvSpPr>
          <p:cNvPr id="5" name="Shape 9">
            <a:extLst>
              <a:ext uri="{FF2B5EF4-FFF2-40B4-BE49-F238E27FC236}">
                <a16:creationId xmlns:a16="http://schemas.microsoft.com/office/drawing/2014/main" id="{9720E75F-2AD1-3799-92DE-0AFC35D763BB}"/>
              </a:ext>
            </a:extLst>
          </p:cNvPr>
          <p:cNvSpPr/>
          <p:nvPr/>
        </p:nvSpPr>
        <p:spPr>
          <a:xfrm>
            <a:off x="320040" y="3794760"/>
            <a:ext cx="8503920" cy="1097280"/>
          </a:xfrm>
          <a:prstGeom prst="roundRect">
            <a:avLst>
              <a:gd name="adj" fmla="val 10000"/>
            </a:avLst>
          </a:prstGeom>
          <a:solidFill>
            <a:srgbClr val="0D1F35"/>
          </a:solidFill>
          <a:ln w="6350">
            <a:solidFill>
              <a:srgbClr val="1E3A5F"/>
            </a:solidFill>
            <a:prstDash val="solid"/>
          </a:ln>
          <a:effectLst>
            <a:outerShdw blurRad="101600" dist="25400" dir="2700000" algn="bl" rotWithShape="0">
              <a:srgbClr val="000000">
                <a:alpha val="25000"/>
              </a:srgbClr>
            </a:outerShdw>
          </a:effectLst>
        </p:spPr>
        <p:txBody>
          <a:bodyPr/>
          <a:lstStyle/>
          <a:p>
            <a:endParaRPr lang="en-MY"/>
          </a:p>
        </p:txBody>
      </p:sp>
      <p:sp>
        <p:nvSpPr>
          <p:cNvPr id="54" name="Text 10">
            <a:extLst>
              <a:ext uri="{FF2B5EF4-FFF2-40B4-BE49-F238E27FC236}">
                <a16:creationId xmlns:a16="http://schemas.microsoft.com/office/drawing/2014/main" id="{75AA53AD-CDC6-84D5-DBDD-19F7EC70052B}"/>
              </a:ext>
            </a:extLst>
          </p:cNvPr>
          <p:cNvSpPr/>
          <p:nvPr/>
        </p:nvSpPr>
        <p:spPr>
          <a:xfrm>
            <a:off x="502920" y="3886200"/>
            <a:ext cx="8229600" cy="256032"/>
          </a:xfrm>
          <a:prstGeom prst="rect">
            <a:avLst/>
          </a:prstGeom>
          <a:noFill/>
          <a:ln/>
        </p:spPr>
        <p:txBody>
          <a:bodyPr wrap="square" lIns="0" tIns="0" rIns="0" bIns="0" rtlCol="0" anchor="ctr"/>
          <a:lstStyle/>
          <a:p>
            <a:pPr marL="0" indent="0">
              <a:buNone/>
            </a:pPr>
            <a:r>
              <a:rPr lang="en-US" sz="1200" b="1" dirty="0">
                <a:solidFill>
                  <a:srgbClr val="FFFFFF"/>
                </a:solidFill>
              </a:rPr>
              <a:t>Assignment Outcomes</a:t>
            </a:r>
            <a:endParaRPr lang="en-US" sz="1200" dirty="0"/>
          </a:p>
        </p:txBody>
      </p:sp>
      <p:sp>
        <p:nvSpPr>
          <p:cNvPr id="56" name="Shape 11">
            <a:extLst>
              <a:ext uri="{FF2B5EF4-FFF2-40B4-BE49-F238E27FC236}">
                <a16:creationId xmlns:a16="http://schemas.microsoft.com/office/drawing/2014/main" id="{0377E3DA-D359-BA8F-2439-83F839521BA2}"/>
              </a:ext>
            </a:extLst>
          </p:cNvPr>
          <p:cNvSpPr/>
          <p:nvPr/>
        </p:nvSpPr>
        <p:spPr>
          <a:xfrm>
            <a:off x="502920" y="4206240"/>
            <a:ext cx="1508760" cy="576072"/>
          </a:xfrm>
          <a:prstGeom prst="roundRect">
            <a:avLst>
              <a:gd name="adj" fmla="val 15873"/>
            </a:avLst>
          </a:prstGeom>
          <a:solidFill>
            <a:srgbClr val="00BCD4">
              <a:alpha val="25000"/>
            </a:srgbClr>
          </a:solidFill>
          <a:ln/>
        </p:spPr>
        <p:txBody>
          <a:bodyPr/>
          <a:lstStyle/>
          <a:p>
            <a:endParaRPr lang="en-MY"/>
          </a:p>
        </p:txBody>
      </p:sp>
      <p:sp>
        <p:nvSpPr>
          <p:cNvPr id="58" name="Text 12">
            <a:extLst>
              <a:ext uri="{FF2B5EF4-FFF2-40B4-BE49-F238E27FC236}">
                <a16:creationId xmlns:a16="http://schemas.microsoft.com/office/drawing/2014/main" id="{C2A23408-6580-5EB2-B536-B68EFEB11522}"/>
              </a:ext>
            </a:extLst>
          </p:cNvPr>
          <p:cNvSpPr/>
          <p:nvPr/>
        </p:nvSpPr>
        <p:spPr>
          <a:xfrm>
            <a:off x="502920" y="4206240"/>
            <a:ext cx="1508760" cy="576072"/>
          </a:xfrm>
          <a:prstGeom prst="rect">
            <a:avLst/>
          </a:prstGeom>
          <a:noFill/>
          <a:ln/>
        </p:spPr>
        <p:txBody>
          <a:bodyPr wrap="square" lIns="0" tIns="0" rIns="0" bIns="0" rtlCol="0" anchor="ctr"/>
          <a:lstStyle/>
          <a:p>
            <a:pPr marL="0" indent="0" algn="ctr">
              <a:buNone/>
            </a:pPr>
            <a:r>
              <a:rPr lang="en-US" sz="950" b="1" dirty="0">
                <a:solidFill>
                  <a:srgbClr val="00BCD4"/>
                </a:solidFill>
              </a:rPr>
              <a:t>16-table</a:t>
            </a:r>
            <a:endParaRPr lang="en-US" sz="950" dirty="0"/>
          </a:p>
          <a:p>
            <a:pPr marL="0" indent="0" algn="ctr">
              <a:buNone/>
            </a:pPr>
            <a:r>
              <a:rPr lang="en-US" sz="950" b="1" dirty="0">
                <a:solidFill>
                  <a:srgbClr val="00BCD4"/>
                </a:solidFill>
              </a:rPr>
              <a:t>Galaxy Schema</a:t>
            </a:r>
            <a:endParaRPr lang="en-US" sz="950" dirty="0"/>
          </a:p>
        </p:txBody>
      </p:sp>
      <p:sp>
        <p:nvSpPr>
          <p:cNvPr id="60" name="Shape 13">
            <a:extLst>
              <a:ext uri="{FF2B5EF4-FFF2-40B4-BE49-F238E27FC236}">
                <a16:creationId xmlns:a16="http://schemas.microsoft.com/office/drawing/2014/main" id="{F78F7267-EEB0-5332-9295-1CAB08D2E6DE}"/>
              </a:ext>
            </a:extLst>
          </p:cNvPr>
          <p:cNvSpPr/>
          <p:nvPr/>
        </p:nvSpPr>
        <p:spPr>
          <a:xfrm>
            <a:off x="2167128" y="4206240"/>
            <a:ext cx="1508760" cy="576072"/>
          </a:xfrm>
          <a:prstGeom prst="roundRect">
            <a:avLst>
              <a:gd name="adj" fmla="val 15873"/>
            </a:avLst>
          </a:prstGeom>
          <a:solidFill>
            <a:srgbClr val="FF6B35">
              <a:alpha val="25000"/>
            </a:srgbClr>
          </a:solidFill>
          <a:ln/>
        </p:spPr>
        <p:txBody>
          <a:bodyPr/>
          <a:lstStyle/>
          <a:p>
            <a:endParaRPr lang="en-MY"/>
          </a:p>
        </p:txBody>
      </p:sp>
      <p:sp>
        <p:nvSpPr>
          <p:cNvPr id="62" name="Text 14">
            <a:extLst>
              <a:ext uri="{FF2B5EF4-FFF2-40B4-BE49-F238E27FC236}">
                <a16:creationId xmlns:a16="http://schemas.microsoft.com/office/drawing/2014/main" id="{71C6DC86-DED1-95F2-18B7-DEB21CAD91ED}"/>
              </a:ext>
            </a:extLst>
          </p:cNvPr>
          <p:cNvSpPr/>
          <p:nvPr/>
        </p:nvSpPr>
        <p:spPr>
          <a:xfrm>
            <a:off x="2167128" y="4206240"/>
            <a:ext cx="1508760" cy="576072"/>
          </a:xfrm>
          <a:prstGeom prst="rect">
            <a:avLst/>
          </a:prstGeom>
          <a:noFill/>
          <a:ln/>
        </p:spPr>
        <p:txBody>
          <a:bodyPr wrap="square" lIns="0" tIns="0" rIns="0" bIns="0" rtlCol="0" anchor="ctr"/>
          <a:lstStyle/>
          <a:p>
            <a:pPr marL="0" indent="0" algn="ctr">
              <a:buNone/>
            </a:pPr>
            <a:r>
              <a:rPr lang="en-US" sz="950" b="1" dirty="0">
                <a:solidFill>
                  <a:srgbClr val="FF6B35"/>
                </a:solidFill>
              </a:rPr>
              <a:t>Hybrid ETL+ELT</a:t>
            </a:r>
            <a:endParaRPr lang="en-US" sz="950" dirty="0"/>
          </a:p>
          <a:p>
            <a:pPr marL="0" indent="0" algn="ctr">
              <a:buNone/>
            </a:pPr>
            <a:r>
              <a:rPr lang="en-US" sz="950" b="1" dirty="0">
                <a:solidFill>
                  <a:srgbClr val="FF6B35"/>
                </a:solidFill>
              </a:rPr>
              <a:t>Pipeline</a:t>
            </a:r>
            <a:endParaRPr lang="en-US" sz="950" dirty="0"/>
          </a:p>
        </p:txBody>
      </p:sp>
      <p:sp>
        <p:nvSpPr>
          <p:cNvPr id="64" name="Shape 15">
            <a:extLst>
              <a:ext uri="{FF2B5EF4-FFF2-40B4-BE49-F238E27FC236}">
                <a16:creationId xmlns:a16="http://schemas.microsoft.com/office/drawing/2014/main" id="{CFEDE046-27BC-E5D7-2EF0-C8133334BCFB}"/>
              </a:ext>
            </a:extLst>
          </p:cNvPr>
          <p:cNvSpPr/>
          <p:nvPr/>
        </p:nvSpPr>
        <p:spPr>
          <a:xfrm>
            <a:off x="3831336" y="4206240"/>
            <a:ext cx="1508760" cy="576072"/>
          </a:xfrm>
          <a:prstGeom prst="roundRect">
            <a:avLst>
              <a:gd name="adj" fmla="val 15873"/>
            </a:avLst>
          </a:prstGeom>
          <a:solidFill>
            <a:srgbClr val="4CAF50">
              <a:alpha val="25000"/>
            </a:srgbClr>
          </a:solidFill>
          <a:ln/>
        </p:spPr>
        <p:txBody>
          <a:bodyPr/>
          <a:lstStyle/>
          <a:p>
            <a:endParaRPr lang="en-MY"/>
          </a:p>
        </p:txBody>
      </p:sp>
      <p:sp>
        <p:nvSpPr>
          <p:cNvPr id="66" name="Text 16">
            <a:extLst>
              <a:ext uri="{FF2B5EF4-FFF2-40B4-BE49-F238E27FC236}">
                <a16:creationId xmlns:a16="http://schemas.microsoft.com/office/drawing/2014/main" id="{A2D25CA3-CE21-9A0C-88C7-FE6E7047D4A6}"/>
              </a:ext>
            </a:extLst>
          </p:cNvPr>
          <p:cNvSpPr/>
          <p:nvPr/>
        </p:nvSpPr>
        <p:spPr>
          <a:xfrm>
            <a:off x="3831336" y="4206240"/>
            <a:ext cx="1508760" cy="576072"/>
          </a:xfrm>
          <a:prstGeom prst="rect">
            <a:avLst/>
          </a:prstGeom>
          <a:noFill/>
          <a:ln/>
        </p:spPr>
        <p:txBody>
          <a:bodyPr wrap="square" lIns="0" tIns="0" rIns="0" bIns="0" rtlCol="0" anchor="ctr"/>
          <a:lstStyle/>
          <a:p>
            <a:pPr marL="0" indent="0" algn="ctr">
              <a:buNone/>
            </a:pPr>
            <a:r>
              <a:rPr lang="en-US" sz="950" b="1" dirty="0">
                <a:solidFill>
                  <a:srgbClr val="4CAF50"/>
                </a:solidFill>
              </a:rPr>
              <a:t>14 DAX</a:t>
            </a:r>
            <a:endParaRPr lang="en-US" sz="950" dirty="0"/>
          </a:p>
          <a:p>
            <a:pPr marL="0" indent="0" algn="ctr">
              <a:buNone/>
            </a:pPr>
            <a:r>
              <a:rPr lang="en-US" sz="950" b="1" dirty="0">
                <a:solidFill>
                  <a:srgbClr val="4CAF50"/>
                </a:solidFill>
              </a:rPr>
              <a:t>Measures</a:t>
            </a:r>
            <a:endParaRPr lang="en-US" sz="950" dirty="0"/>
          </a:p>
        </p:txBody>
      </p:sp>
      <p:sp>
        <p:nvSpPr>
          <p:cNvPr id="68" name="Shape 17">
            <a:extLst>
              <a:ext uri="{FF2B5EF4-FFF2-40B4-BE49-F238E27FC236}">
                <a16:creationId xmlns:a16="http://schemas.microsoft.com/office/drawing/2014/main" id="{3D25DA89-A9CF-5F88-B757-ED1E5E49D4AD}"/>
              </a:ext>
            </a:extLst>
          </p:cNvPr>
          <p:cNvSpPr/>
          <p:nvPr/>
        </p:nvSpPr>
        <p:spPr>
          <a:xfrm>
            <a:off x="5495544" y="4206240"/>
            <a:ext cx="1508760" cy="576072"/>
          </a:xfrm>
          <a:prstGeom prst="roundRect">
            <a:avLst>
              <a:gd name="adj" fmla="val 15873"/>
            </a:avLst>
          </a:prstGeom>
          <a:solidFill>
            <a:srgbClr val="9C27B0">
              <a:alpha val="25000"/>
            </a:srgbClr>
          </a:solidFill>
          <a:ln/>
        </p:spPr>
        <p:txBody>
          <a:bodyPr/>
          <a:lstStyle/>
          <a:p>
            <a:endParaRPr lang="en-MY"/>
          </a:p>
        </p:txBody>
      </p:sp>
      <p:sp>
        <p:nvSpPr>
          <p:cNvPr id="70" name="Text 18">
            <a:extLst>
              <a:ext uri="{FF2B5EF4-FFF2-40B4-BE49-F238E27FC236}">
                <a16:creationId xmlns:a16="http://schemas.microsoft.com/office/drawing/2014/main" id="{5ABF5C93-45B0-59E9-5705-ED9D6F38BCD8}"/>
              </a:ext>
            </a:extLst>
          </p:cNvPr>
          <p:cNvSpPr/>
          <p:nvPr/>
        </p:nvSpPr>
        <p:spPr>
          <a:xfrm>
            <a:off x="5495544" y="4206240"/>
            <a:ext cx="1508760" cy="576072"/>
          </a:xfrm>
          <a:prstGeom prst="rect">
            <a:avLst/>
          </a:prstGeom>
          <a:noFill/>
          <a:ln/>
        </p:spPr>
        <p:txBody>
          <a:bodyPr wrap="square" lIns="0" tIns="0" rIns="0" bIns="0" rtlCol="0" anchor="ctr"/>
          <a:lstStyle/>
          <a:p>
            <a:pPr marL="0" indent="0" algn="ctr">
              <a:buNone/>
            </a:pPr>
            <a:r>
              <a:rPr lang="en-US" sz="950" b="1" dirty="0">
                <a:solidFill>
                  <a:srgbClr val="9C27B0"/>
                </a:solidFill>
              </a:rPr>
              <a:t>4 Interactive</a:t>
            </a:r>
            <a:endParaRPr lang="en-US" sz="950" dirty="0"/>
          </a:p>
          <a:p>
            <a:pPr marL="0" indent="0" algn="ctr">
              <a:buNone/>
            </a:pPr>
            <a:r>
              <a:rPr lang="en-US" sz="950" b="1" dirty="0">
                <a:solidFill>
                  <a:srgbClr val="9C27B0"/>
                </a:solidFill>
              </a:rPr>
              <a:t>Dashboards</a:t>
            </a:r>
            <a:endParaRPr lang="en-US" sz="950" dirty="0"/>
          </a:p>
        </p:txBody>
      </p:sp>
      <p:sp>
        <p:nvSpPr>
          <p:cNvPr id="72" name="Shape 19">
            <a:extLst>
              <a:ext uri="{FF2B5EF4-FFF2-40B4-BE49-F238E27FC236}">
                <a16:creationId xmlns:a16="http://schemas.microsoft.com/office/drawing/2014/main" id="{CF529F97-927A-8355-8588-6DBB47D688A0}"/>
              </a:ext>
            </a:extLst>
          </p:cNvPr>
          <p:cNvSpPr/>
          <p:nvPr/>
        </p:nvSpPr>
        <p:spPr>
          <a:xfrm>
            <a:off x="7159752" y="4206240"/>
            <a:ext cx="1508760" cy="576072"/>
          </a:xfrm>
          <a:prstGeom prst="roundRect">
            <a:avLst>
              <a:gd name="adj" fmla="val 15873"/>
            </a:avLst>
          </a:prstGeom>
          <a:solidFill>
            <a:srgbClr val="FFC107">
              <a:alpha val="25000"/>
            </a:srgbClr>
          </a:solidFill>
          <a:ln/>
        </p:spPr>
        <p:txBody>
          <a:bodyPr/>
          <a:lstStyle/>
          <a:p>
            <a:endParaRPr lang="en-MY"/>
          </a:p>
        </p:txBody>
      </p:sp>
      <p:sp>
        <p:nvSpPr>
          <p:cNvPr id="74" name="Text 20">
            <a:extLst>
              <a:ext uri="{FF2B5EF4-FFF2-40B4-BE49-F238E27FC236}">
                <a16:creationId xmlns:a16="http://schemas.microsoft.com/office/drawing/2014/main" id="{0CE6B536-5C2F-0E74-A11D-0D37CE3EEB71}"/>
              </a:ext>
            </a:extLst>
          </p:cNvPr>
          <p:cNvSpPr/>
          <p:nvPr/>
        </p:nvSpPr>
        <p:spPr>
          <a:xfrm>
            <a:off x="7159752" y="4206240"/>
            <a:ext cx="1508760" cy="576072"/>
          </a:xfrm>
          <a:prstGeom prst="rect">
            <a:avLst/>
          </a:prstGeom>
          <a:noFill/>
          <a:ln/>
        </p:spPr>
        <p:txBody>
          <a:bodyPr wrap="square" lIns="0" tIns="0" rIns="0" bIns="0" rtlCol="0" anchor="ctr"/>
          <a:lstStyle/>
          <a:p>
            <a:pPr marL="0" indent="0" algn="ctr">
              <a:buNone/>
            </a:pPr>
            <a:r>
              <a:rPr lang="en-US" sz="950" b="1" dirty="0">
                <a:solidFill>
                  <a:srgbClr val="FFC107"/>
                </a:solidFill>
              </a:rPr>
              <a:t>5 BOs</a:t>
            </a:r>
            <a:endParaRPr lang="en-US" sz="950" dirty="0"/>
          </a:p>
          <a:p>
            <a:pPr marL="0" indent="0" algn="ctr">
              <a:buNone/>
            </a:pPr>
            <a:r>
              <a:rPr lang="en-US" sz="950" b="1" dirty="0">
                <a:solidFill>
                  <a:srgbClr val="FFC107"/>
                </a:solidFill>
              </a:rPr>
              <a:t>Addressed</a:t>
            </a:r>
            <a:endParaRPr lang="en-US" sz="950" dirty="0"/>
          </a:p>
        </p:txBody>
      </p:sp>
      <p:sp>
        <p:nvSpPr>
          <p:cNvPr id="82" name="Text 43">
            <a:extLst>
              <a:ext uri="{FF2B5EF4-FFF2-40B4-BE49-F238E27FC236}">
                <a16:creationId xmlns:a16="http://schemas.microsoft.com/office/drawing/2014/main" id="{7DEE6F1D-DAC1-6E48-AC8B-E89F2F3C8F89}"/>
              </a:ext>
            </a:extLst>
          </p:cNvPr>
          <p:cNvSpPr/>
          <p:nvPr/>
        </p:nvSpPr>
        <p:spPr>
          <a:xfrm>
            <a:off x="5113757" y="2116836"/>
            <a:ext cx="3678199"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Data truncates Sep 2018</a:t>
            </a:r>
            <a:endParaRPr lang="en-US" sz="900" dirty="0"/>
          </a:p>
        </p:txBody>
      </p:sp>
      <p:sp>
        <p:nvSpPr>
          <p:cNvPr id="84" name="Shape 45">
            <a:extLst>
              <a:ext uri="{FF2B5EF4-FFF2-40B4-BE49-F238E27FC236}">
                <a16:creationId xmlns:a16="http://schemas.microsoft.com/office/drawing/2014/main" id="{753F26A4-3393-5602-DF56-88A981205D5A}"/>
              </a:ext>
            </a:extLst>
          </p:cNvPr>
          <p:cNvSpPr/>
          <p:nvPr/>
        </p:nvSpPr>
        <p:spPr>
          <a:xfrm>
            <a:off x="4935688" y="2184266"/>
            <a:ext cx="83100" cy="91440"/>
          </a:xfrm>
          <a:prstGeom prst="ellipse">
            <a:avLst/>
          </a:prstGeom>
          <a:solidFill>
            <a:srgbClr val="4472C4"/>
          </a:solidFill>
          <a:ln w="12700">
            <a:solidFill>
              <a:srgbClr val="4472C4"/>
            </a:solidFill>
            <a:prstDash val="solid"/>
          </a:ln>
        </p:spPr>
        <p:txBody>
          <a:bodyPr/>
          <a:lstStyle/>
          <a:p>
            <a:endParaRPr lang="en-MY"/>
          </a:p>
        </p:txBody>
      </p:sp>
    </p:spTree>
    <p:extLst>
      <p:ext uri="{BB962C8B-B14F-4D97-AF65-F5344CB8AC3E}">
        <p14:creationId xmlns:p14="http://schemas.microsoft.com/office/powerpoint/2010/main" val="2532839322"/>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
        <p:cNvGrpSpPr/>
        <p:nvPr/>
      </p:nvGrpSpPr>
      <p:grpSpPr>
        <a:xfrm>
          <a:off x="0" y="0"/>
          <a:ext cx="0" cy="0"/>
          <a:chOff x="0" y="0"/>
          <a:chExt cx="0" cy="0"/>
        </a:xfrm>
      </p:grpSpPr>
      <p:sp>
        <p:nvSpPr>
          <p:cNvPr id="45" name="Shape 0">
            <a:extLst>
              <a:ext uri="{FF2B5EF4-FFF2-40B4-BE49-F238E27FC236}">
                <a16:creationId xmlns:a16="http://schemas.microsoft.com/office/drawing/2014/main" id="{1EE855B5-C004-0786-2415-A08B86FD8BA6}"/>
              </a:ext>
            </a:extLst>
          </p:cNvPr>
          <p:cNvSpPr/>
          <p:nvPr/>
        </p:nvSpPr>
        <p:spPr>
          <a:xfrm>
            <a:off x="6217920" y="-1097280"/>
            <a:ext cx="4572000" cy="4572000"/>
          </a:xfrm>
          <a:prstGeom prst="ellipse">
            <a:avLst/>
          </a:prstGeom>
          <a:solidFill>
            <a:srgbClr val="6EC6D0">
              <a:alpha val="15000"/>
            </a:srgbClr>
          </a:solidFill>
          <a:ln/>
        </p:spPr>
        <p:txBody>
          <a:bodyPr/>
          <a:lstStyle/>
          <a:p>
            <a:endParaRPr lang="en-MY"/>
          </a:p>
        </p:txBody>
      </p:sp>
      <p:sp>
        <p:nvSpPr>
          <p:cNvPr id="47" name="Shape 1">
            <a:extLst>
              <a:ext uri="{FF2B5EF4-FFF2-40B4-BE49-F238E27FC236}">
                <a16:creationId xmlns:a16="http://schemas.microsoft.com/office/drawing/2014/main" id="{38C80DF5-9279-B963-5A9A-80D6604AF15C}"/>
              </a:ext>
            </a:extLst>
          </p:cNvPr>
          <p:cNvSpPr/>
          <p:nvPr/>
        </p:nvSpPr>
        <p:spPr>
          <a:xfrm>
            <a:off x="6675120" y="-548640"/>
            <a:ext cx="4114800" cy="4114800"/>
          </a:xfrm>
          <a:prstGeom prst="ellipse">
            <a:avLst/>
          </a:prstGeom>
          <a:solidFill>
            <a:srgbClr val="E07052">
              <a:alpha val="15000"/>
            </a:srgbClr>
          </a:solidFill>
          <a:ln/>
        </p:spPr>
        <p:txBody>
          <a:bodyPr/>
          <a:lstStyle/>
          <a:p>
            <a:endParaRPr lang="en-MY"/>
          </a:p>
        </p:txBody>
      </p:sp>
      <p:sp>
        <p:nvSpPr>
          <p:cNvPr id="49" name="Shape 2">
            <a:extLst>
              <a:ext uri="{FF2B5EF4-FFF2-40B4-BE49-F238E27FC236}">
                <a16:creationId xmlns:a16="http://schemas.microsoft.com/office/drawing/2014/main" id="{56F3DDB4-CF33-7258-C405-99DD2D3CCF4D}"/>
              </a:ext>
            </a:extLst>
          </p:cNvPr>
          <p:cNvSpPr/>
          <p:nvPr/>
        </p:nvSpPr>
        <p:spPr>
          <a:xfrm>
            <a:off x="7132320" y="0"/>
            <a:ext cx="3657600" cy="3657600"/>
          </a:xfrm>
          <a:prstGeom prst="ellipse">
            <a:avLst/>
          </a:prstGeom>
          <a:solidFill>
            <a:srgbClr val="1565C0">
              <a:alpha val="22000"/>
            </a:srgbClr>
          </a:solidFill>
          <a:ln/>
        </p:spPr>
        <p:txBody>
          <a:bodyPr/>
          <a:lstStyle/>
          <a:p>
            <a:endParaRPr lang="en-MY"/>
          </a:p>
        </p:txBody>
      </p:sp>
      <p:sp>
        <p:nvSpPr>
          <p:cNvPr id="53" name="Text 3">
            <a:extLst>
              <a:ext uri="{FF2B5EF4-FFF2-40B4-BE49-F238E27FC236}">
                <a16:creationId xmlns:a16="http://schemas.microsoft.com/office/drawing/2014/main" id="{43D2659A-7B4C-B2E2-482C-76A8AE36F72F}"/>
              </a:ext>
            </a:extLst>
          </p:cNvPr>
          <p:cNvSpPr/>
          <p:nvPr/>
        </p:nvSpPr>
        <p:spPr>
          <a:xfrm>
            <a:off x="457200" y="1915160"/>
            <a:ext cx="6400800" cy="685800"/>
          </a:xfrm>
          <a:prstGeom prst="rect">
            <a:avLst/>
          </a:prstGeom>
          <a:noFill/>
          <a:ln/>
        </p:spPr>
        <p:txBody>
          <a:bodyPr wrap="square" lIns="0" tIns="0" rIns="0" bIns="0" rtlCol="0" anchor="ctr"/>
          <a:lstStyle/>
          <a:p>
            <a:pPr marL="0" indent="0" algn="l">
              <a:buNone/>
            </a:pPr>
            <a:r>
              <a:rPr lang="en-US" sz="4200" b="1" dirty="0">
                <a:solidFill>
                  <a:srgbClr val="FFFFFF"/>
                </a:solidFill>
              </a:rPr>
              <a:t>Thank You</a:t>
            </a:r>
            <a:endParaRPr lang="en-US" sz="4200" dirty="0"/>
          </a:p>
        </p:txBody>
      </p:sp>
      <p:sp>
        <p:nvSpPr>
          <p:cNvPr id="55" name="Text 4">
            <a:extLst>
              <a:ext uri="{FF2B5EF4-FFF2-40B4-BE49-F238E27FC236}">
                <a16:creationId xmlns:a16="http://schemas.microsoft.com/office/drawing/2014/main" id="{C5F3F292-1421-55C8-011F-6F8DDAE37058}"/>
              </a:ext>
            </a:extLst>
          </p:cNvPr>
          <p:cNvSpPr/>
          <p:nvPr/>
        </p:nvSpPr>
        <p:spPr>
          <a:xfrm>
            <a:off x="457200" y="2692400"/>
            <a:ext cx="6400800" cy="411480"/>
          </a:xfrm>
          <a:prstGeom prst="rect">
            <a:avLst/>
          </a:prstGeom>
          <a:noFill/>
          <a:ln/>
        </p:spPr>
        <p:txBody>
          <a:bodyPr wrap="square" lIns="0" tIns="0" rIns="0" bIns="0" rtlCol="0" anchor="ctr"/>
          <a:lstStyle/>
          <a:p>
            <a:pPr marL="0" indent="0" algn="l">
              <a:buNone/>
            </a:pPr>
            <a:r>
              <a:rPr lang="en-US" sz="2000" dirty="0">
                <a:solidFill>
                  <a:srgbClr val="00BCD4"/>
                </a:solidFill>
              </a:rPr>
              <a:t>Questions &amp; Discussion</a:t>
            </a:r>
            <a:endParaRPr lang="en-US" sz="2000" dirty="0"/>
          </a:p>
        </p:txBody>
      </p:sp>
      <p:pic>
        <p:nvPicPr>
          <p:cNvPr id="91" name="Picture 90">
            <a:extLst>
              <a:ext uri="{FF2B5EF4-FFF2-40B4-BE49-F238E27FC236}">
                <a16:creationId xmlns:a16="http://schemas.microsoft.com/office/drawing/2014/main" id="{E5B57E5B-0A0F-3EC2-260F-25271C89FCE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0" b="99660" l="7203" r="90285">
                        <a14:foregroundMark x1="10553" y1="40136" x2="10553" y2="40136"/>
                        <a14:foregroundMark x1="43719" y1="11565" x2="26801" y2="93537"/>
                        <a14:foregroundMark x1="30653" y1="14966" x2="34506" y2="16327"/>
                        <a14:foregroundMark x1="28643" y1="4422" x2="88945" y2="31973"/>
                        <a14:foregroundMark x1="88945" y1="31973" x2="30988" y2="91156"/>
                        <a14:foregroundMark x1="30988" y1="91156" x2="86265" y2="70408"/>
                        <a14:foregroundMark x1="89950" y1="35374" x2="90285" y2="65986"/>
                        <a14:foregroundMark x1="26298" y1="340" x2="26801" y2="85714"/>
                        <a14:foregroundMark x1="23618" y1="6122" x2="29648" y2="340"/>
                        <a14:foregroundMark x1="21608" y1="5442" x2="19933" y2="11905"/>
                        <a14:foregroundMark x1="21943" y1="7823" x2="21943" y2="7823"/>
                        <a14:foregroundMark x1="17923" y1="12585" x2="17923" y2="12585"/>
                        <a14:foregroundMark x1="13568" y1="19048" x2="15578" y2="20748"/>
                        <a14:foregroundMark x1="18425" y1="16667" x2="18425" y2="16667"/>
                        <a14:foregroundMark x1="18760" y1="13265" x2="11893" y2="28571"/>
                        <a14:foregroundMark x1="20268" y1="11565" x2="17923" y2="76531"/>
                        <a14:foregroundMark x1="26801" y1="96939" x2="62814" y2="99660"/>
                        <a14:foregroundMark x1="70352" y1="95578" x2="70687" y2="99660"/>
                        <a14:foregroundMark x1="27638" y1="85034" x2="17253" y2="72789"/>
                        <a14:foregroundMark x1="24791" y1="93878" x2="7203" y2="54762"/>
                      </a14:backgroundRemoval>
                    </a14:imgEffect>
                  </a14:imgLayer>
                </a14:imgProps>
              </a:ext>
            </a:extLst>
          </a:blip>
          <a:srcRect/>
          <a:stretch>
            <a:fillRect/>
          </a:stretch>
        </p:blipFill>
        <p:spPr>
          <a:xfrm>
            <a:off x="68698" y="58790"/>
            <a:ext cx="926371" cy="456203"/>
          </a:xfrm>
          <a:prstGeom prst="rect">
            <a:avLst/>
          </a:prstGeom>
        </p:spPr>
      </p:pic>
    </p:spTree>
    <p:extLst>
      <p:ext uri="{BB962C8B-B14F-4D97-AF65-F5344CB8AC3E}">
        <p14:creationId xmlns:p14="http://schemas.microsoft.com/office/powerpoint/2010/main" val="612087975"/>
      </p:ext>
    </p:extLst>
  </p:cSld>
  <p:clrMapOvr>
    <a:masterClrMapping/>
  </p:clrMapOvr>
  <mc:AlternateContent xmlns:mc="http://schemas.openxmlformats.org/markup-compatibility/2006">
    <mc:Choice xmlns:p14="http://schemas.microsoft.com/office/powerpoint/2010/main" Requires="p14">
      <p:transition spd="slow" p14:dur="2500">
        <p14:pan dir="u"/>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webextension1.xml><?xml version="1.0" encoding="utf-8"?>
<we:webextension xmlns:we="http://schemas.microsoft.com/office/webextensions/webextension/2010/11" id="{A5048553-AC0F-46C0-B53A-1DC1A0A4F84C}">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001647&quot;"/>
    <we:property name="bookmark" value="&quot;H4sIAAAAAAAAA+1bWW/bSBL+KwKBxbwYi242j+68ZeRsdoEkk4kNL4JFIFR3FyVOKLaWhxNt4P++xUOOD9mWGfmQbcAPFvuq+r6q6qoS9cOzabnIYPkB5ui98n537usciq8j7u15efcsQq7QgmQ2toKZAMAHGnWLKnV56b364VVQTLE6SssasmYjevifL3seZNlHmDafEshK3PMWWJQuhyz9H3aTaagqajzZ8/D7InMFNFseVFBhs+0xTafPJAL/u6ATwVTpMR6gqbqnNsbAJBEoHgGi9COFSNPKbkIr2dopzdbt8WOXV5DmdEzzzJeK/hSo0MSWMYNhyJvnZZpPs17gn2sPl4sGnHIGi+ZQp/+iY5t9Tk5IHW4ig0EgJQvRCm5DFfnN2iTNqv44vXzzfVEQUoRft9drewy5Qeu1cBRYdtr/8N4jlHXRCv7m3MCBqwuDnzBph/IqrZYNLoTfxBUWi8mCxmdQotcI9bFwxEA75bP7PHpbuG/V7G/t0Mx9GxdI66z3ip18oSfXam2gsP3QOdXpQ3Ps78tWrf20WHHl712Q/K5VIh0aGoTwAxkIprlEq7iM4FHR8Pb90ehjkbpi9BmheCpMXNKqI0NxFfuBlsyXBqxl4PPB/iXC0ALnQnINOo6Y0hLujViXpWXVY5BWOC8nBArhUF0yycP9EYGxE7wOUKqj1UihWZhgzJlgSrBYBfFQWqVOZEwxOiSPpXCtQAp8EFoLPE7x25UYvD6ejj61U0YHxhW4cwzfXr+ObIahYhyUjgwLtZGhH8rBZCdxJJHFEnQkfIs+NsgNjAeCK+BaGqWQR1oDiPsL9Bu7zqGrIKPQ6GxNso8OXGZ3znIGKNiZDoYY8FD5FLHjyI+kYfAwvr2BBn80E8unyM2pZv2d7CfaGiVsHAZBSHdz2AXcIT6ogkhwYWkLZY2IlGLIHivBT+5WPqtWR61IYj/SwkhOBQ33Q85YNJRaGxuGsQKNdMkryQWGN1M7JlinrkhNi9Z5dscuq+f5EBQWsJxjXl0JRD8+aYW4TPHejlqedXldjWdQVI/b8lZVOk3460wd3ttCJ+W9kf+lM17NEbRRvmayMdyAkpgbjffQLT4Q0t2cZsrRqhlBwP6jcPN2ct81KWv93xpJu4uYH6wG6P8/V/9ct5Nrtjiv+aK/TU913vM6m2iNebWOX164jrufa4mpA8yIos0p6T60Ul7EvZNxYnqaJ03raIJkz2k582huL2aSYpMR0Nl/bNVqf0rGbzJPItZ7xcPWMjos/LM43gp/2u7fM2ykayHMbVr10v3rApblPaDcagc6w6u3PDXUk5P2mthGWL6Ezy2lfioRuioQ57C4GJ7XhsO3hasXg2PhryLehcWQR74wgeBoDYdQGNQ7lq49uKVcWSbs3UEStEHj7b3Lq9lVrcTto7WRRO8nv9BnztIcDyowX9F2YI3dXLu1adC2047bwt05FWBgY60SjVIxizEIcZ+J8uOzke171KMKQRtZ8DirS2J/V2xYq1gKbeh+QOtHfqyYMg9yMfx6E/ZureYG+c7KNjpsvyIdYkFTqKf4AEXf0BZxHEmdKIp+sQi44Mwy/kC9gitl38eM/KxYjpqvmut7DzdXytVGv9HY1fkgS1mk+EAdgg01uuP2wC34XqXAonkhwPc55cEs9gH8m1vSO9EZ2JHq/vV0WuAUVlXzm9v7/fBqmSCu814wcbY3wF56A8+nNwDpZIo5Fs0JrZTr7rnxu6ORXo5Oo9SA2KyhuM/YPFCtuwvQ2+lZSMN4qChsh5JZGSkZsYdJTe+yZ/HPlHijbH35Do8xuyzd6fjloZUQR1Ck3bt0vXf/4l3aR8DTbb1z+p6vMCZVOseygvmiXXpGWm+fUBj9fNAM9zp6Nxak12WIzxKxtnJ7RDFyVhf56FNafh29o5p3cK08rC5+lhaw8plnqv7KAbqrwReJRWAqRIMMGUOfXfMGUP9qM9MyCTDU0jcskKGNTRyQoGtDzmYJ/5okcYouc6YF4VZ54gdXXWbhTpLHsxKW7dvXbSZwBFndvstNJ7yjG6/ofLZ9TKvyOsuaiV+2mDCuw2oDYc+HGn4n/fcbo6Cpy8rNyawzt4SsWpJV46B3esssNbTybBD0aN9p65TtyQ3ni+7kFLtxZ9thbC18LV+/7dMK677lv61S/KtC6ynx94ZRn94FChAB4xC0CbiUCNd8U//iwy8+/Ciq0ifs0Nss3qz2JfIoYAxCUNYy6fMX736W3v0MfGYgTn1jWvtKmiQRjPkRcgZB8HIRPk9X4ZsU9Fv/Wnjoz9F212s3B6V/0yOMEsZ0FKiIheSmoQzaevNaeNI5XPwut9mLBYmw5LaRH0QgbOwby27cq8LvlXbfL+7WbrgOfVdX5QIMfoQc17BA6ENuu1/gXMNE+0veUxJOTv4PtVq2n0E8AAA=&quot;"/>
    <we:property name="creatorSessionId" value="&quot;24506a00-b2ba-4cdf-b0c2-e07ffdeba863&quot;"/>
    <we:property name="creatorTenantId" value="&quot;537c2be1-fcd4-45a9-83b3-6653eacc5070&quot;"/>
    <we:property name="creatorUserId" value="&quot;1003200583580DEE&quot;"/>
    <we:property name="datasetId" value="&quot;10173555-452a-4a83-9785-48d56cac196c&quot;"/>
    <we:property name="design" value="{&quot;border&quot;:{&quot;isActive&quot;:false,&quot;color&quot;:&quot;#808080&quot;,&quot;width&quot;:1,&quot;transparency&quot;:0,&quot;dash&quot;:&quot;solid&quot;}}"/>
    <we:property name="embedUrl" value="&quot;/reportEmbed?reportId=f16815f9-6c6f-465b-a7e8-4e705aa18aa7&amp;config=eyJjbHVzdGVyVXJsIjoiaHR0cHM6Ly9XQUJJLVNPVVRILUVBU1QtQVNJQS1DLVBSSU1BUlktcmVkaXJlY3QuYW5hbHlzaXMud2luZG93cy5uZXQiLCJlbWJlZEZlYXR1cmVzIjp7InVzYWdlTWV0cmljc1ZOZXh0Ijp0cnVlfX0%3D&amp;disableSensitivityBanner=true&amp;storytellingChangeViewModeShortcutKeys=true&quot;"/>
    <we:property name="initialStateBookmark" value="&quot;H4sIAAAAAAAAA+1bWW/bSBL+KwKBwbwYi242j+68eeRsdjFxkokNL4JFIPRRlDih2BweTjSB//sUm5TjQ7ZlRj5kG/CD1WfV91VVVxfJ755JqyKTi3dyDt4r7zdrv8xl+WVEvR0v79vev/99f/fj75N3u/uvsdkWdWrzynv13atlOYX6KK0ambUrYOP/P+94Mss+yGn7K5FZBTteAWVlc5mlf0M3GLvqsoGTHQ++FZktZbvkQS1raJc9xuH4G/em/2K4o9R1egwHoOuu1cQQ6CSSgkYSgPuRAMBhVTfASbZySLu0235s81qmOW7Ttvlc4J+QItSxIURDGNK2vUrzadYL/GPu4aJoUalmsmg3tepP3LZd5+QE1aE60hAEnJMQDKMmFJHfzk3SrO63U4vX34oSkUL8urV2zbHMNRjPwVFC1Wn/3dsHWTWlE/z1uY4D25QaPkLiuvI6rRctLojfxJYGykmB/TNZgdcK9aG0yIAb8sl+Gr0p7dd69ovrmtmv4xJwnvFekZPP2HKt1lqWpu86pzr+aLf9beHU2kvLJVf+zgXJ71ol1KGlgTE/4AEjinIwgvJIPioa3uwfjT6UqS1Hn0CWT4WJS1p1ZAgqYj9QnPhcS2OI9Olg/2JhaCSljFMlVRwRobi8N2JtllZ1j0Faw7yaICiIQ33JJA/3RgjGVvA6QKmOVs2ZImECMSWMCEZiEcRDaeUq4THG6BA9FsO1kJzBg9BawnEKX6/EYPd4OvrohowOtC1h6xi+vX4d2QRCQagUKtIkVJqHfsgHk53EEQcSc6ki5hvwoUVuYDxgVEiquBYCaKSUlOz+Av3arnNoa5lhaLSmQdlHBzYzW2c5AxTsTAdCCGgofIzYceRHXBP5ML69hgbv24HVU+TmVLP+TPYTZbRgJg6DIMSzOewC7hAfFEHEKDO4hDCaRUIQII+V4Cd3Kp9Vq6OWJbEfKaY5xQsN9UNKSDSUWhNrArGQCvCQF5wyCG+mdoywTm2ZaofWeXbHNmvm+RAUCrmYQ15fCUTfP3FCXKZ4Z0stz9i8qcczWdaP2/KWt3Qc8OeZe3hvC52U90b+5854FQWptPAV4a3hBpjE3Gi8h7Z4h0h3Y9ohR8tiBAL779LO3eC+XFI16q8GULuLmB8sO/D/P5b/XLeSbZc4r3nRn6anOu94nU04Y17Oo5cnruLux1xk6gAypGh9SrofTsqLuHcyTnRP86StGU0A7TmtZh6O7cVMUmgzAtz7/Uat9odk9CbzRGK9VzR0ltFh4Z/F8Vb443L/m0ErnYMwN2ndS/ffC1hW94Cy006qDK5e8tRQT07cMbGJsHwJn1tK/VQidF0CzGVxMTyvDIdvStsUg2PhzyLehcWQRj7TAaNgNJUh06C2LF17cEu58pqwcwdJ0BqFt32b17OrSombR2stifYnP1FnztIcDmqpv4DpwBrbubIr06BNpx23hbtzKgmBiZVIFHBBDMSSsftMlB+fjWzeox5VCFrLgsdZUyH722LDSsScKY3nAxg/8mNBhH6Qg+Hni7B3azU3yHdWttGhe0Q6xIKmspnCA1z6hpaI44irRGD0i1lAGSWG0AeqFVwp+x5k6GflYtQ+am7uPdxcKZeLfqOxbfJBllKk8EAVgjU1uuPywC34XqbArH0hwPcp5sEk9qX0by5Jb0VlYEtu97vTaQlTubw1v7693w+/LSPETd4Lxs7WBshLbeD51AZkOplCDmW7g5Ny1Tk3fns0UovRaZQaEJuVLO8zNg9U6+4C9GZqFlwTGgoM2yEnhkeCR+RhUtO7rFn8J0XeMFtfvIVjyC5Ld9p/uWspxJEs0+5dut67f/Is7SPg6bLeOX3P3zAmdTqHqpbzwk09I623hyiMfjS03b2O3o0X0usyxGeJmLu5PaIYOWvKfPQxrb6M3uKdd/Bdedi9+FlawNJnnqn6SwfojgafJQYkESFoIEAI+OSaN4D6d5qJ4kkAoeK+JgEPTazjAAVdGXLWS/hXJIlTsJnVDoRb5YnvbH2ZhTtJHs9KWLm3r10mcCSzxr3LjTu8xROv7HzWNeOsvMmyduDnDSaMq7BaQ9jzoYbeSf39xiiom6q2czTrzC5kVi/QqmHQO71VlmqceTYIerju1Dml27nlvOh2TqHrt8Z1g7PwlXz9uoczjP2a/7pM8a8KrafE3xtGfXoXCAkgIQ6l0gHlHOQ1T+pffPjFhx/FrfQJO/QmL29G+RxoFBAiQymMIdynL979LL37GfjMQJz6wrTyBddJwgjxI6BEBsHLQfg8XYWuc6Hf+GPhoZ+jba/Xrg9K/6ZHGCWEqCgQEQnRTUMeuPvmtfCkc3nxWW67FgkSZtBtIz+IJDOxrw25ca0avtXKfru4mltwFfq2qatCavggc1jBAqIvc9N9gXMNE+5LXs9tgtKk/ROFaya03/eeknZy8g8Fk6GnajwAAA==&quot;"/>
    <we:property name="isFiltersActionButtonVisible" value="true"/>
    <we:property name="isFooterCollapsed" value="true"/>
    <we:property name="isVisualContainerHeaderHidden" value="false"/>
    <we:property name="pageDisplayName" value="&quot;Executive &quot;"/>
    <we:property name="pageName" value="&quot;d7e4cf6a916aee8269ee&quot;"/>
    <we:property name="reportEmbeddedTime" value="&quot;2026-06-12T16:54:00.475Z&quot;"/>
    <we:property name="reportName" value="&quot;BI_project (5)&quot;"/>
    <we:property name="reportState" value="&quot;CONNECTED&quot;"/>
    <we:property name="reportUrl" value="&quot;/groups/me/reports/f16815f9-6c6f-465b-a7e8-4e705aa18aa7/d7e4cf6a916aee8269ee&quot;"/>
  </we:properties>
  <we:bindings/>
  <we:snapshot xmlns:r="http://schemas.openxmlformats.org/officeDocument/2006/relationships"/>
</we:webextension>
</file>

<file path=ppt/webextensions/webextension2.xml><?xml version="1.0" encoding="utf-8"?>
<we:webextension xmlns:we="http://schemas.microsoft.com/office/webextensions/webextension/2010/11" id="{42EA2EAB-D902-4A10-B5E3-2194017403CD}">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001647&quot;"/>
    <we:property name="bookmark" value="&quot;H4sIAAAAAAAAA+1c7U/bTBL/V5ClU79wp33xvvVbS/voTurT8hTUu9OpQvsyDn7q2DnbSclV/O83thOgkMQhBEgBkBDxrmdn5jczOzO78CMKaTXK7PSjHUL0OnpbFN+Gtvy2R6P9KO+eBSmFUp5J4qgmkoIXHEeLUZ0WeRW9/hHVthxA/SWtxjZrCOHD/3zdj2yWHdpB8ymxWQX70QjKqshtlv4Pusk4VJdjON+P4GyUFaVtSB7VtoaG7ASn42dkgf6tWdH6Op3AEfi6expipn0g2gnmCNHESN2wXXUTWs4WTmlIt8sfFHlt0xyXaZ55FYJ2PtBYQoyiysBD87xK80E2Y/jy3ePpqFFOOkQJG224P3HZhs75OYoTOFcqJDwWJiguHYk56aVlW77fjusaxbtBUoNMJBVcxkbGsSGBONZLsjq1owXsxd4kiROSGkMcYaBjUM27SZrVM2246fuzUYlAIrwdrTdhYnMPIWrRKqHqwPkR/Q62GpctZO9/GjgqxqWHz5C0Q3md1lOkU2RpVZ8UZcCVToKtbQV11HB1WBZoIe2cN5PB3jvIEO5yuvfOTqt2wmnx/aAEtA7EhZx/xScrhfe2DLOhnzSAH5rF305b6d6l5dyi2P41AR5IMhQFJympraEaiNacmGBjFvSmAJvYuEAoo2jviLAQjumdA/h9VaP7IJpPD+EbonUQcwHOaiWcN5YEQQh1dFOIMbBZoUFx7gMnLGZShp2C+APKf2nqf3ky+N6UqwPXB+OZMN4JYYEK9F6zMbhEcmDeKIOxwKogtBbxToH7Kf/rcTp8kvguFK2DOAlWcLDSMhIMei847jeFmCcm8S6WgQTNuBAxt/4xID5JaxiuDGa/lZAOTutfDeDbCNbBK6nVmBA5KiiXAr+ZEZvC62KrmSeUiGCVUpr7WOyUB79B28bcde9TM2vvi83G8KshfEvZZntw0ATTcyoCiUnMuMWaYKeAWSu07j8KaxcsHbcV34PwZdOTAWCN1qzQ8nWdqd/TPB2Oh0tN+DFYsmcrWer1qoEdXy8rd3VPdJ7FIlYQc0cZYRJzWtnrT8fF6COK181ppnyZ1/oozW9lMWwnz5oS1dj9d4yLRtcFPZoP4O9/zH9ZRaloSPwstx9XdTG8Kvp+1IHQWs78RXrzzWsau3zt6350BBnC0y59UGTjYd4DRveh5fCa5uf8nVRtWwQHZywlKWQhahb7tFW7uGSFrle77jdoRq8pafe9Tgnsqu5up3Sk989TaNhslZeHtJ6x+Y9rWqzuQ7+tPNZlsJzGhT2en7dOcD2arMVRr0b6+NyNHWE7jZoMhUPIw1tbHpzast6hyLfM5rtmJE7880q78QBFHhTldH3DvLMZfG29LmHWidiToCiVLnADTvVmrjWc1a44u5m7Up9wqRUQ7ZUmzEgsTjanpgO3TFiNubACQ5Shob8XuiSrTiAWYL3kMVZMBMtiIPRXK5p211EvOZsZcurbtP7Jh7fVcB4Xtc26WmKj8FZ5W6N1LoxsC8PIv1rrfRjrxFD2aFELS22VcBuUdD5mKjjHNo4M3kHsHdfGhACUMEcsbB6zvDQmDp5xJTHC4Je1d4iAwiuFVSahygpJiKScr0iRZ8duJggVhFEMg7nWKJEgBkkvdND18uhwNRFDpGBmLSNE9hRhWysJ+1jUN41jG5lZuFFEFXl9uvdvsGVnpm0x1VBG0h/QwssOgq7Geh29OoLRHiNUvmqnL5n0ydf9kz4Wk/5J78BfTvq6lVRwESarlLIbO8u8Njwoxvnu7Hdtl34ZS/0ZaYvb+hH7DiH0tqB3oZMJnWBgoEApxqhYCstcb0jxQlMWbPPTG8dE8AAvIeUlpOxcSLldsvrrnVtnaQ47HFw4EzGNuXTggiIeS7bANq+yNskoO5ZLmKTwfSkW3fBJ5Yvy4SuGHt4+t8Mbnoo+fjvkFuLdXzNkEyPoDNh6nWBJYTyTWnBGHCErDt9mu6MIKtZUOZxtKWjMvTm/2+64oPO5qmn80NvjjV5op/CmRhtX622QdjQqiwmEldua72x/5Zw0nxSp75k0zu3EplnTnd3iFrlO2L+mmd3Yi7rTzd1KuzuejlpF7R0XRVano01i4Ok4DxgBDwH5yGuk57/tZHv4ZwzuORaua55dEPTWOp2Y2EgilFDE2vhRLog99V7pUs7+nmIEw6Rr+gEmkN1k8GL85tCcmS+2TLtL0bOgfUchZxvTBdlogRnNE8UTzHIBbWrYOfAVbqN3TXF9+aAZnskY9dYRq1rLz1JjbQL+wFXEs1T03DSfqfhzO+t2hxioB7CJA6a5t8S77lRu5e6wvWOh3is0l0cGMBjCw2c4dzoS+qW3rW1fhmrY+gwjZGHvcGbAezjsHuQo7Q6J1yYmivnfXQ/vbgXvLNPTPFYhkcQKTaSlkpAVf84zK3cJJocxCNfcUo01Fr9exVsvdwdQZIVvA9qO1rxXObxyBain8M3HWbbtCnSRrtZg9mcfovdyiL++K2TF1Gb1FHcoWJQG9jt4lnp886prR0h30HpSu3KD+ahbOYVuvAjtMLQWvqS1jm+E4nv+an5pa1nAuAD+wXTU+bCgylpPhdfMADciBPPiwy8+vO2LOGve7z5a1ul6wg68mYI679XCGO4TqYyzllhFiOYv3vssvfcZ+MiGeupcxYAPXAXDABRo7YL3K/7+5sVVnrCr0HXK0a0feC/pUD5hr11fKbPb5NQ4p6nylDnuJPdSwnIXvadM5ZYW5pt3H/JK810zqd3tXvV6wtCO7rv5chcbmDU4DTgijWDSx8oJAOZaTW5yhbcluMjti3FdjayHQ5vDAvdHOG0eIPSEgPbf41x4//n5/wG8gVjWlkcAAA==&quot;"/>
    <we:property name="creatorSessionId" value="&quot;bfe58a53-7d6e-48d5-bd4c-aae91ab7db11&quot;"/>
    <we:property name="creatorTenantId" value="&quot;537c2be1-fcd4-45a9-83b3-6653eacc5070&quot;"/>
    <we:property name="creatorUserId" value="&quot;1003200583580DEE&quot;"/>
    <we:property name="datasetId" value="&quot;10173555-452a-4a83-9785-48d56cac196c&quot;"/>
    <we:property name="embedUrl" value="&quot;/reportEmbed?reportId=f16815f9-6c6f-465b-a7e8-4e705aa18aa7&amp;config=eyJjbHVzdGVyVXJsIjoiaHR0cHM6Ly9XQUJJLVNPVVRILUVBU1QtQVNJQS1DLVBSSU1BUlktcmVkaXJlY3QuYW5hbHlzaXMud2luZG93cy5uZXQiLCJlbWJlZEZlYXR1cmVzIjp7InVzYWdlTWV0cmljc1ZOZXh0Ijp0cnVlfX0%3D&amp;disableSensitivityBanner=true&amp;storytellingChangeViewModeShortcutKeys=true&quot;"/>
    <we:property name="initialStateBookmark" value="&quot;H4sIAAAAAAAAA+1c6W/byhH/VwwCRb64xR7cK98SJw8tXhL7xUbaojCMPYYyXyhSJSknauD/vcNDPnVZlm3FcQwEFnc5OzO/mdmZ2ZV/RCGtRpmdfLJDiF5Hb4vi69CWX3dotBvl/bP9/d8/vvn8+8mnNx/f4+NiVKdFXkWvf0S1LQdQf0mrsc0aCvjwP8e7kc2yAztoPiU2q2A3GkFZFbnN0v9BNxmH6nIM57sRfB9lRWkbkoe1raEhe4bT8TOuTf/GcUXr6/QMDsHX3dMQM+0D0U4wR4gmRuqG36qb0HI2c0pDul1+r8hrm+a4TPPMqxC084HGEmJHtQw8NM+rNB9kPcOX7x5NRo1W0iFK2GjD/YnLNnTOz1GcwLlSIeGxMEFx6UjMyVJatuX77biuUbxbJDXIRFLBZWxkHBsSiGNLSVandjSDvdibJHFCUmOIIwx0DKp5N0mzuteGm7z/PioRSIS3o/UmnNncQ4hatEqoOnB+RB/BVuOyhez9tYHDYlx6+AxJO5TXaT1BOkWWVvVJUQZc6STY2lZQRw1XB2WBFtLOeXM22HkHGcJdTnbe2UnVTjgtvu2VgNaBuJDzY3yyUHhvy9APXdMAfmgWfztppXuXllOLYrs3BHgkyVAUnKSktoZqIFpzYoKNWdDrAmxi4wKhjKK9I8JCOKa3DuD3VY3ug2g+P4RvidZBzAU4q5Vw3lgSBCHU0XUhxsBmhQbFuQ+csJhJGbYK4g8o/6Wp/+XZ4Htbrg5cH4xnwngnhAUq0HvN2uASyYF5owzGAquC0FrEWwXufv7Xo3T4LPGdKVoHcRKs4GClZSQY9F5w3K8LMU9M4l0sAwmacSFibv1TQHyS1jBcGMx+KyEdnNY/G8B3EayDV1KrMSFyVFAuBf4wI9aF18VWM08oEcEqpTT3sdgqD36Dto25685+M2vni83G8LMhfEfZ+j04aILpORWBxCRm3GJNsFXArBRad5+EtQuWjtqK71H4sunJALBGa1Zo+brJ1Mc0T4fj4VwTfgqW7PeFLC31qoEd3ywrt3VPdJ7FIlYQc0cZYRJzWrnUn46K0ScUr5vTTPkyrfVRmt/KYthO7rsR1dj9d4yLRjcFPZwO4O9/TH9ZRKloSFyX24+ruhheFX036kBoLWf6Ir395g2NXb52vBsdQobwtEvvFdl4mC8Bo/vQcnhD81P+Tqq2LYKDPUtJClmImsX2N2oXl6zQ1WrX3QbN6DUl7b7XKYFd1d3dlI70/nkKDZut8vKQ1j2b/7ihxeoh9NvKY10G82lc2OP5eesEN6PJShwt1cgyPrdjR9hMoyZD4RDy8NaWe6e2rLco8s2z+a4ZiRP/vNJu3EORB0U5Wd0w720Gx63XJcw6EXsSFKXSBW7AqaWZaw3fa1d8v527Up9wqRUQ7ZUmzEgsTtanpgO3TFiNubACQ5ShYXkvdE5WnUAswHrJY6yYCJbFQOjPVjRtr6NectYbcurbtP7Zh7fFcB4Vtc26WmKt8FZ5W6N1zoxsM8PIv1rrfRzrxFD2ZFELS22VcBuUdD5mKjjH1o4M3kHsHdfGhACUMEcsrB+zvDQmDp5xJTHC4D9r7xEBhVcKq0xClRWSEEk5X5Ai9+dtJggVhFEMg7nWKJEgBknPdNDV8uhwNRFDpKC3lhEie4qwrZSEfSrq28axicws3Cqiirw+3fk32LIz07aYaigj6Q9o4WUHQVdjvY5eHcJohxEqX7XT50za9/XySZ+Ks+WT3oG/nHS8kVRwFiaLlLIdO8u0Ntwrxvn27Hdtl34eS8sz0ha31SP2PULoXUHvQicTOsHAQIFSjFGxFJa5pSHFC01ZsM3/3jgmggd4CSkvIWXrQsrdktWf79w6S3PY4uDCmYhpzKUDFxTxWLIFtn6VtU5G2bFcwlkK3+Zi0Q2fVL4oH79iWMLb53Z4zVPRp2+H3EG8h2uGrGMEnQFbrxMsKYxnUgvOiCNkweFbvzuKoGJNlcPZloLG3Jvz++2OMzqfi5rGj7093uqFdgpvarRxtdoGaUejsjiDsHBb853tL5yT5mdF6pdMGuf2zKZZ053d4Ba5Sti/oZnt2Iu6083tSrs7ng5bRe0cFUVWp6N1YuDpOA8YAQ8A+chrpOe/bmV7+DoGDxwLVzXPLgh6a51OTGwkEUooYm38JBfEnnuvdC5nf08xgmHSNfkAZ5DdZvBi/PbQlJkvtky7S9F90L6nkP3GdEE2mmFG00TxBLNcQJsadg58hdvoXVNcXz5ohnsZo6V1xKLW8i+psTYBf+Qq4pdU9NQ0f1Hxp3bW7Q4xUA9gEwdMc2+Jd92p3MLdYXPHQkuv0FweGcBgCI+f4dzrSOin3rY2fRmqYeszjJCFnYPegHdw2D3KUdo9Eq91TBTzv/se3t0J3j7T0zxWIZHECk2kpZKQBV/n6ctdgslhDMI1t1RjjcWvV/HGy90BFFnh24C2pTXvVQ6vXAFaUvjm4yzbdAU6S1crMHvdh+iDHOKv7gpZMbFZPcEdCmalgcsdPEs9vnnVtSOkO2g9qV25wXzUrZxCN16EdhhaC5/TWsc3QvEtfzW9tDUvYFwA/2g66nxYUGWtp8JrZoAbEYJ58eEXH970RZwV73cfzut0PWMHXk9BnfdqYQz3iVTGWUusIkTzF+/9Jb33F/CRNfXUuYoBH7gKhgEo0NoF7xd8/+bFVZ6xq9BVytGNH3jP6VA+Y69dXSn9bXJqnNNUecocd5J7KWG+iz5QpnJHC/PNu495pfm+mdT2dq+WesLQjh66+XIfG+gbnAYckUYw6WPlBABzrSbXucLbEpzl9sW4rkbWw4HNYYb7I5w2DxCWhID2z+NE7SLITdp/+WjBC80fzbmIFufn/wfSnDlQv0cAAA==&quot;"/>
    <we:property name="isFiltersActionButtonVisible" value="true"/>
    <we:property name="isVisualContainerHeaderHidden" value="false"/>
    <we:property name="pageDisplayName" value="&quot;Logistics &amp; Delivery Performance&quot;"/>
    <we:property name="pageName" value="&quot;d428cd08b52b00809681&quot;"/>
    <we:property name="reportEmbeddedTime" value="&quot;2026-06-12T16:59:21.900Z&quot;"/>
    <we:property name="reportName" value="&quot;BI_project (5)&quot;"/>
    <we:property name="reportState" value="&quot;CONNECTED&quot;"/>
    <we:property name="reportUrl" value="&quot;/groups/me/reports/f16815f9-6c6f-465b-a7e8-4e705aa18aa7/d428cd08b52b00809681&quot;"/>
    <we:property name="isFooterCollapsed" value="true"/>
  </we:properties>
  <we:bindings/>
  <we:snapshot xmlns:r="http://schemas.openxmlformats.org/officeDocument/2006/relationships"/>
</we:webextension>
</file>

<file path=ppt/webextensions/webextension3.xml><?xml version="1.0" encoding="utf-8"?>
<we:webextension xmlns:we="http://schemas.microsoft.com/office/webextensions/webextension/2010/11" id="{9994C137-14F6-4E2B-A2EA-CF198D43A181}">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001647&quot;"/>
    <we:property name="bookmark" value="&quot;H4sIAAAAAAAAA+1bWXPbOBL+KypWTeXFtQWA4IG8JXZmd6tmMlk7m5mtLZcKR1PmmCY0PBxrU/rv2yApHzJ1WLZkxY6fKAJqfPj6QHdD/uaZtBxncvJRXoD31ntv7fmFLM4H1Dvw8vadCn0eakZJKBQlwo9AuVE7rlKbl97bb14lixFUX9KylpkThC//e3rgySz7JEfuUyKzEg68MRSlzWWW/g/ayThUFTVMDzy4Gme2kE7kSSUrcGIvcTp+Rgj0bz6uKHWVXsIJ6Kp9m4R+Ekoda8F9GQoRQyBwWtlOaJD1TnGim+UPbV7JNMdl3DsSCT8UMeUMgBgmJaOskZFmVTdFTT5cjQvcHe55MnbkHCLWkS1SLTOv2UUBZQv6m3dos/qiefpw5/2JrQsNx5A0Q3mVVhOUZLO0rIa2MLjW0MhKllB5U6TmU2GRuGbOEWTIQDEZOI7qshk+s18PC0AYxntLpgfXyN6ZS5lrfDsP61eQZV3ABriGBVym8HUhvHeXo8FxM2Vwoi0ucR/fKb4p03yUdRZwo4zPLWyd1SXSDea9LA7PZFE5U1N/ok6dBvDbDZL3k0YJR2kxswZ2MLebnW5zejozT5z35y0D7OyjhbsLgziduikUfBElhmognNOYcBablbb82Y4/ItvtHDfly8wBkdyfC3vRTO4iRVmrv2pc2Zvn/WQ2gM//mj0sk2SdiLub1mgD9uL2vg+81j4aC599kd7/5hxdN19DBZ1AhppZXxPthwbhHO0zfMOyiVU42EFKUsiM5xb77UnN9AYKncfyCyIYXNvBT50xoi69tzRojKGlgN1m7mGUo7zfz8CBbKjLTVp1IP85x2G5DXab/UiVwWIZ19Y4dX+n06cIxfcZWYVzp8F4Iaz7BvE9BuEHbG97wffhJtCGXxmqxIQhjZQyka+JL3TsxC8lPb3AZOku0U5WEARKGNAilgEhoSEmYitllWdy3CcrSbiSKIVJSkAIPB7UymPhe00kZGG6oe8jg3BzfB1xQVyqrYU2oLjW0Y4VpDNbghkawPR8oQ+CNAM8CLoMfXDcH//2VUeP2GKrJuJLn3HmExkBC0hsYrk6vdrlGfAbPjTFlMwG/8BtVmcbHgTP6EQP3VznQTyMgjgOJYMgZCbSVJtNwyUjYALOGQ/b2pBKRTaWxY2fBDwymmBpSZjw/dUm89TVZQlZtoTYk2Z48Dl1gDZKZ96NRgWM5Cw9/LAjxIe2ztuxn+u8s8Rg18VxWsHFQqCfbYXW2hQFuy/blyL7+69fBj8NbDJoIO4Q23qqRXibBK5xemmrtmhYL3DR+cC1X6a8MMc9tl8fUHQ9Kh60ua2Kle/HWihumOECs8kIXl4g2x4o52+d9D1Ddizz80dBe6bguTIYlFpWaJu9lWyvU/2xZY+6y3TrV5irCKmpH8s40ljxGbZGbfbUfuV6/1Ahl8O/kL40STFNzjATXrghXHuU7tJcdlqePGsb5FFVyrY6IpsbSNcZ0QmLGRAiQfuM6JCoXV6y4JmaQ+a65SMYtOnBvIe6oWdPflfj7MsTyAY2njQrbWrY+7DlbRj7+nbSmrUWXPs8IMonKtQkYmjki826u1j1FRapjPiMKS2A0gC4REX0Gv16lzI9ff1lFyILmvofbXWfp610+tuzf1xYU2sMeJ2+hqPC1uO27/9FZnVzn4yL/YJJQtGacPMaBeR15kqW09Mn7Psvbz6sgNwTNjptxz4wSqlvGAMZUwlRrF6jtm9a5jC6gMah91fPPWAXa5iCwbyNUePLQAQcIKL6NWp4LCeOK3QSSBAQnpVr6fjNv/Pz3H7N3zyLQ/dhXpwDfIc/+9gWc0kB6eisGl42atwraDOlpnmJBWTmnpeTt1u1zoWYzE5kVk2GVYqBYa94vImCmOmViWxSLGTVwNV+ATVpqV2SiOE6LzH+XaKAYbngBnGbOFddALbDC6GtzNrPYXJUuJhQPuh25l6TcxexqruXobEmSWJCQWLBCSdC6JUZcgQJZ0oqSXwaaKpDrsInP1FXl7T7dsjOKuq106aDBSeurc5cmKxVlmrcCZRvls2ub53PSyU++Qn+MtpS7tb/SE7KQWUHh27+S7lsydIc9rM/1kf5HjfHIh2JOATCRRiJkAhgq2MkUXHCIVAx04THgUEZ/Mlj5AhsZnXT59nTqHgb4a3fDT5DXdnH1Rpg73od3WJW+rjLs9W3LXiYoJHdDgUeJo+jxr3dmo26x+2CKbTj1jTD0Bh3/9FyhN8w3fkzyyp6/fha57u7FKUqJCHTvqY8CoAQrvWSS9EfnvvDc585D3rxXvzYszhWMYkYT2REKGMhw9Ij+OHRr9KjX4G3bMhT94sgEfpK+CTUWjERi5BH8oervEpXoU/fVUMs0DXVxjh+Jst7d7H/AdnXMX3BXrs+Ka2Lhu4/WlWkgRNpIIoj6lMncCk9FVxVyl7N/5a5EdjHmK2rciw1fJI59DCHjMncgFnBXvO/wtfETaf/B6Xg6+WjPAAA&quot;"/>
    <we:property name="creatorSessionId" value="&quot;22c778bc-f67c-4f4c-b582-6152e68e58d5&quot;"/>
    <we:property name="creatorTenantId" value="&quot;537c2be1-fcd4-45a9-83b3-6653eacc5070&quot;"/>
    <we:property name="creatorUserId" value="&quot;1003200583580DEE&quot;"/>
    <we:property name="datasetId" value="&quot;10173555-452a-4a83-9785-48d56cac196c&quot;"/>
    <we:property name="embedUrl" value="&quot;/reportEmbed?reportId=f16815f9-6c6f-465b-a7e8-4e705aa18aa7&amp;config=eyJjbHVzdGVyVXJsIjoiaHR0cHM6Ly9XQUJJLVNPVVRILUVBU1QtQVNJQS1DLVBSSU1BUlktcmVkaXJlY3QuYW5hbHlzaXMud2luZG93cy5uZXQiLCJlbWJlZEZlYXR1cmVzIjp7InVzYWdlTWV0cmljc1ZOZXh0Ijp0cnVlfX0%3D&amp;disableSensitivityBanner=true&amp;storytellingChangeViewModeShortcutKeys=true&quot;"/>
    <we:property name="initialStateBookmark" value="&quot;H4sIAAAAAAAAA+1bWXPbNhD+KxrOdPLi6QAgeOXNsZO20+aonabtdDwaEFjKjGlC5eFYzei/dwFSPmTqsCzJih0/yQS4+PDtgd2F9NVRaTnMxOidOAfnpfNK67NzUZz1qLPn5O2z9+9/fbt/9Gv/3f7b1/hYD6tU56Xz8qtTiWIA1ae0rEVmJODDf072HJFlH8TA/JeIrIQ9ZwhFqXORpf9BMxmHqqKG8Z4Dl8NMF8KIPK5EBUbsBU7H/3Ft+qOLKwpZpRdwDLJqnia+m/hChjLirvCjKAQvwmllM8Ei65xiRNvlD3ReiTTHZcwzEkSuH4WUMwCimBCMMisjzap2Sjx6fTkscHe459HQsHKAWAe6SKXIHLuLAsoG9FfnQGf1uf30+tbzY10XEo4gsUN5lVYjlKSztKz6ulC4Vl+JSpRQOWOk5kOhkTg75xAyZKAY9QxHdWmHT/WXgwIQhnJekvHeFbJ9dSFyiU+nYb0FUdYFrICrX8BFCl9mwtu/GPSO7JTesdS4xF18J/ikTPNB1lrAtTI+NrBlVpdIN6hXojg4FUVlTC3+jDo1GsC3LZJXI6uEw7SYWAPbm9rNVrc5PpmYJ877fMMAW/to4G7DIE7GZgoFNwoSRSUQzmlIOAvVQlv+qIfvkO1mjpnyaeKASO6bQp/byW2IKOv43xpXdqZ5P54M4OffJx/mSdJGxO1NS7QBfX5z33tOYx/Wwicv0rtvTtF1/Roq6Bgy1Mzymmj+sQinaJ/g65c2VuFgCylJIVOOWez9Ws30GgqdxvIbIuhd2cEPrTGiLp2X1LPG0FDAbjJ3P8pR3p+nYEBa6nKVVi3IX6Y4LDfBrt2PiDOYLePKGsfm72S8jlB8l5FFOLcajGfCumsQ32IQvsf2Nhd8728CTfgVfpwo36dBHKvAlcSNZGjEzyU9Pcdk6TbRRpbneXGkQEah8AjxFVEBWyirPBXDLllJwmOBUpigBKIIj4d44bHwrSYSolDt0LeRQZg5rgx4RCjxIxlJBTGXMtiygmSmS1B9BZiez/RBEKqHB0GbofeOuuPfruroAVts1ERc4TLOXCICYB4JVSgWp1fbPAPe4wdbTIms9zNuszpd8SB4RCe67+ZaD+J+4IWhLxh4PlOBpFKtGi4ZAeVxzrjf1IZUxGRlWVy5iccDJQmWloRFrrvYZNZdXZaQZXOIPbbDvY+pAbRSOrM/GBQwEJP08PWWEB/oOm/G3tR5a4netovjtILzmUA/6gqt1RYF2y/b5yL76e2n3g89nfQsxC1iW061CG+VwDVML3TVFA3LBS46Hbh2y5Rn5rhH+ss9iq4HxYMmt43D2HVDGcVcMcUjzCYDeHqBbHOgjL+10ncM2ZHIzx4E7ZGC58JgUEpRoW12VrKdTvXXhj3qNtONX2GuEglJ3VCEgcSKT7ElarN1+5Vp+kOFXPb/RfrSJMU0OcNMeOaGcO1Buk1z2Wp58qhtkAdVKZvqiKxuIG1nRCYsZECIAOkyIn0Sb/OSBc/UHDLTLR9Ar0kPpj3UDD168rsYZ1eeQFaw8cSutKph78KWN2Hsy9tJY9Yy4tLlHoldEvuSBAyNfLZZtzeqboxFKiMuY7GMgFIPuEBFdBr9cpcyHX39eRciM5r673R1l6eNdPqbs39YaFVLDHitvvqDQtfDpu//SWS1vU/GxX7DJKFoTNg+RgF5nZmS5eRkjX3/+c2HBZA7wkar7dAFRil1FWMgQiogCOPnqO3rljkMzsE69O7quQPsbA1TUJi3Mapc4UUeBwiofI4aHoqR4QqdBBIEhGflUjp+8Ud+lusv+YtHceguzLNzgG/wax+bYi4pIB2cVv0Lq8adgjZRapqXWEBm5vN88rar1qkQk+mRyKpRv0oxMOwUj9dREDO9MhE2xUJWFVzuFlCVltIkiRiu8xLj3wUK6JczbhA3iXPRBWAzPBPawqz9DEaHhYkJ5b1uZ+40ObcRq9p7GRpKkiTKj0gYccJJFMmFGXIACWexiAVxqSep9Hnsr/1EXVzS7tohO6mol06b9macuLo6NWGyjrNU4k6gfDFvdn3jfJ4rce0n+NNoS5lb/0MxKnuV7h2Y+U/lsiVLc9jN/lgX5TvcHAtkEIU+EB75QeSTCNjiGEniMOHgxSGThIeeQhl87TFyADrT0vZ5djQq3kR443uDj1BXdnG1BNjbXkc3mJU+7PJs8W0LHiZoZDdDgYPJ48C6t1nTqnvYLJhCM66VHQZr3N1HyyG+odrzZ5JVdPrxlc63dylKY5/4TLqS8sADQriUcy5Fv3vud8995DzoyXvxQ8/iMA5JwHgiAkIZ8xmWHt53j36WHv0MvGVFntpvBEW+G0cu8aWMWRRGPg/Ed1d5lq5C199VQyzQNtWGOH4qyjt3sX+D6OqYPmGvXZ6UxkV984vWOJDAiVAQhAF1qRE4l54KLqtYX05/l9kK7GJM11U5FBI+iBw6mEPGRK5ALWDP/lbYsYsgmrT92decF8wviK+IHo//B+rBlYPMPAAA&quot;"/>
    <we:property name="isFiltersActionButtonVisible" value="true"/>
    <we:property name="isFooterCollapsed" value="true"/>
    <we:property name="isVisualContainerHeaderHidden" value="false"/>
    <we:property name="pageDisplayName" value="&quot;Operational&quot;"/>
    <we:property name="pageName" value="&quot;f63f6ac8c943a6998e59&quot;"/>
    <we:property name="reportEmbeddedTime" value="&quot;2026-06-12T16:58:55.929Z&quot;"/>
    <we:property name="reportName" value="&quot;BI_project (5)&quot;"/>
    <we:property name="reportState" value="&quot;CONNECTED&quot;"/>
    <we:property name="reportUrl" value="&quot;/groups/me/reports/f16815f9-6c6f-465b-a7e8-4e705aa18aa7/f63f6ac8c943a6998e59&quot;"/>
  </we:properties>
  <we:bindings/>
  <we:snapshot xmlns:r="http://schemas.openxmlformats.org/officeDocument/2006/relationships"/>
</we:webextension>
</file>

<file path=ppt/webextensions/webextension4.xml><?xml version="1.0" encoding="utf-8"?>
<we:webextension xmlns:we="http://schemas.microsoft.com/office/webextensions/webextension/2010/11" id="{9994C137-14F6-4E2B-A2EA-CF198D43A181}">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001647&quot;"/>
    <we:property name="bookmark" value="&quot;H4sIAAAAAAAAA+1bWXPbOBL+KypWTeXFtQWA4IG8JXZmd6tmMlk7m5mtLZcKR1PmmCY0PBxrU/rv2yApHzJ1WLZkxY6fKAJqfPj6QHdD/uaZtBxncvJRXoD31ntv7fmFLM4H1Dvw8vadCn0eakZJKBQlwo9AuVE7rlKbl97bb14lixFUX9KylpkThC//e3rgySz7JEfuUyKzEg68MRSlzWWW/g/ayThUFTVMDzy4Gme2kE7kSSUrcGIvcTp+Rgj0bz6uKHWVXsIJ6Kp9m4R+Ekoda8F9GQoRQyBwWtlOaJD1TnGim+UPbV7JNMdl3DsSCT8UMeUMgBgmJaOskZFmVTdFTT5cjQvcHe55MnbkHCLWkS1SLTOv2UUBZQv6m3dos/qiefpw5/2JrQsNx5A0Q3mVVhOUZLO0rIa2MLjW0MhKllB5U6TmU2GRuGbOEWTIQDEZOI7qshk+s18PC0AYxntLpgfXyN6ZS5lrfDsP61eQZV3ABriGBVym8HUhvHeXo8FxM2Vwoi0ucR/fKb4p03yUdRZwo4zPLWyd1SXSDea9LA7PZFE5U1N/ok6dBvDbDZL3k0YJR2kxswZ2MLebnW5zejozT5z35y0D7OyjhbsLgziduikUfBElhmognNOYcBablbb82Y4/ItvtHDfly8wBkdyfC3vRTO4iRVmrv2pc2Zvn/WQ2gM//mj0sk2SdiLub1mgD9uL2vg+81j4aC599kd7/5hxdN19DBZ1AhppZXxPthwbhHO0zfMOyiVU42EFKUsiM5xb77UnN9AYKncfyCyIYXNvBT50xoi69tzRojKGlgN1m7mGUo7zfz8CBbKjLTVp1IP85x2G5DXab/UiVwWIZ19Y4dX+n06cIxfcZWYVzp8F4Iaz7BvE9BuEHbG97wffhJtCGXxmqxIQhjZQyka+JL3TsxC8lPb3AZOku0U5WEARKGNAilgEhoSEmYitllWdy3CcrSbiSKIVJSkAIPB7UymPhe00kZGG6oe8jg3BzfB1xQVyqrYU2oLjW0Y4VpDNbghkawPR8oQ+CNAM8CLoMfXDcH//2VUeP2GKrJuJLn3HmExkBC0hsYrk6vdrlGfAbPjTFlMwG/8BtVmcbHgTP6EQP3VznQTyMgjgOJYMgZCbSVJtNwyUjYALOGQ/b2pBKRTaWxY2fBDwymmBpSZjw/dUm89TVZQlZtoTYk2Z48Dl1gDZKZ96NRgWM5Cw9/LAjxIe2ztuxn+u8s8Rg18VxWsHFQqCfbYXW2hQFuy/blyL7+69fBj8NbDJoIO4Q23qqRXibBK5xemmrtmhYL3DR+cC1X6a8MMc9tl8fUHQ9Kh60ua2Kle/HWihumOECs8kIXl4g2x4o52+d9D1Ddizz80dBe6bguTIYlFpWaJu9lWyvU/2xZY+6y3TrV5irCKmpH8s40ljxGbZGbfbUfuV6/1Ahl8O/kL40STFNzjATXrghXHuU7tJcdlqePGsb5FFVyrY6IpsbSNcZ0QmLGRAiQfuM6JCoXV6y4JmaQ+a65SMYtOnBvIe6oWdPflfj7MsTyAY2njQrbWrY+7DlbRj7+nbSmrUWXPs8IMonKtQkYmjki826u1j1FRapjPiMKS2A0gC4REX0Gv16lzI9ff1lFyILmvofbXWfp610+tuzf1xYU2sMeJ2+hqPC1uO27/9FZnVzn4yL/YJJQtGacPMaBeR15kqW09Mn7Psvbz6sgNwTNjptxz4wSqlvGAMZUwlRrF6jtm9a5jC6gMah91fPPWAXa5iCwbyNUePLQAQcIKL6NWp4LCeOK3QSSBAQnpVr6fjNv/Pz3H7N3zyLQ/dhXpwDfIc/+9gWc0kB6eisGl42atwraDOlpnmJBWTmnpeTt1u1zoWYzE5kVk2GVYqBYa94vImCmOmViWxSLGTVwNV+ATVpqV2SiOE6LzH+XaKAYbngBnGbOFddALbDC6GtzNrPYXJUuJhQPuh25l6TcxexqruXobEmSWJCQWLBCSdC6JUZcgQJZ0oqSXwaaKpDrsInP1FXl7T7dsjOKuq106aDBSeurc5cmKxVlmrcCZRvls2ub53PSyU++Qn+MtpS7tb/SE7KQWUHh27+S7lsydIc9rM/1kf5HjfHIh2JOATCRRiJkAhgq2MkUXHCIVAx04THgUEZ/Mlj5AhsZnXT59nTqHgb4a3fDT5DXdnH1Rpg73od3WJW+rjLs9W3LXiYoJHdDgUeJo+jxr3dmo26x+2CKbTj1jTD0Bh3/9FyhN8w3fkzyyp6/fha57u7FKUqJCHTvqY8CoAQrvWSS9EfnvvDc585D3rxXvzYszhWMYkYT2REKGMhw9Ij+OHRr9KjX4G3bMhT94sgEfpK+CTUWjERi5BH8oervEpXoU/fVUMs0DXVxjh+Jst7d7H/AdnXMX3BXrs+Ka2Lhu4/WlWkgRNpIIoj6lMncCk9FVxVyl7N/5a5EdjHmK2rciw1fJI59DCHjMncgFnBXvO/wtfETaf/B6Xg6+WjPAAA&quot;"/>
    <we:property name="creatorSessionId" value="&quot;22c778bc-f67c-4f4c-b582-6152e68e58d5&quot;"/>
    <we:property name="creatorTenantId" value="&quot;537c2be1-fcd4-45a9-83b3-6653eacc5070&quot;"/>
    <we:property name="creatorUserId" value="&quot;1003200583580DEE&quot;"/>
    <we:property name="datasetId" value="&quot;10173555-452a-4a83-9785-48d56cac196c&quot;"/>
    <we:property name="embedUrl" value="&quot;/reportEmbed?reportId=f16815f9-6c6f-465b-a7e8-4e705aa18aa7&amp;config=eyJjbHVzdGVyVXJsIjoiaHR0cHM6Ly9XQUJJLVNPVVRILUVBU1QtQVNJQS1DLVBSSU1BUlktcmVkaXJlY3QuYW5hbHlzaXMud2luZG93cy5uZXQiLCJlbWJlZEZlYXR1cmVzIjp7InVzYWdlTWV0cmljc1ZOZXh0Ijp0cnVlfX0%3D&amp;disableSensitivityBanner=true&amp;storytellingChangeViewModeShortcutKeys=true&quot;"/>
    <we:property name="initialStateBookmark" value="&quot;H4sIAAAAAAAAA+1bWXPbNhD+KxrOdPLi6QAgeOXNsZO20+aonabtdDwaEFjKjGlC5eFYzei/dwFSPmTqsCzJih0/yQS4+PDtgd2F9NVRaTnMxOidOAfnpfNK67NzUZz1qLPn5O2z9+9/fbt/9Gv/3f7b1/hYD6tU56Xz8qtTiWIA1ae0rEVmJODDf072HJFlH8TA/JeIrIQ9ZwhFqXORpf9BMxmHqqKG8Z4Dl8NMF8KIPK5EBUbsBU7H/3Ft+qOLKwpZpRdwDLJqnia+m/hChjLirvCjKAQvwmllM8Ei65xiRNvlD3ReiTTHZcwzEkSuH4WUMwCimBCMMisjzap2Sjx6fTkscHe459HQsHKAWAe6SKXIHLuLAsoG9FfnQGf1uf30+tbzY10XEo4gsUN5lVYjlKSztKz6ulC4Vl+JSpRQOWOk5kOhkTg75xAyZKAY9QxHdWmHT/WXgwIQhnJekvHeFbJ9dSFyiU+nYb0FUdYFrICrX8BFCl9mwtu/GPSO7JTesdS4xF18J/ikTPNB1lrAtTI+NrBlVpdIN6hXojg4FUVlTC3+jDo1GsC3LZJXI6uEw7SYWAPbm9rNVrc5PpmYJ877fMMAW/to4G7DIE7GZgoFNwoSRSUQzmlIOAvVQlv+qIfvkO1mjpnyaeKASO6bQp/byW2IKOv43xpXdqZ5P54M4OffJx/mSdJGxO1NS7QBfX5z33tOYx/Wwicv0rtvTtF1/Roq6Bgy1Mzymmj+sQinaJ/g65c2VuFgCylJIVOOWez9Ws30GgqdxvIbIuhd2cEPrTGiLp2X1LPG0FDAbjJ3P8pR3p+nYEBa6nKVVi3IX6Y4LDfBrt2PiDOYLePKGsfm72S8jlB8l5FFOLcajGfCumsQ32IQvsf2Nhd8728CTfgVfpwo36dBHKvAlcSNZGjEzyU9Pcdk6TbRRpbneXGkQEah8AjxFVEBWyirPBXDLllJwmOBUpigBKIIj4d44bHwrSYSolDt0LeRQZg5rgx4RCjxIxlJBTGXMtiygmSmS1B9BZiez/RBEKqHB0GbofeOuuPfruroAVts1ERc4TLOXCICYB4JVSgWp1fbPAPe4wdbTIms9zNuszpd8SB4RCe67+ZaD+J+4IWhLxh4PlOBpFKtGi4ZAeVxzrjf1IZUxGRlWVy5iccDJQmWloRFrrvYZNZdXZaQZXOIPbbDvY+pAbRSOrM/GBQwEJP08PWWEB/oOm/G3tR5a4netovjtILzmUA/6gqt1RYF2y/b5yL76e2n3g89nfQsxC1iW061CG+VwDVML3TVFA3LBS46Hbh2y5Rn5rhH+ss9iq4HxYMmt43D2HVDGcVcMcUjzCYDeHqBbHOgjL+10ncM2ZHIzx4E7ZGC58JgUEpRoW12VrKdTvXXhj3qNtONX2GuEglJ3VCEgcSKT7ElarN1+5Vp+kOFXPb/RfrSJMU0OcNMeOaGcO1Buk1z2Wp58qhtkAdVKZvqiKxuIG1nRCYsZECIAOkyIn0Sb/OSBc/UHDLTLR9Ar0kPpj3UDD168rsYZ1eeQFaw8cSutKph78KWN2Hsy9tJY9Yy4tLlHoldEvuSBAyNfLZZtzeqboxFKiMuY7GMgFIPuEBFdBr9cpcyHX39eRciM5r673R1l6eNdPqbs39YaFVLDHitvvqDQtfDpu//SWS1vU/GxX7DJKFoTNg+RgF5nZmS5eRkjX3/+c2HBZA7wkar7dAFRil1FWMgQiogCOPnqO3rljkMzsE69O7quQPsbA1TUJi3Mapc4UUeBwiofI4aHoqR4QqdBBIEhGflUjp+8Ud+lusv+YtHceguzLNzgG/wax+bYi4pIB2cVv0Lq8adgjZRapqXWEBm5vN88rar1qkQk+mRyKpRv0oxMOwUj9dREDO9MhE2xUJWFVzuFlCVltIkiRiu8xLj3wUK6JczbhA3iXPRBWAzPBPawqz9DEaHhYkJ5b1uZ+40ObcRq9p7GRpKkiTKj0gYccJJFMmFGXIACWexiAVxqSep9Hnsr/1EXVzS7tohO6mol06b9macuLo6NWGyjrNU4k6gfDFvdn3jfJ4rce0n+NNoS5lb/0MxKnuV7h2Y+U/lsiVLc9jN/lgX5TvcHAtkEIU+EB75QeSTCNjiGEniMOHgxSGThIeeQhl87TFyADrT0vZ5djQq3kR443uDj1BXdnG1BNjbXkc3mJU+7PJs8W0LHiZoZDdDgYPJ48C6t1nTqnvYLJhCM66VHQZr3N1HyyG+odrzZ5JVdPrxlc63dylKY5/4TLqS8sADQriUcy5Fv3vud8995DzoyXvxQ8/iMA5JwHgiAkIZ8xmWHt53j36WHv0MvGVFntpvBEW+G0cu8aWMWRRGPg/Ed1d5lq5C199VQyzQNtWGOH4qyjt3sX+D6OqYPmGvXZ6UxkV984vWOJDAiVAQhAF1qRE4l54KLqtYX05/l9kK7GJM11U5FBI+iBw6mEPGRK5ALWDP/lbYsYsgmrT92decF8wviK+IHo//B+rBlYPMPAAA&quot;"/>
    <we:property name="isFiltersActionButtonVisible" value="true"/>
    <we:property name="isFooterCollapsed" value="true"/>
    <we:property name="isVisualContainerHeaderHidden" value="false"/>
    <we:property name="pageDisplayName" value="&quot;Operational&quot;"/>
    <we:property name="pageName" value="&quot;f63f6ac8c943a6998e59&quot;"/>
    <we:property name="reportEmbeddedTime" value="&quot;2026-06-12T16:58:55.929Z&quot;"/>
    <we:property name="reportName" value="&quot;BI_project (5)&quot;"/>
    <we:property name="reportState" value="&quot;CONNECTED&quot;"/>
    <we:property name="reportUrl" value="&quot;/groups/me/reports/f16815f9-6c6f-465b-a7e8-4e705aa18aa7/f63f6ac8c943a6998e59&quot;"/>
  </we:properties>
  <we:bindings/>
  <we:snapshot xmlns:r="http://schemas.openxmlformats.org/officeDocument/2006/relationships"/>
</we:webextension>
</file>

<file path=ppt/webextensions/webextension5.xml><?xml version="1.0" encoding="utf-8"?>
<we:webextension xmlns:we="http://schemas.microsoft.com/office/webextensions/webextension/2010/11" id="{B8A65315-62FB-49F7-ACAD-1C3984072809}">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001647&quot;"/>
    <we:property name="bookmark" value="&quot;H4sIAAAAAAAAA+1bbU/kOBL+K1Gk03xBIzuO42S+MQ3cy8IcAsTtaoVQxa40WdJxb14Y+kb893OcNDRNv9HQTMPtJ4hdsavqqSpXldM/XJWWwwxG32CA7hf3q9bXAyiuHeruuHk7FlHJE0YIoSGK2OOBinwzq4dVqvPS/fLDraDoY3WeljVkzUJm8PeLHRey7Bj6zVMCWYk77hCLUueQpf/FlthMVUWNdzsu3g4zXUCz5GkFFTbL3hhy82xYoJ+Z2RFkld7gKcqqHeWKRZRFRMUSIg4q5BEYsrIlsJzNJGmWttv3dF5BmpttmjEaMaEAEJH7VIQ+9YnfjJdp3s86hh/ePRsNG+WUV2D+Gm3Ef5htm3Xu7ow4EQTABZEBM4tyzkQY0ebdJM2qbrt4tH87LIymjP7atXbVDeQSlWvVUWDZSv/DPUIo68LqZP/RxKmuC4knmNipvEqrkVkH0ss+GqmMGtWlggrchqXjQhv9W4Ldm77TOzy3w1f6e6/AhtT9Qu4uzMhCeSUUqpt6JLR5KBQWX0dWoL20GKPk7UzxvDlhDPdmChIaEAYiQKIYCQjGsVwXxpiDQA5JwGUsJAJEgb89MP4j7V85vau6yJ1eXVZ60LD0ITCdI1kLsBcilyyGkAjj25Jy5ot1ASYBC0UIEjiJwtBHpijbHoCPMxMQ83rg/P3o3Dm9ArP0h4B3plwtuIrLKIqJoFFz4GBIPODrgouRYFyadfwYA4EeGmvZHnCbuLWf980BOcC8ck6l/ijwzpGs816PhUEMnhcYWBj3IJJq7fDMBGBAJQgBESovkDFuD8AnODQoOsfm5Sso0fnbx0B3llgttCGhlLKEQ0CEwJCrFyRQHglJZFKxGAQnPiOMIX8zaI3YeGn1eznsxJzWwoGxaQll5XzD28phR+8C2/Xk6sBFTEiMCQSxCmkDTwBLwU0HJgg8BTdRhHJuwnMgRAC+AEKipeD2DPN9XaTSqusxvj2d1YP8FdWw15QgTyHdeXVT01laVh0zaYWD0vpcidU0R2e6gqw5MNextMwUOT1zzlYrGhqdNrRNKfjuYlzWmbk/Jgq3Du2Ws03tfmGtkccyAIII3KT5TJEglN5zQk1L15CdjwtW46gHhR7YF7rKWjcV9RTscpzb3oO+47aIkUYx/7nCxpCsAnKVVp3Uu7k9MA8xqVpoBkMo0nIM1Pjpl7ShM0g+EK6gxfah5XdKaeNM/L50PDFZul350Fhu0ZrdOWR18zon5LDBd5JsMaf+z+O0Y9WGupeFlnm4LmPwSZjpei/go7FM9EIaklBS6ftBYIxkWRB6e6bpRGx8vUj9XM5Osd+knOtF7s2wZovYk7S8npn/rcDWbr9fYB/G3v+SuLwiz2OCyzpP/6zxMlWW4qDOu+OBvRNBnljsgwjkvYgwbT/vUIRZ3rnQmJbmM6WEygTymSnNzHTi1zXyiPUQ6nKKJIJEKhWEigke+ya7WNBX6oI9IeAx4nkEA5MSC0UU8Idg/ziqrpZ0qMmcY1ZetEq+8U1XT1X2zyk1lqsr+P7gVtOqPNJ5deX8hlC4NjO0R3Sz8u8zT+5Ppzh0PEKDT5Z8DtG/ZbWc6Ju+WU60h3Ll7cKFRB3jLdHFq2QeK2S9j9S7RaWN5SsbOSd4g3mNjnHrvL9WL+y7oSwSyLLVI8NmC43HFt1dDfE4SQIMuApjQBUDg+eUG5ttWr08X9kgR2f2nnE72DqC23RQD5zWp7eDpTRfyNJS9+lDPd2u+Xl9xilLbLtQMYsoh4TFhNFYMhL6dPm96jutR169LZ9lD7dpTk/XMxlbaiRK53X1nGbS5u8bZgq2idbS+vi3sT+UglEWkjjkviAxoaDI9sT++Z8FvJfa/s25uy+Vy2pZx/i1eSsxyxZwdmqnnbN0zY8CFEo9GOrSlgFnBeJ23UJNfvUxx8/NPhmk+de3dfSdN7O0tzCbriqBvBx/mNUWeoXO7H8TSjYwZCaBz1qCP2ssRoYDSzRHxM9P1GfWSEsjVQbDsrHT5uMwM6TQyvALjp5RZr5G0G7YOU7zfIKX8lDL6/FzA8JKkk6h9zPlfGJI60o5ZUmfH5nOHAkX72NeKnTbbRjrYtwCyOss23HlVZqpAnOrnWmSObX2bmWTyE9jSc9030S9exbWWfLkX7NXM+5y0SWqgS8l80NCPUFFHDHKg+Un/c88XO+x264DdruP/4ka5Svkajvy/Pam2ByOzkGmv69z9p9Cfo0jm+ML7yDyA3Gw16PEZ2EY7nOxGxzseoL3/L3e/tPLfZ4kHgeOEogEGtKIsRVan3GY+Mjj0JPED7kSUvgva33qp9etfdSZlrb1/awL1401QPU0dJMcToTnJX3QJja+XiNxvq5WYPYtLgWXOsD9CZfpEWTV6LKaHdaWXzNkqTRvTpq4a9btW1+1OzeYD9udU2zntbLTaC18TiPZvKH09/yT2yE2rzk5cQ69kY7aOjVgNPDigPle5AufEBos+nz9Lx/+wD78od3kRXpqXSUWngg4RZ8qBrGKiYfxX67yf+kq9PW/MlnhimnOfd4H9trVldK6qC8RKCahCJFIX6mAcOuiC9VT4W0V69vp/NYuOEtjuq7KIUg8hhxnaM42URSqJdqzP5S7V9zd3f8AjjdQAaA3AAA=&quot;"/>
    <we:property name="creatorSessionId" value="&quot;40b3a958-8be6-47bf-9fad-62f38b1fe300&quot;"/>
    <we:property name="creatorTenantId" value="&quot;537c2be1-fcd4-45a9-83b3-6653eacc5070&quot;"/>
    <we:property name="creatorUserId" value="&quot;1003200583580DEE&quot;"/>
    <we:property name="datasetId" value="&quot;10173555-452a-4a83-9785-48d56cac196c&quot;"/>
    <we:property name="embedUrl" value="&quot;/reportEmbed?reportId=f16815f9-6c6f-465b-a7e8-4e705aa18aa7&amp;config=eyJjbHVzdGVyVXJsIjoiaHR0cHM6Ly9XQUJJLVNPVVRILUVBU1QtQVNJQS1DLVBSSU1BUlktcmVkaXJlY3QuYW5hbHlzaXMud2luZG93cy5uZXQiLCJlbWJlZEZlYXR1cmVzIjp7InVzYWdlTWV0cmljc1ZOZXh0Ijp0cnVlfX0%3D&amp;disableSensitivityBanner=true&amp;storytellingChangeViewModeShortcutKeys=true&quot;"/>
    <we:property name="initialStateBookmark" value="&quot;H4sIAAAAAAAAA+1bW1PjOhL+KylXbc0LNSVZlmXPGxNgLwMMRSh2t05RVFtqBx8cK8cXhpwp/vvKsgMh5EYgTGDPE1hqS939dbe6W85PRyXFMIXRMQzQ+eJ81fp6APl1hzo7TtaOff/+7Wj39Nvl8e7RvhnWwzLRWeF8+emUkPexPE+KCtJ6BTP428WOA2l6Av36KYa0wB1niHmhM0iTP7EhNlNlXuHdjoO3w1TnUC/ZK6HEetkbQ26ezd70MzM7giyTG+yhLJtRrlhIWUhUJCHkoAIegiErGgLL2UySemm7fVdnJSSZ2aYeoyETCgARuUdF4FGPePV4kWT9tGX44d2z0bDWSnEF5q/RRvS72bZe5+7OiBOCD1wQ6TOzKOdMBCGt342TtGy3i0b7t8PcaMror1lrV91AJlE5Vh05Fo30P50jhKLKrU72H030dJVLPMXYTmVlUo7MOpBc9tFIZdSoLhWU4NQsneTa6N8S7N70O93Dczt8pX90c6xJnS/k7sKMLJRXQq7aqUdCm4dcYf51ZAXaS/IxSu7OFM+bE8Zwb6Ygpj5hIHwkihGfYBTJdWGMOAjkEPtcRkIiQOh72wPjP5L+Vad7VeVZp1sVpR7ULH0ITOdI1gDsBsgliyAgwvi2pJx5Yl2Aic8CEYAETsIg8JApyrYH4JPUBMSsGnT+fnTe6V2BWfpDwDtTrgZcxWUYRkTQkBBCMSAu8HXBxVAwLs06XoS+QBeNtWwPuHXc2s/65oAcYFZ2elJ/FHjnSNZ6r8sCPwLX9Q0sjLsQSrV2eGYC0KcShIAQlevLCLcH4FMcGhQ7J+blKyiw87ePge4ssRpoA0IpZTEHnwiBAVcvSKBcEpDQpGIRCE48RhhD/mbQGrHx0ur3ctiKOa2FA2PTEoqyc4y3ZYcdvQts15OrBRcxJhHG4EcqoDU8PiwFNxmYIPAU3FgRyrkJz74QPngCCAmXgts1zPd1nkirrsf4dnVaDbJXVMNeXYI8hXTn1U1Np0lRtswkJQ4K63MFltMcnekS0vrAXMfSUlPkdM05W65oaHTa0Dal4LuLcVln5n6fKNxatBvONrX7hbVGHkkfCCJwk+YzRfxAus8JNQ1dTXY+LliNox7kemBfaEtqXZfSU7DLcW57D/qO0yBGasX8+wprQ7IKyFRStlLvZvbAPMS4bKAZDCFPijFQ46dvSU1nkHwgXEGLzUPD75TSxpn4fel4arJ0u/Khsdy8MbtzSKv6dU7IYY3vJNliTr1fx2nLqg11Lwst83BdxuCTMNM2XcBDY5noBjQggaTS83zfGMmyIPT2TNOJ2Ph6kfq5nPWwX6ec60XuzbBmi9jTpLiemf+twNZuv59jH8be/5K4vCLPY4LLKkv+qPAyUZbioMra44G9E0GeWOyDCOS9iDBtP+9QhFneudCYluYzhYTSBPKZKc3MdOI/a+QR6yHU5hRxCLFUyg8UEzzyTHaxoK/UBntCwGXEdQn6JiUWiijgD8H+cVRdLelQkznHrLxolXzjWJdPVfbPKTUWqyv4/uBW06o80ll51fkvQu7YzNAe0fXKv808uT/1cNhxCfU/WfI5RN9luZzoWN8sJ9pDufJ2wUKilvGG6OJVMo8Vst5H6t2i0sbylY46p3iDWYUd49ZZf61e2A9DmceQpqtHhs0WGo8tur0a4lEc++hzFUSAKgIGzyk3Ntu0enm+skGOzuw943awdQS3yaAadBqf3g6WkmwhS0vdpw/VdLvm1/UZpyyx6UJFLKQcYhYRRiPJSODR5feq77QeefW2fJo+3KZ1urqaydhSI1E6q8rnNJM2f98wU7BNtJbWx7+J/YEUjLKARAH3BIkIBUW2J/bP/yzgvdT2b87dfalclMs6xq/NW4FpuoCznp3unCVrfhSgUOrBUBe2DDjLEbfrFmryq485fm72SSHJvr6to++8maW9hdm0VQlkxfjDrKbQy3Vq/5tQsoEhNQl82hD8UWE+MhxYojkifn6iPrNGUhipUhgWtZ3WH4eZIYVWhm84ekaZ+RpBu2bnJMmyCV6KQy2vx881CCtJOoXer5TziSGtK+WUJX1+ZDpzJFy8j3kp1023YayLcQsgq9J0x5FXSapyzKx2pknm1Nq7pU0iP40lPdN9E/XuWVhnydN/zV7NuMtFm6j6npTMCwh1BRVRyCj3l5/0v/Jwvcduuw7Y7T7+J2qUr5Cp7cjzm5ticzh2DlL9Y52zvwfZNY5sji/cg9DzxcFelxKPBUGwz8Wuf7DrCt719rr7Ty/3eRy7HDhKIBJoQEPGVmh9RkHsIY8CVxIv4EpI4b2s9amfXrf2Uada2tb3sy5cN9YA1dPQTXI4EZ6X9EHr2Ph6jcT5ulqB2be4FFzqAPcnXKpHkJajy3J2WFt+zZAm0rw5aeKOWbdvfdXuXGM+bHZOsJnXyk6jtfA5jWTzhtI/sk9Oi9i85uTEOfRGOmrqVJ9R34185rmhJzxCqL/o8/W/fPgD+/CHdpMX6alxlUi4wucUPaoYRCoiLkZ/ucr/pavQ1//KZIUrpjn3eR/Ya1dXSuOinkSgGAciQCI9pXzCrYsuVE+Jt2Wkb6fzW7vgLI3pqiyGIPEEMpyhOdtEUaiWaM/+UM6xmxhukihdpu667LxX9N3d/wC6imu/yTcAAA==&quot;"/>
    <we:property name="isFiltersActionButtonVisible" value="true"/>
    <we:property name="isFooterCollapsed" value="true"/>
    <we:property name="isVisualContainerHeaderHidden" value="false"/>
    <we:property name="pageDisplayName" value="&quot;Predictive &amp; Analytical&quot;"/>
    <we:property name="pageName" value="&quot;5d391390dbca95ad859a&quot;"/>
    <we:property name="reportEmbeddedTime" value="&quot;2026-06-12T16:59:37.832Z&quot;"/>
    <we:property name="reportName" value="&quot;BI_project (5)&quot;"/>
    <we:property name="reportState" value="&quot;CONNECTED&quot;"/>
    <we:property name="reportUrl" value="&quot;/groups/me/reports/f16815f9-6c6f-465b-a7e8-4e705aa18aa7/5d391390dbca95ad859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2176</TotalTime>
  <Words>3426</Words>
  <Application>Microsoft Office PowerPoint</Application>
  <PresentationFormat>On-screen Show (16:9)</PresentationFormat>
  <Paragraphs>379</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BI Platform — BAA5043 v3</dc:title>
  <dc:subject>PptxGenJS Presentation</dc:subject>
  <dc:creator>PptxGenJS</dc:creator>
  <cp:lastModifiedBy>KATHRYN ANN VILLACRUSIS CONCEPCION</cp:lastModifiedBy>
  <cp:revision>16</cp:revision>
  <dcterms:created xsi:type="dcterms:W3CDTF">2026-06-10T08:12:24Z</dcterms:created>
  <dcterms:modified xsi:type="dcterms:W3CDTF">2026-06-16T18:49:29Z</dcterms:modified>
</cp:coreProperties>
</file>